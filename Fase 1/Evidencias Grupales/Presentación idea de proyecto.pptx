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8406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Presentar al equipo y dar el titular en una frase: ARCA Med prepara la consulta de kinesiología y traumatología antes de que el paciente llegue. El paciente entrega desde la app sus síntomas, exámenes y una medición de su movilidad; una IA procesa esa información, y el médico recibe en la web un resumen y un prediagnóstico para revisar. Cada integrante tomó un subsistema: backend e IA, plataforma web y app móvil.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Plantear el problema desde la consulta, no desde la tecnología. El médico recibe al paciente sin sus antecedentes ordenados y parte del tiempo se va en reconstruir el caso. El tercer punto recoge la idea de la presentación anterior sobre la subjetividad de la evaluación física. Si tienen una cifra con fuente, por ejemplo la duración promedio de una consulta, este es el lugar para agregarla; no inventar datos.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El corazón de la presentación: tres actores, tres pasos. La cámara es uno de los tres insumos del paciente, junto con los síntomas y los documentos. El paso 2 ocurre en segundo plano: el paciente recibe confirmación al instante y el prediagnóstico aparece en la bandeja del médico segundos después. Cada plataforma tiene un rol: la app es del paciente, la web es del médico y del administrador.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Este es el argumento conceptual más fuerte del proyecto. Mostrar un solo diagnóstico sugerido puede generar sesgo de anclaje (o automation bias): el profesional tiende a confirmar lo que propone la máquina. Por eso la IA entrega entre dos y cuatro diferenciales con probabilidad y una urgencia sugerida, y el médico siempre toma la decisión final. El ejemplo de la derecha es ilustrativo, no un caso real.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El objetivo general resume el producto completo: reunir la información del paciente antes de la consulta y entregársela al médico procesada por IA. Cada objetivo específico corresponde a un subsistema: el 1 y el 2 a la app, el 3 y el 5 al backend, y el 4 a la web.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Las exclusiones vienen del ERS y son decisiones conscientes, no olvidos: el plazo es de ocho semanas con tres personas. Destacar dos: el sistema nunca entrega un diagnóstico definitivo, porque es un sistema de apoyo a la decisión clínica, y se acotó a kinesiología y traumatología para que la captura de movimiento y las guías clínicas tengan sentido. HL7/FHIR y otras especialidades aparecen después como mejoras futuras.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Este es el flujo del paciente, exclusivo de la app Android. Arriba lo básico: síntomas en texto libre, exámenes y el catálogo de ejercicios. Las cuatro tarjetas son el corazón técnico de la app (lo puede contar Nicolás): MediaPipe detecta 33 puntos del cuerpo en el celular; un motor trigonométrico calcula el ángulo de la articulación a partir de tres puntos y guarda el máximo y el mínimo; Jetpack Compose dibuja el esqueleto en vivo; y hay modos por segmento. Los 24 FPS son la meta del RNF-03. Al servidor solo llegan los ángulos, nunca el video. Confirmar con Nicolás que los modos por segmento estén implementados antes de presentarlos.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El diferenciador técnico del proyecto. RAG significa que el modelo no responde de memoria: primero buscamos en nuestras guías clínicas las más relacionadas con el síntoma y se las entregamos como contexto, lo que reduce las alucinaciones. La búsqueda es por significado: "se me dobló el pie" encuentra la guía de esguince aunque no use esas palabras. En naranja, los pasos de IA. Al modelo solo llega texto anonimizado, y se le pide un JSON con estructura fija para guardarlo directo en la base. Todo corre en segundo plano, así el paciente recibe confirmación al instante.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La plataforma web es exclusiva del médico y del administrador. Mostrar el prototipo que construyó Sebastián: el panel principal con el resumen de pacientes. Desde aquí el médico entra a la bandeja de triage, abre el resumen generado por la IA y revisa los síntomas originales y los documentos que subió el paciente. El administrador gestiona usuarios, guías clínicas y el catálogo de ejercicios. Aclarar que los números de la captura son datos de ejemplo.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Los doce requerimientos del ERS, agrupados por plataforma. Nota interna: el ERS original asignaba varias funciones del paciente a Web y App; en la evolución del proyecto decidimos que el paciente usa solo la app y el médico y el administrador solo la web. Conviene actualizar el ERS para que no haya diferencias si el jurado lo compara. RF-12 quedó como autorreporte del paciente: indica si logró el ejercicio y deja un comentario.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Los ocho RNF del ERS, cada uno con su meta concreta. En naranjo los de seguridad y privacidad. Dos decisiones que vale la pena contar: para cumplir los 300 ms, el prediagnóstico se genera en segundo plano, y la auditoría se implementa con una cadena de hashes SHA-256, de modo que si alguien altera un registro, la verificación lo detecta. Estado actual: autenticación, contraseñas con hash y anonimización ya funcionan; auditoría y cifrado están en desarrollo, y HTTPS se configura en el despliegue. Actualizar si cambia antes de presentar.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Trabajamos con Scrumban: un tablero con las tareas y hitos semanales, con entregas incrementales. La clave fue el enfoque API-first: primero acordamos qué endpoints existen y qué reciben y devuelven, y con eso cada uno avanzó en paralelo sin bloquearse. Cada integrante tomó un subsistema completo, de punta a punta, según su stack: el backend y la IA, la web del médico y el administrador, y la app del paciente con la visión por computador en el celular.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Arquitectura distribuida de tres capas orientada a servicios, con enfoque API-first, y cada capa la construyó un integrante. Primera capa, adquisición y borde: la app captura los datos del paciente y procesa el movimiento en el mismo celular. Segunda capa, servicios: el backend concentra la lógica, la autenticación con JWT y roles, la anonimización, el pipeline de IA y la auditoría. Tercera capa, gestión y visualización: la web del médico y el administrador. Ambas puntas se comunican con el backend por REST y JSON, con un token en cada petición. En la siguiente diapositiva se ve el detalle por capas técnicas.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Este es el detalle técnico de la arquitectura, de arriba hacia abajo. La capa cliente tiene dos aplicaciones: la app del paciente, que procesa el movimiento en el mismo celular, y el portal web del médico y el administrador. Ambas hablan con la capa de servicios, el backend en FastAPI, que concentra autenticación y roles, anonimización, el pipeline de IA y la auditoría. Lo único que sale hacia afuera es texto anonimizado hacia la API de OpenAI (borde naranjo). La capa de datos es PostgreSQL con la extensión pgvector para buscar guías por significado. Hoy todo corre en contenedores Docker; el despliegue en la nube con HTTPS es el paso previsto para producción.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Recorrer por capa. Respecto a la presentación anterior, se suman las piezas que faltaban: Docker, que permite a todo el equipo levantar el mismo entorno con un comando; la API de OpenAI, que genera los embeddings y el prediagnóstico; y pgvector, una extensión de PostgreSQL que busca guías clínicas por significado sin necesitar una base de datos vectorial separada. MediaPipe corre en el celular, así que el video nunca viaja al servidor.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Las líneas son relaciones por llave foránea. Todo lo que el paciente aporta (síntomas, documentos, métricas) y lo que genera la IA (prediagnósticos) apunta a su usuario. Las guías clínicas, en naranja, son independientes: son la base de conocimiento del RAG, con su embedding de 1536 dimensiones guardado gracias a pgvector. El catálogo de ejercicios es común a todos; cada ejecución une un ejercicio con un paciente. La tabla de auditoría (borde punteado) está en desarrollo; además, la base impide modificar o borrar sus registros. Los usuarios no se borran: se desactivan, para conservar el historial clínico.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Modelo tomado de la presentación anterior, que estaba bien planteado: la institución paga y el paciente no, lo que elimina la fricción de adopción y genera ingresos recurrentes predecibles. Se agrega la estructura de costos porque el jurado puede preguntar por el costo de la IA: cada prediagnóstico es una llamada a la API de OpenAI, un costo variable bajo por consulta que la suscripción debe cubrir. Si tienen una estimación de precios con fuente, este es el lugar para agregarla.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Corto plazo son mejoras viables sobre la arquitectura actual. La foto junto al síntoma usaría un modelo multimodal que recibe texto e imagen. Ver qué guías usó cada prediagnóstico da trazabilidad: el médico sabe en qué se basó la sugerencia. La carga de guías en PDF requiere extraer el texto y partirlo en fragmentos antes de generar los embeddings. Las maquetas de la izquierda vienen de la presentación anterior y muestran ideas para la app: una alerta cuando un ángulo sale del rango seguro y un comparador entre sesiones. Largo plazo amplía el alcance: otras especialidades, apoyo en la lectura de exámenes y la integración HL7/FHIR, que hoy está fuera del MVP. Un piloto con profesionales es lo que permitiría validar clínicamente el sistema.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n-US" dirty="0"/>
              <a:t>Cerrar volviendo al problema del inicio: la consulta ya no parte de cero. El paciente llega con su información ordenada y el médico la recibe procesada. Repetir las cuatro ideas: enriquece la consulta; ayuda a prevenir errores y omisiones, porque los diferenciales con probabilidad obligan a considerar más de una hipótesis; apoya al médico sin reemplazarlo; y protege los datos con anonimización, roles y auditoría. Agradecer y abrir a preguntas.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52004"/>
            <a:ext cx="9093200" cy="446980"/>
          </a:xfrm>
          <a:prstGeom prst="rect">
            <a:avLst/>
          </a:prstGeom>
          <a:noFill/>
          <a:ln/>
        </p:spPr>
        <p:txBody>
          <a:bodyPr wrap="square" lIns="0" tIns="0" rIns="0" bIns="0" rtlCol="0" anchor="t"/>
          <a:lstStyle>
            <a:lvl1pPr marL="0" indent="0" algn="l">
              <a:lnSpc>
                <a:spcPct val="115000"/>
              </a:lnSpc>
              <a:buNone/>
              <a:defRPr lang="en-US" sz="3200" dirty="0">
                <a:solidFill>
                  <a:srgbClr val="0F2E33"/>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103785"/>
            <a:ext cx="10566400" cy="3941415"/>
          </a:xfrm>
          <a:prstGeom prst="rect">
            <a:avLst/>
          </a:prstGeom>
          <a:noFill/>
          <a:ln/>
        </p:spPr>
        <p:txBody>
          <a:bodyPr wrap="square" lIns="0" tIns="0" rIns="0" bIns="0" rtlCol="0" anchor="t"/>
          <a:lstStyle>
            <a:lvl1pPr marL="0" indent="0" algn="l">
              <a:lnSpc>
                <a:spcPct val="140000"/>
              </a:lnSpc>
              <a:buNone/>
              <a:defRPr lang="en-US" sz="1600" dirty="0">
                <a:solidFill>
                  <a:srgbClr val="0F2E3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52004"/>
            <a:ext cx="9093200" cy="446980"/>
          </a:xfrm>
          <a:prstGeom prst="rect">
            <a:avLst/>
          </a:prstGeom>
          <a:noFill/>
          <a:ln/>
        </p:spPr>
        <p:txBody>
          <a:bodyPr wrap="square" lIns="0" tIns="0" rIns="0" bIns="0" rtlCol="0" anchor="t"/>
          <a:lstStyle>
            <a:lvl1pPr marL="0" indent="0" algn="l">
              <a:lnSpc>
                <a:spcPct val="115000"/>
              </a:lnSpc>
              <a:buNone/>
              <a:defRPr lang="en-US" sz="3200" dirty="0">
                <a:solidFill>
                  <a:srgbClr val="0F2E33"/>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103785"/>
            <a:ext cx="10566400" cy="3941415"/>
          </a:xfrm>
          <a:prstGeom prst="rect">
            <a:avLst/>
          </a:prstGeom>
          <a:noFill/>
          <a:ln/>
        </p:spPr>
        <p:txBody>
          <a:bodyPr wrap="square" lIns="0" tIns="0" rIns="0" bIns="0" rtlCol="0" anchor="t"/>
          <a:lstStyle>
            <a:lvl1pPr marL="0" indent="0" algn="l">
              <a:lnSpc>
                <a:spcPct val="140000"/>
              </a:lnSpc>
              <a:buNone/>
              <a:defRPr lang="en-US" sz="1600" dirty="0">
                <a:solidFill>
                  <a:srgbClr val="0F2E3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jpe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6477000" y="571500"/>
            <a:ext cx="5715000" cy="5715000"/>
          </a:xfrm>
          <a:prstGeom prst="rect">
            <a:avLst/>
          </a:prstGeom>
        </p:spPr>
      </p:pic>
      <p:pic>
        <p:nvPicPr>
          <p:cNvPr id="3" name="Image 1" descr="Silueta de un cuerpo humano con articulaciones detectadas"/>
          <p:cNvPicPr>
            <a:picLocks noChangeAspect="1"/>
          </p:cNvPicPr>
          <p:nvPr/>
        </p:nvPicPr>
        <p:blipFill>
          <a:blip r:embed="rId4"/>
          <a:srcRect l="-13" r="-13"/>
          <a:stretch/>
        </p:blipFill>
        <p:spPr>
          <a:xfrm>
            <a:off x="8064500" y="635000"/>
            <a:ext cx="2667000" cy="50927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4BB"/>
                </a:solidFill>
                <a:latin typeface="DM Sans" pitchFamily="34" charset="0"/>
                <a:ea typeface="DM Sans" pitchFamily="34" charset="-122"/>
                <a:cs typeface="DM Sans" pitchFamily="34" charset="-120"/>
              </a:rPr>
              <a:t>PROYECTO CAPSTONE · SECCIÓN 007V-2026-2</a:t>
            </a:r>
            <a:endParaRPr lang="en-US" sz="1200" dirty="0"/>
          </a:p>
        </p:txBody>
      </p:sp>
      <p:sp>
        <p:nvSpPr>
          <p:cNvPr id="5" name="Text 1"/>
          <p:cNvSpPr>
            <a:spLocks noGrp="1"/>
          </p:cNvSpPr>
          <p:nvPr>
            <p:ph type="title"/>
          </p:nvPr>
        </p:nvSpPr>
        <p:spPr>
          <a:xfrm>
            <a:off x="812800" y="2355850"/>
            <a:ext cx="7063740" cy="977900"/>
          </a:xfrm>
          <a:prstGeom prst="rect">
            <a:avLst/>
          </a:prstGeom>
          <a:noFill/>
          <a:ln/>
        </p:spPr>
        <p:txBody>
          <a:bodyPr wrap="square" lIns="0" tIns="0" rIns="0" bIns="0" rtlCol="0" anchor="t">
            <a:normAutofit fontScale="90000"/>
          </a:bodyPr>
          <a:lstStyle/>
          <a:p>
            <a:pPr marL="0" indent="0" algn="l">
              <a:lnSpc>
                <a:spcPts val="7500"/>
              </a:lnSpc>
              <a:buNone/>
            </a:pPr>
            <a:r>
              <a:rPr lang="en-US" sz="7500" b="1" i="0" kern="0" spc="-200" dirty="0">
                <a:solidFill>
                  <a:srgbClr val="F4F6F5"/>
                </a:solidFill>
                <a:latin typeface="DM Sans" pitchFamily="34" charset="0"/>
                <a:ea typeface="DM Sans" pitchFamily="34" charset="-122"/>
                <a:cs typeface="DM Sans" pitchFamily="34" charset="-120"/>
              </a:rPr>
              <a:t>ARCA Med</a:t>
            </a:r>
            <a:endParaRPr lang="en-US" sz="7500" dirty="0"/>
          </a:p>
        </p:txBody>
      </p:sp>
      <p:sp>
        <p:nvSpPr>
          <p:cNvPr id="6" name="Text 2"/>
          <p:cNvSpPr/>
          <p:nvPr/>
        </p:nvSpPr>
        <p:spPr>
          <a:xfrm>
            <a:off x="812800" y="3486150"/>
            <a:ext cx="5791198" cy="115193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D3D1"/>
                </a:solidFill>
                <a:latin typeface="DM Sans" pitchFamily="34" charset="0"/>
                <a:ea typeface="DM Sans" pitchFamily="34" charset="-122"/>
                <a:cs typeface="DM Sans" pitchFamily="34" charset="-120"/>
              </a:rPr>
              <a:t>Pre-consulta asistida por inteligencia artificial para kinesiología y traumatología</a:t>
            </a:r>
            <a:endParaRPr lang="en-US" sz="2200" dirty="0"/>
          </a:p>
        </p:txBody>
      </p:sp>
      <p:sp>
        <p:nvSpPr>
          <p:cNvPr id="7" name="Shape 3"/>
          <p:cNvSpPr/>
          <p:nvPr/>
        </p:nvSpPr>
        <p:spPr>
          <a:xfrm>
            <a:off x="825500" y="5537200"/>
            <a:ext cx="0" cy="508000"/>
          </a:xfrm>
          <a:prstGeom prst="line">
            <a:avLst/>
          </a:prstGeom>
          <a:noFill/>
          <a:ln w="25400">
            <a:solidFill>
              <a:srgbClr val="5CC4BB"/>
            </a:solidFill>
            <a:prstDash val="solid"/>
          </a:ln>
        </p:spPr>
        <p:txBody>
          <a:bodyPr/>
          <a:lstStyle/>
          <a:p>
            <a:endParaRPr lang="es-CL"/>
          </a:p>
        </p:txBody>
      </p:sp>
      <p:sp>
        <p:nvSpPr>
          <p:cNvPr id="8" name="Text 4"/>
          <p:cNvSpPr/>
          <p:nvPr/>
        </p:nvSpPr>
        <p:spPr>
          <a:xfrm>
            <a:off x="965200" y="5537200"/>
            <a:ext cx="121116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6F5"/>
                </a:solidFill>
                <a:latin typeface="DM Sans" pitchFamily="34" charset="0"/>
                <a:ea typeface="DM Sans" pitchFamily="34" charset="-122"/>
                <a:cs typeface="DM Sans" pitchFamily="34" charset="-120"/>
              </a:rPr>
              <a:t>Andhre Cruz</a:t>
            </a:r>
            <a:endParaRPr lang="en-US" sz="1500" dirty="0"/>
          </a:p>
        </p:txBody>
      </p:sp>
      <p:sp>
        <p:nvSpPr>
          <p:cNvPr id="9" name="Text 5"/>
          <p:cNvSpPr/>
          <p:nvPr/>
        </p:nvSpPr>
        <p:spPr>
          <a:xfrm>
            <a:off x="965200" y="5829300"/>
            <a:ext cx="121116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Backend e IA</a:t>
            </a:r>
            <a:endParaRPr lang="en-US" sz="1200" dirty="0"/>
          </a:p>
        </p:txBody>
      </p:sp>
      <p:sp>
        <p:nvSpPr>
          <p:cNvPr id="10" name="Shape 6"/>
          <p:cNvSpPr/>
          <p:nvPr/>
        </p:nvSpPr>
        <p:spPr>
          <a:xfrm>
            <a:off x="2443063" y="5537200"/>
            <a:ext cx="0" cy="508000"/>
          </a:xfrm>
          <a:prstGeom prst="line">
            <a:avLst/>
          </a:prstGeom>
          <a:noFill/>
          <a:ln w="25400">
            <a:solidFill>
              <a:srgbClr val="5CC4BB"/>
            </a:solidFill>
            <a:prstDash val="solid"/>
          </a:ln>
        </p:spPr>
        <p:txBody>
          <a:bodyPr/>
          <a:lstStyle/>
          <a:p>
            <a:endParaRPr lang="es-CL"/>
          </a:p>
        </p:txBody>
      </p:sp>
      <p:sp>
        <p:nvSpPr>
          <p:cNvPr id="11" name="Text 7"/>
          <p:cNvSpPr/>
          <p:nvPr/>
        </p:nvSpPr>
        <p:spPr>
          <a:xfrm>
            <a:off x="2582763" y="5537200"/>
            <a:ext cx="176481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6F5"/>
                </a:solidFill>
                <a:latin typeface="DM Sans" pitchFamily="34" charset="0"/>
                <a:ea typeface="DM Sans" pitchFamily="34" charset="-122"/>
                <a:cs typeface="DM Sans" pitchFamily="34" charset="-120"/>
              </a:rPr>
              <a:t>Sebastián Polanco</a:t>
            </a:r>
            <a:endParaRPr lang="en-US" sz="1500" dirty="0"/>
          </a:p>
        </p:txBody>
      </p:sp>
      <p:sp>
        <p:nvSpPr>
          <p:cNvPr id="12" name="Text 8"/>
          <p:cNvSpPr/>
          <p:nvPr/>
        </p:nvSpPr>
        <p:spPr>
          <a:xfrm>
            <a:off x="2582763" y="5829300"/>
            <a:ext cx="17648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Plataforma web</a:t>
            </a:r>
            <a:endParaRPr lang="en-US" sz="1200" dirty="0"/>
          </a:p>
        </p:txBody>
      </p:sp>
      <p:sp>
        <p:nvSpPr>
          <p:cNvPr id="13" name="Shape 9"/>
          <p:cNvSpPr/>
          <p:nvPr/>
        </p:nvSpPr>
        <p:spPr>
          <a:xfrm>
            <a:off x="4613672" y="5537200"/>
            <a:ext cx="0" cy="508000"/>
          </a:xfrm>
          <a:prstGeom prst="line">
            <a:avLst/>
          </a:prstGeom>
          <a:noFill/>
          <a:ln w="25400">
            <a:solidFill>
              <a:srgbClr val="5CC4BB"/>
            </a:solidFill>
            <a:prstDash val="solid"/>
          </a:ln>
        </p:spPr>
        <p:txBody>
          <a:bodyPr/>
          <a:lstStyle/>
          <a:p>
            <a:endParaRPr lang="es-CL"/>
          </a:p>
        </p:txBody>
      </p:sp>
      <p:sp>
        <p:nvSpPr>
          <p:cNvPr id="14" name="Text 10"/>
          <p:cNvSpPr/>
          <p:nvPr/>
        </p:nvSpPr>
        <p:spPr>
          <a:xfrm>
            <a:off x="4753372" y="5537200"/>
            <a:ext cx="133022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6F5"/>
                </a:solidFill>
                <a:latin typeface="DM Sans" pitchFamily="34" charset="0"/>
                <a:ea typeface="DM Sans" pitchFamily="34" charset="-122"/>
                <a:cs typeface="DM Sans" pitchFamily="34" charset="-120"/>
              </a:rPr>
              <a:t>Nicolás Kacic</a:t>
            </a:r>
            <a:endParaRPr lang="en-US" sz="1500" dirty="0"/>
          </a:p>
        </p:txBody>
      </p:sp>
      <p:sp>
        <p:nvSpPr>
          <p:cNvPr id="15" name="Text 11"/>
          <p:cNvSpPr/>
          <p:nvPr/>
        </p:nvSpPr>
        <p:spPr>
          <a:xfrm>
            <a:off x="4753372" y="5829300"/>
            <a:ext cx="13302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App móvil y visión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5"/>
        </a:solidFill>
        <a:effectLst/>
      </p:bgPr>
    </p:bg>
    <p:spTree>
      <p:nvGrpSpPr>
        <p:cNvPr id="1" name=""/>
        <p:cNvGrpSpPr/>
        <p:nvPr/>
      </p:nvGrpSpPr>
      <p:grpSpPr>
        <a:xfrm>
          <a:off x="0" y="0"/>
          <a:ext cx="0" cy="0"/>
          <a:chOff x="0" y="0"/>
          <a:chExt cx="0" cy="0"/>
        </a:xfrm>
      </p:grpSpPr>
      <p:pic>
        <p:nvPicPr>
          <p:cNvPr id="2" name="Image 0" descr="Kinesióloga evaluando la espalda de una paciente en una camilla"/>
          <p:cNvPicPr>
            <a:picLocks noChangeAspect="1"/>
          </p:cNvPicPr>
          <p:nvPr/>
        </p:nvPicPr>
        <p:blipFill>
          <a:blip r:embed="rId3"/>
          <a:srcRect l="23445" r="23445"/>
          <a:stretch/>
        </p:blipFill>
        <p:spPr>
          <a:xfrm>
            <a:off x="6731000" y="-13346"/>
            <a:ext cx="5461000" cy="6871345"/>
          </a:xfrm>
          <a:prstGeom prst="rect">
            <a:avLst/>
          </a:prstGeom>
        </p:spPr>
      </p:pic>
      <p:sp>
        <p:nvSpPr>
          <p:cNvPr id="3" name="Text 0"/>
          <p:cNvSpPr/>
          <p:nvPr/>
        </p:nvSpPr>
        <p:spPr>
          <a:xfrm>
            <a:off x="452120" y="1430402"/>
            <a:ext cx="125577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EL PROBLEMA</a:t>
            </a:r>
            <a:endParaRPr lang="en-US" sz="1200" dirty="0"/>
          </a:p>
        </p:txBody>
      </p:sp>
      <p:sp>
        <p:nvSpPr>
          <p:cNvPr id="4" name="Text 1"/>
          <p:cNvSpPr>
            <a:spLocks noGrp="1"/>
          </p:cNvSpPr>
          <p:nvPr>
            <p:ph type="title"/>
          </p:nvPr>
        </p:nvSpPr>
        <p:spPr>
          <a:xfrm>
            <a:off x="452120" y="1757461"/>
            <a:ext cx="12557760"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Hoy, la consulta parte de cero</a:t>
            </a:r>
            <a:endParaRPr lang="en-US" sz="3200" dirty="0"/>
          </a:p>
        </p:txBody>
      </p:sp>
      <p:sp>
        <p:nvSpPr>
          <p:cNvPr id="5" name="Text 2"/>
          <p:cNvSpPr/>
          <p:nvPr/>
        </p:nvSpPr>
        <p:spPr>
          <a:xfrm>
            <a:off x="452120" y="2279115"/>
            <a:ext cx="6271404" cy="57398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5555A"/>
                </a:solidFill>
                <a:latin typeface="DM Sans" pitchFamily="34" charset="0"/>
                <a:ea typeface="DM Sans" pitchFamily="34" charset="-122"/>
                <a:cs typeface="DM Sans" pitchFamily="34" charset="-120"/>
              </a:rPr>
              <a:t>El paciente llega y recién ahí el profesional empieza a reunir su información.</a:t>
            </a:r>
            <a:endParaRPr lang="en-US" sz="1500" dirty="0"/>
          </a:p>
        </p:txBody>
      </p:sp>
      <p:sp>
        <p:nvSpPr>
          <p:cNvPr id="7" name="Text 4"/>
          <p:cNvSpPr/>
          <p:nvPr/>
        </p:nvSpPr>
        <p:spPr>
          <a:xfrm>
            <a:off x="452120" y="3041154"/>
            <a:ext cx="6096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157A73"/>
                </a:solidFill>
                <a:latin typeface="DM Sans" pitchFamily="34" charset="0"/>
                <a:ea typeface="DM Sans" pitchFamily="34" charset="-122"/>
                <a:cs typeface="DM Sans" pitchFamily="34" charset="-120"/>
              </a:rPr>
              <a:t>01</a:t>
            </a:r>
            <a:endParaRPr lang="en-US" sz="2200" dirty="0"/>
          </a:p>
        </p:txBody>
      </p:sp>
      <p:sp>
        <p:nvSpPr>
          <p:cNvPr id="8" name="Text 5"/>
          <p:cNvSpPr/>
          <p:nvPr/>
        </p:nvSpPr>
        <p:spPr>
          <a:xfrm>
            <a:off x="1188720" y="3041154"/>
            <a:ext cx="117990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E33"/>
                </a:solidFill>
                <a:latin typeface="DM Sans" pitchFamily="34" charset="0"/>
                <a:ea typeface="DM Sans" pitchFamily="34" charset="-122"/>
                <a:cs typeface="DM Sans" pitchFamily="34" charset="-120"/>
              </a:rPr>
              <a:t>Antecedentes dispersos</a:t>
            </a:r>
            <a:endParaRPr lang="en-US" sz="1600" dirty="0"/>
          </a:p>
        </p:txBody>
      </p:sp>
      <p:sp>
        <p:nvSpPr>
          <p:cNvPr id="9" name="Text 6"/>
          <p:cNvSpPr/>
          <p:nvPr/>
        </p:nvSpPr>
        <p:spPr>
          <a:xfrm>
            <a:off x="1188720" y="3323035"/>
            <a:ext cx="1179906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Exámenes e informes llegan en papel, de memoria o no llegan.</a:t>
            </a:r>
            <a:endParaRPr lang="en-US" sz="1300" dirty="0"/>
          </a:p>
        </p:txBody>
      </p:sp>
      <p:sp>
        <p:nvSpPr>
          <p:cNvPr id="11" name="Text 8"/>
          <p:cNvSpPr/>
          <p:nvPr/>
        </p:nvSpPr>
        <p:spPr>
          <a:xfrm>
            <a:off x="452120" y="3992265"/>
            <a:ext cx="6096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157A73"/>
                </a:solidFill>
                <a:latin typeface="DM Sans" pitchFamily="34" charset="0"/>
                <a:ea typeface="DM Sans" pitchFamily="34" charset="-122"/>
                <a:cs typeface="DM Sans" pitchFamily="34" charset="-120"/>
              </a:rPr>
              <a:t>02</a:t>
            </a:r>
            <a:endParaRPr lang="en-US" sz="2200" dirty="0"/>
          </a:p>
        </p:txBody>
      </p:sp>
      <p:sp>
        <p:nvSpPr>
          <p:cNvPr id="12" name="Text 9"/>
          <p:cNvSpPr/>
          <p:nvPr/>
        </p:nvSpPr>
        <p:spPr>
          <a:xfrm>
            <a:off x="1188720" y="3992265"/>
            <a:ext cx="117990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E33"/>
                </a:solidFill>
                <a:latin typeface="DM Sans" pitchFamily="34" charset="0"/>
                <a:ea typeface="DM Sans" pitchFamily="34" charset="-122"/>
                <a:cs typeface="DM Sans" pitchFamily="34" charset="-120"/>
              </a:rPr>
              <a:t>Tiempo usado en recopilar</a:t>
            </a:r>
            <a:endParaRPr lang="en-US" sz="1600" dirty="0"/>
          </a:p>
        </p:txBody>
      </p:sp>
      <p:sp>
        <p:nvSpPr>
          <p:cNvPr id="13" name="Text 10"/>
          <p:cNvSpPr/>
          <p:nvPr/>
        </p:nvSpPr>
        <p:spPr>
          <a:xfrm>
            <a:off x="1188720" y="4274146"/>
            <a:ext cx="1179906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Parte de la consulta se va en preguntar lo básico, en vez de evaluar.</a:t>
            </a:r>
            <a:endParaRPr lang="en-US" sz="1300" dirty="0"/>
          </a:p>
        </p:txBody>
      </p:sp>
      <p:sp>
        <p:nvSpPr>
          <p:cNvPr id="15" name="Text 12"/>
          <p:cNvSpPr/>
          <p:nvPr/>
        </p:nvSpPr>
        <p:spPr>
          <a:xfrm>
            <a:off x="452120" y="4943376"/>
            <a:ext cx="6096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157A73"/>
                </a:solidFill>
                <a:latin typeface="DM Sans" pitchFamily="34" charset="0"/>
                <a:ea typeface="DM Sans" pitchFamily="34" charset="-122"/>
                <a:cs typeface="DM Sans" pitchFamily="34" charset="-120"/>
              </a:rPr>
              <a:t>03</a:t>
            </a:r>
            <a:endParaRPr lang="en-US" sz="2200" dirty="0"/>
          </a:p>
        </p:txBody>
      </p:sp>
      <p:sp>
        <p:nvSpPr>
          <p:cNvPr id="16" name="Text 13"/>
          <p:cNvSpPr/>
          <p:nvPr/>
        </p:nvSpPr>
        <p:spPr>
          <a:xfrm>
            <a:off x="1188720" y="4943376"/>
            <a:ext cx="117990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E33"/>
                </a:solidFill>
                <a:latin typeface="DM Sans" pitchFamily="34" charset="0"/>
                <a:ea typeface="DM Sans" pitchFamily="34" charset="-122"/>
                <a:cs typeface="DM Sans" pitchFamily="34" charset="-120"/>
              </a:rPr>
              <a:t>Evaluación física subjetiva</a:t>
            </a:r>
            <a:endParaRPr lang="en-US" sz="1600" dirty="0"/>
          </a:p>
        </p:txBody>
      </p:sp>
      <p:sp>
        <p:nvSpPr>
          <p:cNvPr id="17" name="Text 14"/>
          <p:cNvSpPr/>
          <p:nvPr/>
        </p:nvSpPr>
        <p:spPr>
          <a:xfrm>
            <a:off x="1188720" y="5225256"/>
            <a:ext cx="5125816" cy="64070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La movilidad se mide a ojo o con goniómetro, sin un dato previo para comparar.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LA SOLUCIÓN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ARCA Med prepara la consulta en tres pasos</a:t>
            </a:r>
            <a:endParaRPr lang="en-US" sz="3200" dirty="0"/>
          </a:p>
        </p:txBody>
      </p:sp>
      <p:sp>
        <p:nvSpPr>
          <p:cNvPr id="4" name="Text 2"/>
          <p:cNvSpPr/>
          <p:nvPr/>
        </p:nvSpPr>
        <p:spPr>
          <a:xfrm>
            <a:off x="822325" y="2041426"/>
            <a:ext cx="692150" cy="745430"/>
          </a:xfrm>
          <a:custGeom>
            <a:avLst/>
            <a:gdLst/>
            <a:ahLst/>
            <a:cxnLst/>
            <a:rect l="l" t="t" r="r" b="b"/>
            <a:pathLst>
              <a:path w="692150" h="745430">
                <a:moveTo>
                  <a:pt x="346075" y="0"/>
                </a:moveTo>
                <a:lnTo>
                  <a:pt x="346075" y="0"/>
                </a:lnTo>
                <a:arcTo wR="346075" hR="346075" stAng="16200000" swAng="5400000"/>
                <a:lnTo>
                  <a:pt x="692150" y="399355"/>
                </a:lnTo>
                <a:arcTo wR="346075" hR="346075" stAng="0" swAng="5400000"/>
                <a:lnTo>
                  <a:pt x="346075" y="745430"/>
                </a:lnTo>
                <a:arcTo wR="346075" hR="346075" stAng="5400000" swAng="5400000"/>
                <a:lnTo>
                  <a:pt x="0" y="346075"/>
                </a:lnTo>
                <a:arcTo wR="346075" hR="346075" stAng="10800000" swAng="5400000"/>
                <a:close/>
              </a:path>
            </a:pathLst>
          </a:custGeom>
          <a:solidFill>
            <a:srgbClr val="FBFCFB"/>
          </a:solidFill>
          <a:ln w="19050">
            <a:solidFill>
              <a:srgbClr val="157A73"/>
            </a:solidFill>
            <a:prstDash val="solid"/>
          </a:ln>
        </p:spPr>
        <p:txBody>
          <a:bodyPr wrap="square" lIns="0" tIns="123825" rIns="0" bIns="98425" rtlCol="0" anchor="t">
            <a:normAutofit/>
          </a:bodyPr>
          <a:lstStyle/>
          <a:p>
            <a:pPr marL="0" indent="0" algn="ctr">
              <a:lnSpc>
                <a:spcPts val="3920"/>
              </a:lnSpc>
              <a:buNone/>
            </a:pPr>
            <a:r>
              <a:rPr lang="en-US" sz="2800" b="1" dirty="0">
                <a:solidFill>
                  <a:srgbClr val="157A73"/>
                </a:solidFill>
                <a:latin typeface="DM Sans" pitchFamily="34" charset="0"/>
                <a:ea typeface="DM Sans" pitchFamily="34" charset="-122"/>
                <a:cs typeface="DM Sans" pitchFamily="34" charset="-120"/>
              </a:rPr>
              <a:t>1</a:t>
            </a:r>
            <a:endParaRPr lang="en-US" sz="2800" dirty="0"/>
          </a:p>
        </p:txBody>
      </p:sp>
      <p:sp>
        <p:nvSpPr>
          <p:cNvPr id="5" name="Text 3"/>
          <p:cNvSpPr/>
          <p:nvPr/>
        </p:nvSpPr>
        <p:spPr>
          <a:xfrm>
            <a:off x="812800" y="2910681"/>
            <a:ext cx="33487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57A73"/>
                </a:solidFill>
                <a:latin typeface="DM Sans" pitchFamily="34" charset="0"/>
                <a:ea typeface="DM Sans" pitchFamily="34" charset="-122"/>
                <a:cs typeface="DM Sans" pitchFamily="34" charset="-120"/>
              </a:rPr>
              <a:t>PACIENTE · APP ANDROID</a:t>
            </a:r>
            <a:endParaRPr lang="en-US" sz="1200" dirty="0"/>
          </a:p>
        </p:txBody>
      </p:sp>
      <p:sp>
        <p:nvSpPr>
          <p:cNvPr id="6" name="Text 4"/>
          <p:cNvSpPr/>
          <p:nvPr/>
        </p:nvSpPr>
        <p:spPr>
          <a:xfrm>
            <a:off x="812800" y="3238302"/>
            <a:ext cx="33487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E33"/>
                </a:solidFill>
                <a:latin typeface="DM Sans" pitchFamily="34" charset="0"/>
                <a:ea typeface="DM Sans" pitchFamily="34" charset="-122"/>
                <a:cs typeface="DM Sans" pitchFamily="34" charset="-120"/>
              </a:rPr>
              <a:t>Entrega su información</a:t>
            </a:r>
            <a:endParaRPr lang="en-US" sz="1800" dirty="0"/>
          </a:p>
        </p:txBody>
      </p:sp>
      <p:sp>
        <p:nvSpPr>
          <p:cNvPr id="7" name="Text 5"/>
          <p:cNvSpPr/>
          <p:nvPr/>
        </p:nvSpPr>
        <p:spPr>
          <a:xfrm>
            <a:off x="812800" y="3626842"/>
            <a:ext cx="334873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5555A"/>
                </a:solidFill>
                <a:latin typeface="DM Sans" pitchFamily="34" charset="0"/>
                <a:ea typeface="DM Sans" pitchFamily="34" charset="-122"/>
                <a:cs typeface="DM Sans" pitchFamily="34" charset="-120"/>
              </a:rPr>
              <a:t>Describe sus síntomas, sube exámenes previos y mide su movilidad con la cámara.</a:t>
            </a:r>
            <a:endParaRPr lang="en-US" sz="1400" dirty="0"/>
          </a:p>
        </p:txBody>
      </p:sp>
      <p:sp>
        <p:nvSpPr>
          <p:cNvPr id="8" name="Text 6"/>
          <p:cNvSpPr/>
          <p:nvPr/>
        </p:nvSpPr>
        <p:spPr>
          <a:xfrm>
            <a:off x="4479925" y="2041426"/>
            <a:ext cx="692150" cy="745430"/>
          </a:xfrm>
          <a:custGeom>
            <a:avLst/>
            <a:gdLst/>
            <a:ahLst/>
            <a:cxnLst/>
            <a:rect l="l" t="t" r="r" b="b"/>
            <a:pathLst>
              <a:path w="692150" h="745430">
                <a:moveTo>
                  <a:pt x="346075" y="0"/>
                </a:moveTo>
                <a:lnTo>
                  <a:pt x="346075" y="0"/>
                </a:lnTo>
                <a:arcTo wR="346075" hR="346075" stAng="16200000" swAng="5400000"/>
                <a:lnTo>
                  <a:pt x="692150" y="399355"/>
                </a:lnTo>
                <a:arcTo wR="346075" hR="346075" stAng="0" swAng="5400000"/>
                <a:lnTo>
                  <a:pt x="346075" y="745430"/>
                </a:lnTo>
                <a:arcTo wR="346075" hR="346075" stAng="5400000" swAng="5400000"/>
                <a:lnTo>
                  <a:pt x="0" y="346075"/>
                </a:lnTo>
                <a:arcTo wR="346075" hR="346075" stAng="10800000" swAng="5400000"/>
                <a:close/>
              </a:path>
            </a:pathLst>
          </a:custGeom>
          <a:solidFill>
            <a:srgbClr val="FBFCFB"/>
          </a:solidFill>
          <a:ln w="19050">
            <a:solidFill>
              <a:srgbClr val="157A73"/>
            </a:solidFill>
            <a:prstDash val="solid"/>
          </a:ln>
        </p:spPr>
        <p:txBody>
          <a:bodyPr wrap="square" lIns="0" tIns="123825" rIns="0" bIns="98425" rtlCol="0" anchor="t">
            <a:normAutofit/>
          </a:bodyPr>
          <a:lstStyle/>
          <a:p>
            <a:pPr marL="0" indent="0" algn="ctr">
              <a:lnSpc>
                <a:spcPts val="3920"/>
              </a:lnSpc>
              <a:buNone/>
            </a:pPr>
            <a:r>
              <a:rPr lang="en-US" sz="2800" b="1" dirty="0">
                <a:solidFill>
                  <a:srgbClr val="157A73"/>
                </a:solidFill>
                <a:latin typeface="DM Sans" pitchFamily="34" charset="0"/>
                <a:ea typeface="DM Sans" pitchFamily="34" charset="-122"/>
                <a:cs typeface="DM Sans" pitchFamily="34" charset="-120"/>
              </a:rPr>
              <a:t>2</a:t>
            </a:r>
            <a:endParaRPr lang="en-US" sz="2800" dirty="0"/>
          </a:p>
        </p:txBody>
      </p:sp>
      <p:sp>
        <p:nvSpPr>
          <p:cNvPr id="9" name="Text 7"/>
          <p:cNvSpPr/>
          <p:nvPr/>
        </p:nvSpPr>
        <p:spPr>
          <a:xfrm>
            <a:off x="4470400" y="2910681"/>
            <a:ext cx="33487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57A73"/>
                </a:solidFill>
                <a:latin typeface="DM Sans" pitchFamily="34" charset="0"/>
                <a:ea typeface="DM Sans" pitchFamily="34" charset="-122"/>
                <a:cs typeface="DM Sans" pitchFamily="34" charset="-120"/>
              </a:rPr>
              <a:t>IA · BACKEND</a:t>
            </a:r>
            <a:endParaRPr lang="en-US" sz="1200" dirty="0"/>
          </a:p>
        </p:txBody>
      </p:sp>
      <p:sp>
        <p:nvSpPr>
          <p:cNvPr id="10" name="Text 8"/>
          <p:cNvSpPr/>
          <p:nvPr/>
        </p:nvSpPr>
        <p:spPr>
          <a:xfrm>
            <a:off x="4470400" y="3238302"/>
            <a:ext cx="33487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E33"/>
                </a:solidFill>
                <a:latin typeface="DM Sans" pitchFamily="34" charset="0"/>
                <a:ea typeface="DM Sans" pitchFamily="34" charset="-122"/>
                <a:cs typeface="DM Sans" pitchFamily="34" charset="-120"/>
              </a:rPr>
              <a:t>Analiza y prioriza</a:t>
            </a:r>
            <a:endParaRPr lang="en-US" sz="1800" dirty="0"/>
          </a:p>
        </p:txBody>
      </p:sp>
      <p:sp>
        <p:nvSpPr>
          <p:cNvPr id="11" name="Text 9"/>
          <p:cNvSpPr/>
          <p:nvPr/>
        </p:nvSpPr>
        <p:spPr>
          <a:xfrm>
            <a:off x="4470400" y="3626842"/>
            <a:ext cx="334873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5555A"/>
                </a:solidFill>
                <a:latin typeface="DM Sans" pitchFamily="34" charset="0"/>
                <a:ea typeface="DM Sans" pitchFamily="34" charset="-122"/>
                <a:cs typeface="DM Sans" pitchFamily="34" charset="-120"/>
              </a:rPr>
              <a:t>Anonimiza los datos, consulta guías clínicas y genera un prediagnóstico con urgencia sugerida.</a:t>
            </a:r>
            <a:endParaRPr lang="en-US" sz="1400" dirty="0"/>
          </a:p>
        </p:txBody>
      </p:sp>
      <p:sp>
        <p:nvSpPr>
          <p:cNvPr id="12" name="Text 10"/>
          <p:cNvSpPr/>
          <p:nvPr/>
        </p:nvSpPr>
        <p:spPr>
          <a:xfrm>
            <a:off x="8137525" y="2041426"/>
            <a:ext cx="692150" cy="745430"/>
          </a:xfrm>
          <a:custGeom>
            <a:avLst/>
            <a:gdLst/>
            <a:ahLst/>
            <a:cxnLst/>
            <a:rect l="l" t="t" r="r" b="b"/>
            <a:pathLst>
              <a:path w="692150" h="745430">
                <a:moveTo>
                  <a:pt x="346075" y="0"/>
                </a:moveTo>
                <a:lnTo>
                  <a:pt x="346075" y="0"/>
                </a:lnTo>
                <a:arcTo wR="346075" hR="346075" stAng="16200000" swAng="5400000"/>
                <a:lnTo>
                  <a:pt x="692150" y="399355"/>
                </a:lnTo>
                <a:arcTo wR="346075" hR="346075" stAng="0" swAng="5400000"/>
                <a:lnTo>
                  <a:pt x="346075" y="745430"/>
                </a:lnTo>
                <a:arcTo wR="346075" hR="346075" stAng="5400000" swAng="5400000"/>
                <a:lnTo>
                  <a:pt x="0" y="346075"/>
                </a:lnTo>
                <a:arcTo wR="346075" hR="346075" stAng="10800000" swAng="5400000"/>
                <a:close/>
              </a:path>
            </a:pathLst>
          </a:custGeom>
          <a:solidFill>
            <a:srgbClr val="FBFCFB"/>
          </a:solidFill>
          <a:ln w="19050">
            <a:solidFill>
              <a:srgbClr val="157A73"/>
            </a:solidFill>
            <a:prstDash val="solid"/>
          </a:ln>
        </p:spPr>
        <p:txBody>
          <a:bodyPr wrap="square" lIns="0" tIns="123825" rIns="0" bIns="98425" rtlCol="0" anchor="t">
            <a:normAutofit/>
          </a:bodyPr>
          <a:lstStyle/>
          <a:p>
            <a:pPr marL="0" indent="0" algn="ctr">
              <a:lnSpc>
                <a:spcPts val="3920"/>
              </a:lnSpc>
              <a:buNone/>
            </a:pPr>
            <a:r>
              <a:rPr lang="en-US" sz="2800" b="1" dirty="0">
                <a:solidFill>
                  <a:srgbClr val="157A73"/>
                </a:solidFill>
                <a:latin typeface="DM Sans" pitchFamily="34" charset="0"/>
                <a:ea typeface="DM Sans" pitchFamily="34" charset="-122"/>
                <a:cs typeface="DM Sans" pitchFamily="34" charset="-120"/>
              </a:rPr>
              <a:t>3</a:t>
            </a:r>
            <a:endParaRPr lang="en-US" sz="2800" dirty="0"/>
          </a:p>
        </p:txBody>
      </p:sp>
      <p:sp>
        <p:nvSpPr>
          <p:cNvPr id="13" name="Text 11"/>
          <p:cNvSpPr/>
          <p:nvPr/>
        </p:nvSpPr>
        <p:spPr>
          <a:xfrm>
            <a:off x="8128000" y="2910681"/>
            <a:ext cx="33487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57A73"/>
                </a:solidFill>
                <a:latin typeface="DM Sans" pitchFamily="34" charset="0"/>
                <a:ea typeface="DM Sans" pitchFamily="34" charset="-122"/>
                <a:cs typeface="DM Sans" pitchFamily="34" charset="-120"/>
              </a:rPr>
              <a:t>MÉDICO · PLATAFORMA WEB</a:t>
            </a:r>
            <a:endParaRPr lang="en-US" sz="1200" dirty="0"/>
          </a:p>
        </p:txBody>
      </p:sp>
      <p:sp>
        <p:nvSpPr>
          <p:cNvPr id="14" name="Text 12"/>
          <p:cNvSpPr/>
          <p:nvPr/>
        </p:nvSpPr>
        <p:spPr>
          <a:xfrm>
            <a:off x="8128000" y="3238302"/>
            <a:ext cx="33487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2E33"/>
                </a:solidFill>
                <a:latin typeface="DM Sans" pitchFamily="34" charset="0"/>
                <a:ea typeface="DM Sans" pitchFamily="34" charset="-122"/>
                <a:cs typeface="DM Sans" pitchFamily="34" charset="-120"/>
              </a:rPr>
              <a:t>Revisa y decide</a:t>
            </a:r>
            <a:endParaRPr lang="en-US" sz="1800" dirty="0"/>
          </a:p>
        </p:txBody>
      </p:sp>
      <p:sp>
        <p:nvSpPr>
          <p:cNvPr id="15" name="Text 13"/>
          <p:cNvSpPr/>
          <p:nvPr/>
        </p:nvSpPr>
        <p:spPr>
          <a:xfrm>
            <a:off x="8128000" y="3626842"/>
            <a:ext cx="334873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5555A"/>
                </a:solidFill>
                <a:latin typeface="DM Sans" pitchFamily="34" charset="0"/>
                <a:ea typeface="DM Sans" pitchFamily="34" charset="-122"/>
                <a:cs typeface="DM Sans" pitchFamily="34" charset="-120"/>
              </a:rPr>
              <a:t>Ve la bandeja ordenada por urgencia, el resumen, los exámenes y las mediciones.</a:t>
            </a:r>
            <a:endParaRPr lang="en-US" sz="1400" dirty="0"/>
          </a:p>
        </p:txBody>
      </p:sp>
      <p:sp>
        <p:nvSpPr>
          <p:cNvPr id="16" name="Shape 14"/>
          <p:cNvSpPr/>
          <p:nvPr/>
        </p:nvSpPr>
        <p:spPr>
          <a:xfrm>
            <a:off x="812800" y="4830564"/>
            <a:ext cx="10566400" cy="609600"/>
          </a:xfrm>
          <a:prstGeom prst="roundRect">
            <a:avLst>
              <a:gd name="adj" fmla="val 16667"/>
            </a:avLst>
          </a:prstGeom>
          <a:solidFill>
            <a:srgbClr val="E3EEEC"/>
          </a:solidFill>
          <a:ln/>
        </p:spPr>
        <p:txBody>
          <a:bodyPr/>
          <a:lstStyle/>
          <a:p>
            <a:endParaRPr lang="es-CL"/>
          </a:p>
        </p:txBody>
      </p:sp>
      <p:pic>
        <p:nvPicPr>
          <p:cNvPr id="17" name="Image 0" descr="Lightbulb"/>
          <p:cNvPicPr>
            <a:picLocks noChangeAspect="1"/>
          </p:cNvPicPr>
          <p:nvPr/>
        </p:nvPicPr>
        <p:blipFill>
          <a:blip r:embed="rId3"/>
          <a:srcRect/>
          <a:stretch/>
        </p:blipFill>
        <p:spPr>
          <a:xfrm>
            <a:off x="1066800" y="5008364"/>
            <a:ext cx="254000" cy="254000"/>
          </a:xfrm>
          <a:prstGeom prst="rect">
            <a:avLst/>
          </a:prstGeom>
        </p:spPr>
      </p:pic>
      <p:sp>
        <p:nvSpPr>
          <p:cNvPr id="18" name="Text 15"/>
          <p:cNvSpPr/>
          <p:nvPr/>
        </p:nvSpPr>
        <p:spPr>
          <a:xfrm>
            <a:off x="1473200" y="5010944"/>
            <a:ext cx="994156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F2E33"/>
                </a:solidFill>
                <a:latin typeface="DM Sans" pitchFamily="34" charset="0"/>
                <a:ea typeface="DM Sans" pitchFamily="34" charset="-122"/>
                <a:cs typeface="DM Sans" pitchFamily="34" charset="-120"/>
              </a:rPr>
              <a:t>Resultado: el médico llega a la consulta con el caso resumido, priorizado y con datos objetivos de movilidad.</a:t>
            </a:r>
            <a:endParaRPr lang="en-US" sz="1400" dirty="0"/>
          </a:p>
        </p:txBody>
      </p:sp>
      <p:pic>
        <p:nvPicPr>
          <p:cNvPr id="19" name="Image 1" descr="connector"/>
          <p:cNvPicPr>
            <a:picLocks noChangeAspect="1"/>
          </p:cNvPicPr>
          <p:nvPr/>
        </p:nvPicPr>
        <p:blipFill>
          <a:blip r:embed="rId4"/>
          <a:srcRect/>
          <a:stretch/>
        </p:blipFill>
        <p:spPr>
          <a:xfrm>
            <a:off x="1536700" y="2362200"/>
            <a:ext cx="2921000" cy="101600"/>
          </a:xfrm>
          <a:prstGeom prst="rect">
            <a:avLst/>
          </a:prstGeom>
        </p:spPr>
      </p:pic>
      <p:pic>
        <p:nvPicPr>
          <p:cNvPr id="20" name="Image 2" descr="connector"/>
          <p:cNvPicPr>
            <a:picLocks noChangeAspect="1"/>
          </p:cNvPicPr>
          <p:nvPr/>
        </p:nvPicPr>
        <p:blipFill>
          <a:blip r:embed="rId4"/>
          <a:srcRect/>
          <a:stretch/>
        </p:blipFill>
        <p:spPr>
          <a:xfrm>
            <a:off x="5194300" y="2362200"/>
            <a:ext cx="2921000" cy="10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E33"/>
        </a:solidFill>
        <a:effectLst/>
      </p:bgPr>
    </p:bg>
    <p:spTree>
      <p:nvGrpSpPr>
        <p:cNvPr id="1" name=""/>
        <p:cNvGrpSpPr/>
        <p:nvPr/>
      </p:nvGrpSpPr>
      <p:grpSpPr>
        <a:xfrm>
          <a:off x="0" y="0"/>
          <a:ext cx="0" cy="0"/>
          <a:chOff x="0" y="0"/>
          <a:chExt cx="0" cy="0"/>
        </a:xfrm>
      </p:grpSpPr>
      <p:sp>
        <p:nvSpPr>
          <p:cNvPr id="2" name="Text 0"/>
          <p:cNvSpPr/>
          <p:nvPr/>
        </p:nvSpPr>
        <p:spPr>
          <a:xfrm>
            <a:off x="812800" y="1546920"/>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4BB"/>
                </a:solidFill>
                <a:latin typeface="DM Sans" pitchFamily="34" charset="0"/>
                <a:ea typeface="DM Sans" pitchFamily="34" charset="-122"/>
                <a:cs typeface="DM Sans" pitchFamily="34" charset="-120"/>
              </a:rPr>
              <a:t>PRINCIPIO DE DISEÑO</a:t>
            </a:r>
            <a:endParaRPr lang="en-US" sz="1200" dirty="0"/>
          </a:p>
        </p:txBody>
      </p:sp>
      <p:sp>
        <p:nvSpPr>
          <p:cNvPr id="3" name="Text 1"/>
          <p:cNvSpPr>
            <a:spLocks noGrp="1"/>
          </p:cNvSpPr>
          <p:nvPr>
            <p:ph type="title"/>
          </p:nvPr>
        </p:nvSpPr>
        <p:spPr>
          <a:xfrm>
            <a:off x="812800" y="2014240"/>
            <a:ext cx="6540500" cy="1305520"/>
          </a:xfrm>
          <a:prstGeom prst="rect">
            <a:avLst/>
          </a:prstGeom>
          <a:noFill/>
          <a:ln/>
        </p:spPr>
        <p:txBody>
          <a:bodyPr wrap="square" lIns="0" tIns="0" rIns="0" bIns="0" rtlCol="0" anchor="t">
            <a:normAutofit/>
          </a:bodyPr>
          <a:lstStyle/>
          <a:p>
            <a:pPr marL="0" indent="0" algn="l">
              <a:lnSpc>
                <a:spcPts val="5040"/>
              </a:lnSpc>
              <a:buNone/>
            </a:pPr>
            <a:r>
              <a:rPr lang="en-US" sz="4800" b="1" i="0" kern="0" spc="-100" dirty="0">
                <a:solidFill>
                  <a:srgbClr val="F4F6F5"/>
                </a:solidFill>
                <a:latin typeface="DM Sans" pitchFamily="34" charset="0"/>
                <a:ea typeface="DM Sans" pitchFamily="34" charset="-122"/>
                <a:cs typeface="DM Sans" pitchFamily="34" charset="-120"/>
              </a:rPr>
              <a:t>La IA sugiere.</a:t>
            </a:r>
            <a:endParaRPr lang="en-US" sz="4800" dirty="0"/>
          </a:p>
          <a:p>
            <a:pPr marL="0" indent="0" algn="l">
              <a:lnSpc>
                <a:spcPts val="5040"/>
              </a:lnSpc>
              <a:buNone/>
            </a:pPr>
            <a:r>
              <a:rPr lang="en-US" sz="4800" b="1" i="0" kern="0" spc="-100" dirty="0">
                <a:solidFill>
                  <a:srgbClr val="F4F6F5"/>
                </a:solidFill>
                <a:latin typeface="DM Sans" pitchFamily="34" charset="0"/>
                <a:ea typeface="DM Sans" pitchFamily="34" charset="-122"/>
                <a:cs typeface="DM Sans" pitchFamily="34" charset="-120"/>
              </a:rPr>
              <a:t>El médico decide.</a:t>
            </a:r>
            <a:endParaRPr lang="en-US" sz="4800" dirty="0"/>
          </a:p>
        </p:txBody>
      </p:sp>
      <p:sp>
        <p:nvSpPr>
          <p:cNvPr id="4" name="Text 2"/>
          <p:cNvSpPr/>
          <p:nvPr/>
        </p:nvSpPr>
        <p:spPr>
          <a:xfrm>
            <a:off x="812800" y="3548360"/>
            <a:ext cx="6540500"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BFD3D1"/>
                </a:solidFill>
                <a:latin typeface="DM Sans" pitchFamily="34" charset="0"/>
                <a:ea typeface="DM Sans" pitchFamily="34" charset="-122"/>
                <a:cs typeface="DM Sans" pitchFamily="34" charset="-120"/>
              </a:rPr>
              <a:t>ARCA Med es un sistema de apoyo a la decisión clínica (CDSS). En vez de un único diagnóstico, entrega varios diagnósticos diferenciales con su probabilidad, para no anclar el criterio del profesional a una sola opción.</a:t>
            </a:r>
            <a:endParaRPr lang="en-US" sz="1500" dirty="0"/>
          </a:p>
        </p:txBody>
      </p:sp>
      <p:sp>
        <p:nvSpPr>
          <p:cNvPr id="5" name="Shape 3"/>
          <p:cNvSpPr/>
          <p:nvPr/>
        </p:nvSpPr>
        <p:spPr>
          <a:xfrm>
            <a:off x="815975" y="4910435"/>
            <a:ext cx="1926034" cy="397470"/>
          </a:xfrm>
          <a:prstGeom prst="roundRect">
            <a:avLst>
              <a:gd name="adj" fmla="val 50000"/>
            </a:avLst>
          </a:prstGeom>
          <a:solidFill>
            <a:srgbClr val="163C42"/>
          </a:solidFill>
          <a:ln w="6350">
            <a:solidFill>
              <a:srgbClr val="2E6A6F"/>
            </a:solidFill>
            <a:prstDash val="solid"/>
          </a:ln>
        </p:spPr>
        <p:txBody>
          <a:bodyPr/>
          <a:lstStyle/>
          <a:p>
            <a:endParaRPr lang="es-CL"/>
          </a:p>
        </p:txBody>
      </p:sp>
      <p:pic>
        <p:nvPicPr>
          <p:cNvPr id="6" name="Image 0" descr="Code"/>
          <p:cNvPicPr>
            <a:picLocks noChangeAspect="1"/>
          </p:cNvPicPr>
          <p:nvPr/>
        </p:nvPicPr>
        <p:blipFill>
          <a:blip r:embed="rId3"/>
          <a:srcRect/>
          <a:stretch/>
        </p:blipFill>
        <p:spPr>
          <a:xfrm>
            <a:off x="971550" y="5020270"/>
            <a:ext cx="177800" cy="177800"/>
          </a:xfrm>
          <a:prstGeom prst="rect">
            <a:avLst/>
          </a:prstGeom>
        </p:spPr>
      </p:pic>
      <p:sp>
        <p:nvSpPr>
          <p:cNvPr id="7" name="Text 4"/>
          <p:cNvSpPr/>
          <p:nvPr/>
        </p:nvSpPr>
        <p:spPr>
          <a:xfrm>
            <a:off x="1225550" y="5002510"/>
            <a:ext cx="15132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5"/>
                </a:solidFill>
                <a:latin typeface="DM Sans" pitchFamily="34" charset="0"/>
                <a:ea typeface="DM Sans" pitchFamily="34" charset="-122"/>
                <a:cs typeface="DM Sans" pitchFamily="34" charset="-120"/>
              </a:rPr>
              <a:t>Sugerencia de la IA</a:t>
            </a:r>
            <a:endParaRPr lang="en-US" sz="1200" dirty="0"/>
          </a:p>
        </p:txBody>
      </p:sp>
      <p:sp>
        <p:nvSpPr>
          <p:cNvPr id="8" name="Shape 5"/>
          <p:cNvSpPr/>
          <p:nvPr/>
        </p:nvSpPr>
        <p:spPr>
          <a:xfrm>
            <a:off x="2849959" y="4910435"/>
            <a:ext cx="1948259" cy="397470"/>
          </a:xfrm>
          <a:prstGeom prst="roundRect">
            <a:avLst>
              <a:gd name="adj" fmla="val 50000"/>
            </a:avLst>
          </a:prstGeom>
          <a:solidFill>
            <a:srgbClr val="163C42"/>
          </a:solidFill>
          <a:ln w="6350">
            <a:solidFill>
              <a:srgbClr val="2E6A6F"/>
            </a:solidFill>
            <a:prstDash val="solid"/>
          </a:ln>
        </p:spPr>
        <p:txBody>
          <a:bodyPr/>
          <a:lstStyle/>
          <a:p>
            <a:endParaRPr lang="es-CL"/>
          </a:p>
        </p:txBody>
      </p:sp>
      <p:pic>
        <p:nvPicPr>
          <p:cNvPr id="9" name="Image 1" descr="Users"/>
          <p:cNvPicPr>
            <a:picLocks noChangeAspect="1"/>
          </p:cNvPicPr>
          <p:nvPr/>
        </p:nvPicPr>
        <p:blipFill>
          <a:blip r:embed="rId4"/>
          <a:srcRect/>
          <a:stretch/>
        </p:blipFill>
        <p:spPr>
          <a:xfrm>
            <a:off x="3005534" y="5020270"/>
            <a:ext cx="177800" cy="177800"/>
          </a:xfrm>
          <a:prstGeom prst="rect">
            <a:avLst/>
          </a:prstGeom>
        </p:spPr>
      </p:pic>
      <p:sp>
        <p:nvSpPr>
          <p:cNvPr id="10" name="Text 6"/>
          <p:cNvSpPr/>
          <p:nvPr/>
        </p:nvSpPr>
        <p:spPr>
          <a:xfrm>
            <a:off x="3259534" y="5002510"/>
            <a:ext cx="15355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5"/>
                </a:solidFill>
                <a:latin typeface="DM Sans" pitchFamily="34" charset="0"/>
                <a:ea typeface="DM Sans" pitchFamily="34" charset="-122"/>
                <a:cs typeface="DM Sans" pitchFamily="34" charset="-120"/>
              </a:rPr>
              <a:t>Criterio del médico</a:t>
            </a:r>
            <a:endParaRPr lang="en-US" sz="1200" dirty="0"/>
          </a:p>
        </p:txBody>
      </p:sp>
      <p:sp>
        <p:nvSpPr>
          <p:cNvPr id="11" name="Shape 7"/>
          <p:cNvSpPr/>
          <p:nvPr/>
        </p:nvSpPr>
        <p:spPr>
          <a:xfrm>
            <a:off x="4902994" y="4913610"/>
            <a:ext cx="1555254" cy="391120"/>
          </a:xfrm>
          <a:prstGeom prst="roundRect">
            <a:avLst>
              <a:gd name="adj" fmla="val 50000"/>
            </a:avLst>
          </a:prstGeom>
          <a:solidFill>
            <a:srgbClr val="5CC4BB"/>
          </a:solidFill>
          <a:ln/>
        </p:spPr>
        <p:txBody>
          <a:bodyPr/>
          <a:lstStyle/>
          <a:p>
            <a:endParaRPr lang="es-CL"/>
          </a:p>
        </p:txBody>
      </p:sp>
      <p:pic>
        <p:nvPicPr>
          <p:cNvPr id="12" name="Image 2" descr="Check"/>
          <p:cNvPicPr>
            <a:picLocks noChangeAspect="1"/>
          </p:cNvPicPr>
          <p:nvPr/>
        </p:nvPicPr>
        <p:blipFill>
          <a:blip r:embed="rId5"/>
          <a:srcRect/>
          <a:stretch/>
        </p:blipFill>
        <p:spPr>
          <a:xfrm>
            <a:off x="5055394" y="5020270"/>
            <a:ext cx="177800" cy="177800"/>
          </a:xfrm>
          <a:prstGeom prst="rect">
            <a:avLst/>
          </a:prstGeom>
        </p:spPr>
      </p:pic>
      <p:sp>
        <p:nvSpPr>
          <p:cNvPr id="13" name="Text 8"/>
          <p:cNvSpPr/>
          <p:nvPr/>
        </p:nvSpPr>
        <p:spPr>
          <a:xfrm>
            <a:off x="5309394" y="5002510"/>
            <a:ext cx="11488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2E33"/>
                </a:solidFill>
                <a:latin typeface="DM Sans" pitchFamily="34" charset="0"/>
                <a:ea typeface="DM Sans" pitchFamily="34" charset="-122"/>
                <a:cs typeface="DM Sans" pitchFamily="34" charset="-120"/>
              </a:rPr>
              <a:t>Decisión final</a:t>
            </a:r>
            <a:endParaRPr lang="en-US" sz="1200" dirty="0"/>
          </a:p>
        </p:txBody>
      </p:sp>
      <p:sp>
        <p:nvSpPr>
          <p:cNvPr id="14" name="Shape 9"/>
          <p:cNvSpPr/>
          <p:nvPr/>
        </p:nvSpPr>
        <p:spPr>
          <a:xfrm>
            <a:off x="7572375" y="1646734"/>
            <a:ext cx="3803650" cy="3564533"/>
          </a:xfrm>
          <a:prstGeom prst="roundRect">
            <a:avLst>
              <a:gd name="adj" fmla="val 3474"/>
            </a:avLst>
          </a:prstGeom>
          <a:solidFill>
            <a:srgbClr val="163C42"/>
          </a:solidFill>
          <a:ln w="6350">
            <a:solidFill>
              <a:srgbClr val="2E6A6F"/>
            </a:solidFill>
            <a:prstDash val="solid"/>
          </a:ln>
        </p:spPr>
        <p:txBody>
          <a:bodyPr/>
          <a:lstStyle/>
          <a:p>
            <a:endParaRPr lang="es-CL"/>
          </a:p>
        </p:txBody>
      </p:sp>
      <p:sp>
        <p:nvSpPr>
          <p:cNvPr id="15" name="Text 10"/>
          <p:cNvSpPr/>
          <p:nvPr/>
        </p:nvSpPr>
        <p:spPr>
          <a:xfrm>
            <a:off x="7829550" y="1903909"/>
            <a:ext cx="338797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CC4BB"/>
                </a:solidFill>
                <a:latin typeface="DM Sans" pitchFamily="34" charset="0"/>
                <a:ea typeface="DM Sans" pitchFamily="34" charset="-122"/>
                <a:cs typeface="DM Sans" pitchFamily="34" charset="-120"/>
              </a:rPr>
              <a:t>EJEMPLO ILUSTRATIVO DE SALIDA</a:t>
            </a:r>
            <a:endParaRPr lang="en-US" sz="1200" dirty="0"/>
          </a:p>
        </p:txBody>
      </p:sp>
      <p:sp>
        <p:nvSpPr>
          <p:cNvPr id="16" name="Text 11"/>
          <p:cNvSpPr/>
          <p:nvPr/>
        </p:nvSpPr>
        <p:spPr>
          <a:xfrm>
            <a:off x="7829550" y="2295029"/>
            <a:ext cx="3387979"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4F6F5"/>
                </a:solidFill>
                <a:latin typeface="DM Sans" pitchFamily="34" charset="0"/>
                <a:ea typeface="DM Sans" pitchFamily="34" charset="-122"/>
                <a:cs typeface="DM Sans" pitchFamily="34" charset="-120"/>
              </a:rPr>
              <a:t>Esguince de tobillo grado II</a:t>
            </a:r>
            <a:endParaRPr lang="en-US" sz="1300" dirty="0"/>
          </a:p>
        </p:txBody>
      </p:sp>
      <p:sp>
        <p:nvSpPr>
          <p:cNvPr id="17" name="Shape 12"/>
          <p:cNvSpPr/>
          <p:nvPr/>
        </p:nvSpPr>
        <p:spPr>
          <a:xfrm>
            <a:off x="7829550" y="2637830"/>
            <a:ext cx="2679700" cy="101600"/>
          </a:xfrm>
          <a:prstGeom prst="roundRect">
            <a:avLst>
              <a:gd name="adj" fmla="val 50000"/>
            </a:avLst>
          </a:prstGeom>
          <a:solidFill>
            <a:srgbClr val="1E4A50"/>
          </a:solidFill>
          <a:ln/>
        </p:spPr>
        <p:txBody>
          <a:bodyPr/>
          <a:lstStyle/>
          <a:p>
            <a:endParaRPr lang="es-CL"/>
          </a:p>
        </p:txBody>
      </p:sp>
      <p:sp>
        <p:nvSpPr>
          <p:cNvPr id="18" name="Shape 13"/>
          <p:cNvSpPr/>
          <p:nvPr/>
        </p:nvSpPr>
        <p:spPr>
          <a:xfrm>
            <a:off x="7829550" y="2637830"/>
            <a:ext cx="2679700" cy="101600"/>
          </a:xfrm>
          <a:prstGeom prst="roundRect">
            <a:avLst>
              <a:gd name="adj" fmla="val 50000"/>
            </a:avLst>
          </a:prstGeom>
          <a:solidFill>
            <a:srgbClr val="5CC4BB"/>
          </a:solidFill>
          <a:ln/>
        </p:spPr>
        <p:txBody>
          <a:bodyPr/>
          <a:lstStyle/>
          <a:p>
            <a:endParaRPr lang="es-CL"/>
          </a:p>
        </p:txBody>
      </p:sp>
      <p:sp>
        <p:nvSpPr>
          <p:cNvPr id="19" name="Text 14"/>
          <p:cNvSpPr/>
          <p:nvPr/>
        </p:nvSpPr>
        <p:spPr>
          <a:xfrm>
            <a:off x="10560050" y="2573139"/>
            <a:ext cx="558800" cy="256480"/>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F4F6F5"/>
                </a:solidFill>
                <a:latin typeface="DM Sans" pitchFamily="34" charset="0"/>
                <a:ea typeface="DM Sans" pitchFamily="34" charset="-122"/>
                <a:cs typeface="DM Sans" pitchFamily="34" charset="-120"/>
              </a:rPr>
              <a:t>55%</a:t>
            </a:r>
            <a:endParaRPr lang="en-US" sz="1300" dirty="0"/>
          </a:p>
        </p:txBody>
      </p:sp>
      <p:sp>
        <p:nvSpPr>
          <p:cNvPr id="20" name="Text 15"/>
          <p:cNvSpPr/>
          <p:nvPr/>
        </p:nvSpPr>
        <p:spPr>
          <a:xfrm>
            <a:off x="7829550" y="2982020"/>
            <a:ext cx="3387979"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4F6F5"/>
                </a:solidFill>
                <a:latin typeface="DM Sans" pitchFamily="34" charset="0"/>
                <a:ea typeface="DM Sans" pitchFamily="34" charset="-122"/>
                <a:cs typeface="DM Sans" pitchFamily="34" charset="-120"/>
              </a:rPr>
              <a:t>Tendinopatía peronea</a:t>
            </a:r>
            <a:endParaRPr lang="en-US" sz="1300" dirty="0"/>
          </a:p>
        </p:txBody>
      </p:sp>
      <p:sp>
        <p:nvSpPr>
          <p:cNvPr id="21" name="Shape 16"/>
          <p:cNvSpPr/>
          <p:nvPr/>
        </p:nvSpPr>
        <p:spPr>
          <a:xfrm>
            <a:off x="7829550" y="3324820"/>
            <a:ext cx="2679700" cy="101600"/>
          </a:xfrm>
          <a:prstGeom prst="roundRect">
            <a:avLst>
              <a:gd name="adj" fmla="val 50000"/>
            </a:avLst>
          </a:prstGeom>
          <a:solidFill>
            <a:srgbClr val="1E4A50"/>
          </a:solidFill>
          <a:ln/>
        </p:spPr>
        <p:txBody>
          <a:bodyPr/>
          <a:lstStyle/>
          <a:p>
            <a:endParaRPr lang="es-CL"/>
          </a:p>
        </p:txBody>
      </p:sp>
      <p:sp>
        <p:nvSpPr>
          <p:cNvPr id="22" name="Shape 17"/>
          <p:cNvSpPr/>
          <p:nvPr/>
        </p:nvSpPr>
        <p:spPr>
          <a:xfrm>
            <a:off x="7829550" y="3324820"/>
            <a:ext cx="2679700" cy="101600"/>
          </a:xfrm>
          <a:prstGeom prst="roundRect">
            <a:avLst>
              <a:gd name="adj" fmla="val 50000"/>
            </a:avLst>
          </a:prstGeom>
          <a:solidFill>
            <a:srgbClr val="5CC4BB"/>
          </a:solidFill>
          <a:ln/>
        </p:spPr>
        <p:txBody>
          <a:bodyPr/>
          <a:lstStyle/>
          <a:p>
            <a:endParaRPr lang="es-CL"/>
          </a:p>
        </p:txBody>
      </p:sp>
      <p:sp>
        <p:nvSpPr>
          <p:cNvPr id="23" name="Text 18"/>
          <p:cNvSpPr/>
          <p:nvPr/>
        </p:nvSpPr>
        <p:spPr>
          <a:xfrm>
            <a:off x="10560050" y="3260130"/>
            <a:ext cx="558800" cy="256480"/>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F4F6F5"/>
                </a:solidFill>
                <a:latin typeface="DM Sans" pitchFamily="34" charset="0"/>
                <a:ea typeface="DM Sans" pitchFamily="34" charset="-122"/>
                <a:cs typeface="DM Sans" pitchFamily="34" charset="-120"/>
              </a:rPr>
              <a:t>25%</a:t>
            </a:r>
            <a:endParaRPr lang="en-US" sz="1300" dirty="0"/>
          </a:p>
        </p:txBody>
      </p:sp>
      <p:sp>
        <p:nvSpPr>
          <p:cNvPr id="24" name="Text 19"/>
          <p:cNvSpPr/>
          <p:nvPr/>
        </p:nvSpPr>
        <p:spPr>
          <a:xfrm>
            <a:off x="7829550" y="3669010"/>
            <a:ext cx="3387979"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4F6F5"/>
                </a:solidFill>
                <a:latin typeface="DM Sans" pitchFamily="34" charset="0"/>
                <a:ea typeface="DM Sans" pitchFamily="34" charset="-122"/>
                <a:cs typeface="DM Sans" pitchFamily="34" charset="-120"/>
              </a:rPr>
              <a:t>Fractura por estrés (descartar con imagen)</a:t>
            </a:r>
            <a:endParaRPr lang="en-US" sz="1300" dirty="0"/>
          </a:p>
        </p:txBody>
      </p:sp>
      <p:sp>
        <p:nvSpPr>
          <p:cNvPr id="25" name="Shape 20"/>
          <p:cNvSpPr/>
          <p:nvPr/>
        </p:nvSpPr>
        <p:spPr>
          <a:xfrm>
            <a:off x="7829550" y="4226421"/>
            <a:ext cx="2679700" cy="101600"/>
          </a:xfrm>
          <a:prstGeom prst="roundRect">
            <a:avLst>
              <a:gd name="adj" fmla="val 50000"/>
            </a:avLst>
          </a:prstGeom>
          <a:solidFill>
            <a:srgbClr val="1E4A50"/>
          </a:solidFill>
          <a:ln/>
        </p:spPr>
        <p:txBody>
          <a:bodyPr/>
          <a:lstStyle/>
          <a:p>
            <a:endParaRPr lang="es-CL"/>
          </a:p>
        </p:txBody>
      </p:sp>
      <p:sp>
        <p:nvSpPr>
          <p:cNvPr id="26" name="Shape 21"/>
          <p:cNvSpPr/>
          <p:nvPr/>
        </p:nvSpPr>
        <p:spPr>
          <a:xfrm>
            <a:off x="7829550" y="4226421"/>
            <a:ext cx="2679700" cy="101600"/>
          </a:xfrm>
          <a:prstGeom prst="roundRect">
            <a:avLst>
              <a:gd name="adj" fmla="val 50000"/>
            </a:avLst>
          </a:prstGeom>
          <a:solidFill>
            <a:srgbClr val="5CC4BB"/>
          </a:solidFill>
          <a:ln/>
        </p:spPr>
        <p:txBody>
          <a:bodyPr/>
          <a:lstStyle/>
          <a:p>
            <a:endParaRPr lang="es-CL"/>
          </a:p>
        </p:txBody>
      </p:sp>
      <p:sp>
        <p:nvSpPr>
          <p:cNvPr id="27" name="Text 22"/>
          <p:cNvSpPr/>
          <p:nvPr/>
        </p:nvSpPr>
        <p:spPr>
          <a:xfrm>
            <a:off x="10560050" y="4161730"/>
            <a:ext cx="558800" cy="256480"/>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F4F6F5"/>
                </a:solidFill>
                <a:latin typeface="DM Sans" pitchFamily="34" charset="0"/>
                <a:ea typeface="DM Sans" pitchFamily="34" charset="-122"/>
                <a:cs typeface="DM Sans" pitchFamily="34" charset="-120"/>
              </a:rPr>
              <a:t>20%</a:t>
            </a:r>
            <a:endParaRPr lang="en-US" sz="1300" dirty="0"/>
          </a:p>
        </p:txBody>
      </p:sp>
      <p:sp>
        <p:nvSpPr>
          <p:cNvPr id="28" name="Text 23"/>
          <p:cNvSpPr/>
          <p:nvPr/>
        </p:nvSpPr>
        <p:spPr>
          <a:xfrm>
            <a:off x="7829550" y="4570611"/>
            <a:ext cx="2262287" cy="383480"/>
          </a:xfrm>
          <a:prstGeom prst="roundRect">
            <a:avLst>
              <a:gd name="adj" fmla="val 50000"/>
            </a:avLst>
          </a:prstGeom>
          <a:solidFill>
            <a:srgbClr val="E0874F"/>
          </a:solidFill>
          <a:ln/>
        </p:spPr>
        <p:txBody>
          <a:bodyPr wrap="none" lIns="0" tIns="0" rIns="0" bIns="0" rtlCol="0" anchor="ctr">
            <a:normAutofit/>
          </a:bodyPr>
          <a:lstStyle/>
          <a:p>
            <a:pPr marL="0" indent="0" algn="ctr">
              <a:lnSpc>
                <a:spcPts val="1820"/>
              </a:lnSpc>
              <a:buNone/>
            </a:pPr>
            <a:r>
              <a:rPr lang="en-US" sz="1300" dirty="0">
                <a:solidFill>
                  <a:srgbClr val="0F2E33"/>
                </a:solidFill>
                <a:latin typeface="DM Sans" pitchFamily="34" charset="0"/>
                <a:ea typeface="DM Sans" pitchFamily="34" charset="-122"/>
                <a:cs typeface="DM Sans" pitchFamily="34" charset="-120"/>
              </a:rPr>
              <a:t>Urgencia sugerida: media</a:t>
            </a:r>
            <a:endParaRPr lang="en-US" sz="1300" dirty="0"/>
          </a:p>
        </p:txBody>
      </p:sp>
      <p:sp>
        <p:nvSpPr>
          <p:cNvPr id="29" name="Shape 24"/>
          <p:cNvSpPr/>
          <p:nvPr/>
        </p:nvSpPr>
        <p:spPr>
          <a:xfrm rot="16200000">
            <a:off x="7499052" y="7117358"/>
            <a:ext cx="19050" cy="323850"/>
          </a:xfrm>
          <a:prstGeom prst="rect">
            <a:avLst/>
          </a:prstGeom>
          <a:solidFill>
            <a:srgbClr val="2E6A6F"/>
          </a:solidFill>
          <a:ln/>
        </p:spPr>
        <p:txBody>
          <a:bodyPr/>
          <a:lstStyle/>
          <a:p>
            <a:endParaRPr lang="es-C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EEEC"/>
        </a:solidFill>
        <a:effectLst/>
      </p:bgPr>
    </p:bg>
    <p:spTree>
      <p:nvGrpSpPr>
        <p:cNvPr id="1" name=""/>
        <p:cNvGrpSpPr/>
        <p:nvPr/>
      </p:nvGrpSpPr>
      <p:grpSpPr>
        <a:xfrm>
          <a:off x="0" y="0"/>
          <a:ext cx="0" cy="0"/>
          <a:chOff x="0" y="0"/>
          <a:chExt cx="0" cy="0"/>
        </a:xfrm>
      </p:grpSpPr>
      <p:sp>
        <p:nvSpPr>
          <p:cNvPr id="2" name="Text 0"/>
          <p:cNvSpPr/>
          <p:nvPr/>
        </p:nvSpPr>
        <p:spPr>
          <a:xfrm>
            <a:off x="812800" y="812800"/>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OBJETIVO GENERAL</a:t>
            </a:r>
            <a:endParaRPr lang="en-US" sz="1200" dirty="0"/>
          </a:p>
        </p:txBody>
      </p:sp>
      <p:sp>
        <p:nvSpPr>
          <p:cNvPr id="3" name="Text 1"/>
          <p:cNvSpPr>
            <a:spLocks noGrp="1"/>
          </p:cNvSpPr>
          <p:nvPr>
            <p:ph type="title"/>
          </p:nvPr>
        </p:nvSpPr>
        <p:spPr>
          <a:xfrm>
            <a:off x="812800" y="1178520"/>
            <a:ext cx="6540500" cy="1654076"/>
          </a:xfrm>
          <a:prstGeom prst="rect">
            <a:avLst/>
          </a:prstGeom>
          <a:noFill/>
          <a:ln/>
        </p:spPr>
        <p:txBody>
          <a:bodyPr wrap="square" lIns="0" tIns="0" rIns="0" bIns="0" rtlCol="0" anchor="t">
            <a:normAutofit/>
          </a:bodyPr>
          <a:lstStyle/>
          <a:p>
            <a:pPr marL="0" indent="0" algn="l">
              <a:lnSpc>
                <a:spcPts val="2565"/>
              </a:lnSpc>
              <a:buNone/>
            </a:pPr>
            <a:r>
              <a:rPr lang="en-US" sz="1900" b="0" i="0" dirty="0">
                <a:solidFill>
                  <a:srgbClr val="0F2E33"/>
                </a:solidFill>
                <a:latin typeface="DM Sans" pitchFamily="34" charset="0"/>
                <a:ea typeface="DM Sans" pitchFamily="34" charset="-122"/>
                <a:cs typeface="DM Sans" pitchFamily="34" charset="-120"/>
              </a:rPr>
              <a:t>Desarrollar un MVP de pre-consulta para kinesiología y traumatología que reúna síntomas, antecedentes y rango de movimiento del paciente, y entregue al médico un resumen y un prediagnóstico generados con IA como apoyo a su decisión clínica.</a:t>
            </a:r>
            <a:endParaRPr lang="en-US" sz="1900" dirty="0"/>
          </a:p>
        </p:txBody>
      </p:sp>
      <p:sp>
        <p:nvSpPr>
          <p:cNvPr id="4" name="Text 2"/>
          <p:cNvSpPr/>
          <p:nvPr/>
        </p:nvSpPr>
        <p:spPr>
          <a:xfrm>
            <a:off x="812800" y="3162796"/>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OBJETIVOS ESPECÍFICOS</a:t>
            </a:r>
            <a:endParaRPr lang="en-US" sz="1200" dirty="0"/>
          </a:p>
        </p:txBody>
      </p:sp>
      <p:sp>
        <p:nvSpPr>
          <p:cNvPr id="5" name="Shape 3"/>
          <p:cNvSpPr/>
          <p:nvPr/>
        </p:nvSpPr>
        <p:spPr>
          <a:xfrm>
            <a:off x="812800" y="3528516"/>
            <a:ext cx="2011660" cy="1714202"/>
          </a:xfrm>
          <a:prstGeom prst="roundRect">
            <a:avLst>
              <a:gd name="adj" fmla="val 7409"/>
            </a:avLst>
          </a:prstGeom>
          <a:solidFill>
            <a:srgbClr val="FBFCFB"/>
          </a:solidFill>
          <a:ln/>
        </p:spPr>
        <p:txBody>
          <a:bodyPr/>
          <a:lstStyle/>
          <a:p>
            <a:endParaRPr lang="es-CL"/>
          </a:p>
        </p:txBody>
      </p:sp>
      <p:sp>
        <p:nvSpPr>
          <p:cNvPr id="6" name="Text 4"/>
          <p:cNvSpPr/>
          <p:nvPr/>
        </p:nvSpPr>
        <p:spPr>
          <a:xfrm>
            <a:off x="1016000" y="3731716"/>
            <a:ext cx="1656060" cy="3326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57A73"/>
                </a:solidFill>
                <a:latin typeface="DM Sans" pitchFamily="34" charset="0"/>
                <a:ea typeface="DM Sans" pitchFamily="34" charset="-122"/>
                <a:cs typeface="DM Sans" pitchFamily="34" charset="-120"/>
              </a:rPr>
              <a:t>1</a:t>
            </a:r>
            <a:endParaRPr lang="en-US" sz="2200" dirty="0"/>
          </a:p>
        </p:txBody>
      </p:sp>
      <p:sp>
        <p:nvSpPr>
          <p:cNvPr id="7" name="Text 5"/>
          <p:cNvSpPr/>
          <p:nvPr/>
        </p:nvSpPr>
        <p:spPr>
          <a:xfrm>
            <a:off x="1016000" y="4115197"/>
            <a:ext cx="1656060"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App Android para registrar síntomas, documentos y movilidad.</a:t>
            </a:r>
            <a:endParaRPr lang="en-US" sz="1300" dirty="0"/>
          </a:p>
        </p:txBody>
      </p:sp>
      <p:sp>
        <p:nvSpPr>
          <p:cNvPr id="8" name="Shape 6"/>
          <p:cNvSpPr/>
          <p:nvPr/>
        </p:nvSpPr>
        <p:spPr>
          <a:xfrm>
            <a:off x="2951460" y="3528516"/>
            <a:ext cx="2011759" cy="1714202"/>
          </a:xfrm>
          <a:prstGeom prst="roundRect">
            <a:avLst>
              <a:gd name="adj" fmla="val 7409"/>
            </a:avLst>
          </a:prstGeom>
          <a:solidFill>
            <a:srgbClr val="FBFCFB"/>
          </a:solidFill>
          <a:ln/>
        </p:spPr>
        <p:txBody>
          <a:bodyPr/>
          <a:lstStyle/>
          <a:p>
            <a:endParaRPr lang="es-CL"/>
          </a:p>
        </p:txBody>
      </p:sp>
      <p:sp>
        <p:nvSpPr>
          <p:cNvPr id="9" name="Text 7"/>
          <p:cNvSpPr/>
          <p:nvPr/>
        </p:nvSpPr>
        <p:spPr>
          <a:xfrm>
            <a:off x="3154660" y="3731716"/>
            <a:ext cx="1656159" cy="3326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57A73"/>
                </a:solidFill>
                <a:latin typeface="DM Sans" pitchFamily="34" charset="0"/>
                <a:ea typeface="DM Sans" pitchFamily="34" charset="-122"/>
                <a:cs typeface="DM Sans" pitchFamily="34" charset="-120"/>
              </a:rPr>
              <a:t>2</a:t>
            </a:r>
            <a:endParaRPr lang="en-US" sz="2200" dirty="0"/>
          </a:p>
        </p:txBody>
      </p:sp>
      <p:sp>
        <p:nvSpPr>
          <p:cNvPr id="10" name="Text 8"/>
          <p:cNvSpPr/>
          <p:nvPr/>
        </p:nvSpPr>
        <p:spPr>
          <a:xfrm>
            <a:off x="3154660" y="4115197"/>
            <a:ext cx="165615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Medición de ángulos en el dispositivo con MediaPipe.</a:t>
            </a:r>
            <a:endParaRPr lang="en-US" sz="1300" dirty="0"/>
          </a:p>
        </p:txBody>
      </p:sp>
      <p:sp>
        <p:nvSpPr>
          <p:cNvPr id="11" name="Shape 9"/>
          <p:cNvSpPr/>
          <p:nvPr/>
        </p:nvSpPr>
        <p:spPr>
          <a:xfrm>
            <a:off x="5090220" y="3528516"/>
            <a:ext cx="2011660" cy="1714202"/>
          </a:xfrm>
          <a:prstGeom prst="roundRect">
            <a:avLst>
              <a:gd name="adj" fmla="val 7409"/>
            </a:avLst>
          </a:prstGeom>
          <a:solidFill>
            <a:srgbClr val="FBFCFB"/>
          </a:solidFill>
          <a:ln/>
        </p:spPr>
        <p:txBody>
          <a:bodyPr/>
          <a:lstStyle/>
          <a:p>
            <a:endParaRPr lang="es-CL"/>
          </a:p>
        </p:txBody>
      </p:sp>
      <p:sp>
        <p:nvSpPr>
          <p:cNvPr id="12" name="Text 10"/>
          <p:cNvSpPr/>
          <p:nvPr/>
        </p:nvSpPr>
        <p:spPr>
          <a:xfrm>
            <a:off x="5293420" y="3731716"/>
            <a:ext cx="1656060" cy="332680"/>
          </a:xfrm>
          <a:prstGeom prst="rect">
            <a:avLst/>
          </a:prstGeom>
          <a:noFill/>
          <a:ln/>
        </p:spPr>
        <p:txBody>
          <a:bodyPr wrap="square" lIns="0" tIns="0" rIns="0" bIns="0" rtlCol="0" anchor="t">
            <a:normAutofit/>
          </a:bodyPr>
          <a:lstStyle/>
          <a:p>
            <a:pPr>
              <a:lnSpc>
                <a:spcPts val="2420"/>
              </a:lnSpc>
            </a:pPr>
            <a:r>
              <a:rPr lang="en-US" sz="2200" b="1" dirty="0">
                <a:solidFill>
                  <a:srgbClr val="157A73"/>
                </a:solidFill>
                <a:latin typeface="DM Sans" pitchFamily="34" charset="0"/>
              </a:rPr>
              <a:t>3</a:t>
            </a:r>
            <a:endParaRPr lang="en-US" sz="2200" dirty="0"/>
          </a:p>
        </p:txBody>
      </p:sp>
      <p:sp>
        <p:nvSpPr>
          <p:cNvPr id="13" name="Text 11"/>
          <p:cNvSpPr/>
          <p:nvPr/>
        </p:nvSpPr>
        <p:spPr>
          <a:xfrm>
            <a:off x="5293420" y="4115197"/>
            <a:ext cx="165606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Prediagnóstico con RAG sobre datos anonimizados.</a:t>
            </a:r>
            <a:endParaRPr lang="en-US" sz="1300" dirty="0"/>
          </a:p>
        </p:txBody>
      </p:sp>
      <p:sp>
        <p:nvSpPr>
          <p:cNvPr id="14" name="Shape 12"/>
          <p:cNvSpPr/>
          <p:nvPr/>
        </p:nvSpPr>
        <p:spPr>
          <a:xfrm>
            <a:off x="7228880" y="3528516"/>
            <a:ext cx="2011660" cy="1714202"/>
          </a:xfrm>
          <a:prstGeom prst="roundRect">
            <a:avLst>
              <a:gd name="adj" fmla="val 7409"/>
            </a:avLst>
          </a:prstGeom>
          <a:solidFill>
            <a:srgbClr val="FBFCFB"/>
          </a:solidFill>
          <a:ln/>
        </p:spPr>
        <p:txBody>
          <a:bodyPr/>
          <a:lstStyle/>
          <a:p>
            <a:endParaRPr lang="es-CL"/>
          </a:p>
        </p:txBody>
      </p:sp>
      <p:sp>
        <p:nvSpPr>
          <p:cNvPr id="15" name="Text 13"/>
          <p:cNvSpPr/>
          <p:nvPr/>
        </p:nvSpPr>
        <p:spPr>
          <a:xfrm>
            <a:off x="7432080" y="3731716"/>
            <a:ext cx="1656060" cy="3326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57A73"/>
                </a:solidFill>
                <a:latin typeface="DM Sans" pitchFamily="34" charset="0"/>
                <a:ea typeface="DM Sans" pitchFamily="34" charset="-122"/>
                <a:cs typeface="DM Sans" pitchFamily="34" charset="-120"/>
              </a:rPr>
              <a:t>4</a:t>
            </a:r>
            <a:endParaRPr lang="en-US" sz="2200" dirty="0"/>
          </a:p>
        </p:txBody>
      </p:sp>
      <p:sp>
        <p:nvSpPr>
          <p:cNvPr id="16" name="Text 14"/>
          <p:cNvSpPr/>
          <p:nvPr/>
        </p:nvSpPr>
        <p:spPr>
          <a:xfrm>
            <a:off x="7432080" y="4115197"/>
            <a:ext cx="165606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Web con triage y resumen clínico para el médico.</a:t>
            </a:r>
            <a:endParaRPr lang="en-US" sz="1300" dirty="0"/>
          </a:p>
        </p:txBody>
      </p:sp>
      <p:sp>
        <p:nvSpPr>
          <p:cNvPr id="17" name="Shape 15"/>
          <p:cNvSpPr/>
          <p:nvPr/>
        </p:nvSpPr>
        <p:spPr>
          <a:xfrm>
            <a:off x="9367540" y="3528516"/>
            <a:ext cx="2011660" cy="1714202"/>
          </a:xfrm>
          <a:prstGeom prst="roundRect">
            <a:avLst>
              <a:gd name="adj" fmla="val 7409"/>
            </a:avLst>
          </a:prstGeom>
          <a:solidFill>
            <a:srgbClr val="FBFCFB"/>
          </a:solidFill>
          <a:ln/>
        </p:spPr>
        <p:txBody>
          <a:bodyPr/>
          <a:lstStyle/>
          <a:p>
            <a:endParaRPr lang="es-CL"/>
          </a:p>
        </p:txBody>
      </p:sp>
      <p:sp>
        <p:nvSpPr>
          <p:cNvPr id="18" name="Text 16"/>
          <p:cNvSpPr/>
          <p:nvPr/>
        </p:nvSpPr>
        <p:spPr>
          <a:xfrm>
            <a:off x="9570740" y="3731716"/>
            <a:ext cx="1656060" cy="3326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57A73"/>
                </a:solidFill>
                <a:latin typeface="DM Sans" pitchFamily="34" charset="0"/>
                <a:ea typeface="DM Sans" pitchFamily="34" charset="-122"/>
                <a:cs typeface="DM Sans" pitchFamily="34" charset="-120"/>
              </a:rPr>
              <a:t>5</a:t>
            </a:r>
            <a:endParaRPr lang="en-US" sz="2200" dirty="0"/>
          </a:p>
        </p:txBody>
      </p:sp>
      <p:sp>
        <p:nvSpPr>
          <p:cNvPr id="19" name="Text 17"/>
          <p:cNvSpPr/>
          <p:nvPr/>
        </p:nvSpPr>
        <p:spPr>
          <a:xfrm>
            <a:off x="9570740" y="4115197"/>
            <a:ext cx="1656060"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Seguridad: roles, anonimización y auditoría de accesos.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6858000"/>
          </a:xfrm>
          <a:prstGeom prst="rect">
            <a:avLst/>
          </a:prstGeom>
          <a:solidFill>
            <a:srgbClr val="0F2E33"/>
          </a:solidFill>
          <a:ln/>
        </p:spPr>
        <p:txBody>
          <a:bodyPr/>
          <a:lstStyle/>
          <a:p>
            <a:endParaRPr lang="es-CL"/>
          </a:p>
        </p:txBody>
      </p:sp>
      <p:pic>
        <p:nvPicPr>
          <p:cNvPr id="3" name="Image 0" descr="preencoded.png"/>
          <p:cNvPicPr>
            <a:picLocks noChangeAspect="1"/>
          </p:cNvPicPr>
          <p:nvPr/>
        </p:nvPicPr>
        <p:blipFill>
          <a:blip r:embed="rId3">
            <a:alphaModFix amt="25000"/>
          </a:blip>
          <a:srcRect l="-27136" r="-27136"/>
          <a:stretch/>
        </p:blipFill>
        <p:spPr>
          <a:xfrm>
            <a:off x="9588500" y="3407520"/>
            <a:ext cx="2667000" cy="3302000"/>
          </a:xfrm>
          <a:prstGeom prst="rect">
            <a:avLst/>
          </a:prstGeom>
        </p:spPr>
      </p:pic>
      <p:sp>
        <p:nvSpPr>
          <p:cNvPr id="4" name="Text 1"/>
          <p:cNvSpPr/>
          <p:nvPr/>
        </p:nvSpPr>
        <p:spPr>
          <a:xfrm>
            <a:off x="812800" y="812800"/>
            <a:ext cx="46045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ALCANCE DEL MVP</a:t>
            </a:r>
            <a:endParaRPr lang="en-US" sz="1200" dirty="0"/>
          </a:p>
        </p:txBody>
      </p:sp>
      <p:sp>
        <p:nvSpPr>
          <p:cNvPr id="5" name="Text 2"/>
          <p:cNvSpPr/>
          <p:nvPr/>
        </p:nvSpPr>
        <p:spPr>
          <a:xfrm>
            <a:off x="812800" y="1178520"/>
            <a:ext cx="460451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0F2E33"/>
                </a:solidFill>
                <a:latin typeface="DM Sans" pitchFamily="34" charset="0"/>
                <a:ea typeface="DM Sans" pitchFamily="34" charset="-122"/>
                <a:cs typeface="DM Sans" pitchFamily="34" charset="-120"/>
              </a:rPr>
              <a:t>Qué incluye</a:t>
            </a:r>
            <a:endParaRPr lang="en-US" sz="3200" dirty="0"/>
          </a:p>
        </p:txBody>
      </p:sp>
      <p:pic>
        <p:nvPicPr>
          <p:cNvPr id="6" name="Image 1" descr="Check"/>
          <p:cNvPicPr>
            <a:picLocks noChangeAspect="1"/>
          </p:cNvPicPr>
          <p:nvPr/>
        </p:nvPicPr>
        <p:blipFill>
          <a:blip r:embed="rId4"/>
          <a:srcRect/>
          <a:stretch/>
        </p:blipFill>
        <p:spPr>
          <a:xfrm>
            <a:off x="812800" y="1777901"/>
            <a:ext cx="228600" cy="228600"/>
          </a:xfrm>
          <a:prstGeom prst="rect">
            <a:avLst/>
          </a:prstGeom>
        </p:spPr>
      </p:pic>
      <p:sp>
        <p:nvSpPr>
          <p:cNvPr id="7" name="Text 3"/>
          <p:cNvSpPr/>
          <p:nvPr/>
        </p:nvSpPr>
        <p:spPr>
          <a:xfrm>
            <a:off x="1155700" y="1777901"/>
            <a:ext cx="425132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E33"/>
                </a:solidFill>
                <a:latin typeface="DM Sans" pitchFamily="34" charset="0"/>
                <a:ea typeface="DM Sans" pitchFamily="34" charset="-122"/>
                <a:cs typeface="DM Sans" pitchFamily="34" charset="-120"/>
              </a:rPr>
              <a:t>App Android nativa para el paciente</a:t>
            </a:r>
            <a:endParaRPr lang="en-US" sz="1400" dirty="0"/>
          </a:p>
        </p:txBody>
      </p:sp>
      <p:pic>
        <p:nvPicPr>
          <p:cNvPr id="8" name="Image 2" descr="Check"/>
          <p:cNvPicPr>
            <a:picLocks noChangeAspect="1"/>
          </p:cNvPicPr>
          <p:nvPr/>
        </p:nvPicPr>
        <p:blipFill>
          <a:blip r:embed="rId4"/>
          <a:srcRect/>
          <a:stretch/>
        </p:blipFill>
        <p:spPr>
          <a:xfrm>
            <a:off x="812800" y="2170311"/>
            <a:ext cx="228600" cy="228600"/>
          </a:xfrm>
          <a:prstGeom prst="rect">
            <a:avLst/>
          </a:prstGeom>
        </p:spPr>
      </p:pic>
      <p:sp>
        <p:nvSpPr>
          <p:cNvPr id="9" name="Text 4"/>
          <p:cNvSpPr/>
          <p:nvPr/>
        </p:nvSpPr>
        <p:spPr>
          <a:xfrm>
            <a:off x="1155700" y="2170311"/>
            <a:ext cx="425132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E33"/>
                </a:solidFill>
                <a:latin typeface="DM Sans" pitchFamily="34" charset="0"/>
                <a:ea typeface="DM Sans" pitchFamily="34" charset="-122"/>
                <a:cs typeface="DM Sans" pitchFamily="34" charset="-120"/>
              </a:rPr>
              <a:t>Plataforma web para médico y administrador</a:t>
            </a:r>
            <a:endParaRPr lang="en-US" sz="1400" dirty="0"/>
          </a:p>
        </p:txBody>
      </p:sp>
      <p:pic>
        <p:nvPicPr>
          <p:cNvPr id="10" name="Image 3" descr="Check"/>
          <p:cNvPicPr>
            <a:picLocks noChangeAspect="1"/>
          </p:cNvPicPr>
          <p:nvPr/>
        </p:nvPicPr>
        <p:blipFill>
          <a:blip r:embed="rId4"/>
          <a:srcRect/>
          <a:stretch/>
        </p:blipFill>
        <p:spPr>
          <a:xfrm>
            <a:off x="812800" y="2562721"/>
            <a:ext cx="228600" cy="228600"/>
          </a:xfrm>
          <a:prstGeom prst="rect">
            <a:avLst/>
          </a:prstGeom>
        </p:spPr>
      </p:pic>
      <p:sp>
        <p:nvSpPr>
          <p:cNvPr id="11" name="Text 5"/>
          <p:cNvSpPr/>
          <p:nvPr/>
        </p:nvSpPr>
        <p:spPr>
          <a:xfrm>
            <a:off x="1155700" y="2562721"/>
            <a:ext cx="425132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E33"/>
                </a:solidFill>
                <a:latin typeface="DM Sans" pitchFamily="34" charset="0"/>
                <a:ea typeface="DM Sans" pitchFamily="34" charset="-122"/>
                <a:cs typeface="DM Sans" pitchFamily="34" charset="-120"/>
              </a:rPr>
              <a:t>Captura del rango de movimiento en el dispositivo (Edge ML)</a:t>
            </a:r>
            <a:endParaRPr lang="en-US" sz="1400" dirty="0"/>
          </a:p>
        </p:txBody>
      </p:sp>
      <p:pic>
        <p:nvPicPr>
          <p:cNvPr id="12" name="Image 4" descr="Check"/>
          <p:cNvPicPr>
            <a:picLocks noChangeAspect="1"/>
          </p:cNvPicPr>
          <p:nvPr/>
        </p:nvPicPr>
        <p:blipFill>
          <a:blip r:embed="rId4"/>
          <a:srcRect/>
          <a:stretch/>
        </p:blipFill>
        <p:spPr>
          <a:xfrm>
            <a:off x="812800" y="3195141"/>
            <a:ext cx="228600" cy="228600"/>
          </a:xfrm>
          <a:prstGeom prst="rect">
            <a:avLst/>
          </a:prstGeom>
        </p:spPr>
      </p:pic>
      <p:sp>
        <p:nvSpPr>
          <p:cNvPr id="13" name="Text 6"/>
          <p:cNvSpPr/>
          <p:nvPr/>
        </p:nvSpPr>
        <p:spPr>
          <a:xfrm>
            <a:off x="1155700" y="3195141"/>
            <a:ext cx="425132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E33"/>
                </a:solidFill>
                <a:latin typeface="DM Sans" pitchFamily="34" charset="0"/>
                <a:ea typeface="DM Sans" pitchFamily="34" charset="-122"/>
                <a:cs typeface="DM Sans" pitchFamily="34" charset="-120"/>
              </a:rPr>
              <a:t>Prediagnóstico con RAG sobre datos anonimizados</a:t>
            </a:r>
            <a:endParaRPr lang="en-US" sz="1400" dirty="0"/>
          </a:p>
        </p:txBody>
      </p:sp>
      <p:pic>
        <p:nvPicPr>
          <p:cNvPr id="14" name="Image 5" descr="Check"/>
          <p:cNvPicPr>
            <a:picLocks noChangeAspect="1"/>
          </p:cNvPicPr>
          <p:nvPr/>
        </p:nvPicPr>
        <p:blipFill>
          <a:blip r:embed="rId4"/>
          <a:srcRect/>
          <a:stretch/>
        </p:blipFill>
        <p:spPr>
          <a:xfrm>
            <a:off x="812800" y="3657155"/>
            <a:ext cx="228600" cy="228600"/>
          </a:xfrm>
          <a:prstGeom prst="rect">
            <a:avLst/>
          </a:prstGeom>
        </p:spPr>
      </p:pic>
      <p:sp>
        <p:nvSpPr>
          <p:cNvPr id="15" name="Text 7"/>
          <p:cNvSpPr/>
          <p:nvPr/>
        </p:nvSpPr>
        <p:spPr>
          <a:xfrm>
            <a:off x="1155700" y="3657155"/>
            <a:ext cx="425132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E33"/>
                </a:solidFill>
                <a:latin typeface="DM Sans" pitchFamily="34" charset="0"/>
                <a:ea typeface="DM Sans" pitchFamily="34" charset="-122"/>
                <a:cs typeface="DM Sans" pitchFamily="34" charset="-120"/>
              </a:rPr>
              <a:t>Bandeja de triage y catálogo de ejercicios</a:t>
            </a:r>
            <a:endParaRPr lang="en-US" sz="1400" dirty="0"/>
          </a:p>
        </p:txBody>
      </p:sp>
      <p:pic>
        <p:nvPicPr>
          <p:cNvPr id="16" name="Image 6" descr="Equipo de traumatología revisando una radiografía junto a un paciente"/>
          <p:cNvPicPr>
            <a:picLocks noChangeAspect="1"/>
          </p:cNvPicPr>
          <p:nvPr/>
        </p:nvPicPr>
        <p:blipFill>
          <a:blip r:embed="rId5"/>
          <a:srcRect t="28660" b="28660"/>
          <a:stretch/>
        </p:blipFill>
        <p:spPr>
          <a:xfrm>
            <a:off x="812800" y="4219972"/>
            <a:ext cx="4470400" cy="1270000"/>
          </a:xfrm>
          <a:prstGeom prst="roundRect">
            <a:avLst>
              <a:gd name="adj" fmla="val 10000"/>
            </a:avLst>
          </a:prstGeom>
        </p:spPr>
      </p:pic>
      <p:sp>
        <p:nvSpPr>
          <p:cNvPr id="17" name="Text 8"/>
          <p:cNvSpPr/>
          <p:nvPr/>
        </p:nvSpPr>
        <p:spPr>
          <a:xfrm>
            <a:off x="6908800" y="812800"/>
            <a:ext cx="46045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0874F"/>
                </a:solidFill>
                <a:latin typeface="DM Sans" pitchFamily="34" charset="0"/>
                <a:ea typeface="DM Sans" pitchFamily="34" charset="-122"/>
                <a:cs typeface="DM Sans" pitchFamily="34" charset="-120"/>
              </a:rPr>
              <a:t>FUERA DEL ALCANCE</a:t>
            </a:r>
            <a:endParaRPr lang="en-US" sz="1200" dirty="0"/>
          </a:p>
        </p:txBody>
      </p:sp>
      <p:sp>
        <p:nvSpPr>
          <p:cNvPr id="18" name="Text 9"/>
          <p:cNvSpPr/>
          <p:nvPr/>
        </p:nvSpPr>
        <p:spPr>
          <a:xfrm>
            <a:off x="6908800" y="1178520"/>
            <a:ext cx="460451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6F5"/>
                </a:solidFill>
                <a:latin typeface="DM Sans" pitchFamily="34" charset="0"/>
                <a:ea typeface="DM Sans" pitchFamily="34" charset="-122"/>
                <a:cs typeface="DM Sans" pitchFamily="34" charset="-120"/>
              </a:rPr>
              <a:t>Qué queda fuera</a:t>
            </a:r>
            <a:endParaRPr lang="en-US" sz="3200" dirty="0"/>
          </a:p>
        </p:txBody>
      </p:sp>
      <p:sp>
        <p:nvSpPr>
          <p:cNvPr id="19" name="Text 10"/>
          <p:cNvSpPr/>
          <p:nvPr/>
        </p:nvSpPr>
        <p:spPr>
          <a:xfrm>
            <a:off x="6908800" y="1777901"/>
            <a:ext cx="279400"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E0874F"/>
                </a:solidFill>
                <a:latin typeface="DM Sans" pitchFamily="34" charset="0"/>
                <a:ea typeface="DM Sans" pitchFamily="34" charset="-122"/>
                <a:cs typeface="DM Sans" pitchFamily="34" charset="-120"/>
              </a:rPr>
              <a:t>—</a:t>
            </a:r>
            <a:endParaRPr lang="en-US" sz="1400" dirty="0"/>
          </a:p>
        </p:txBody>
      </p:sp>
      <p:sp>
        <p:nvSpPr>
          <p:cNvPr id="20" name="Text 11"/>
          <p:cNvSpPr/>
          <p:nvPr/>
        </p:nvSpPr>
        <p:spPr>
          <a:xfrm>
            <a:off x="7251700" y="1777901"/>
            <a:ext cx="425132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6F5"/>
                </a:solidFill>
                <a:latin typeface="DM Sans" pitchFamily="34" charset="0"/>
                <a:ea typeface="DM Sans" pitchFamily="34" charset="-122"/>
                <a:cs typeface="DM Sans" pitchFamily="34" charset="-120"/>
              </a:rPr>
              <a:t>Diagnóstico definitivo: el sistema solo sugiere</a:t>
            </a:r>
            <a:endParaRPr lang="en-US" sz="1400" dirty="0"/>
          </a:p>
        </p:txBody>
      </p:sp>
      <p:sp>
        <p:nvSpPr>
          <p:cNvPr id="21" name="Text 12"/>
          <p:cNvSpPr/>
          <p:nvPr/>
        </p:nvSpPr>
        <p:spPr>
          <a:xfrm>
            <a:off x="6908800" y="2170311"/>
            <a:ext cx="279400"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E0874F"/>
                </a:solidFill>
                <a:latin typeface="DM Sans" pitchFamily="34" charset="0"/>
                <a:ea typeface="DM Sans" pitchFamily="34" charset="-122"/>
                <a:cs typeface="DM Sans" pitchFamily="34" charset="-120"/>
              </a:rPr>
              <a:t>—</a:t>
            </a:r>
            <a:endParaRPr lang="en-US" sz="1400" dirty="0"/>
          </a:p>
        </p:txBody>
      </p:sp>
      <p:sp>
        <p:nvSpPr>
          <p:cNvPr id="22" name="Text 13"/>
          <p:cNvSpPr/>
          <p:nvPr/>
        </p:nvSpPr>
        <p:spPr>
          <a:xfrm>
            <a:off x="7251700" y="2170311"/>
            <a:ext cx="425132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6F5"/>
                </a:solidFill>
                <a:latin typeface="DM Sans" pitchFamily="34" charset="0"/>
                <a:ea typeface="DM Sans" pitchFamily="34" charset="-122"/>
                <a:cs typeface="DM Sans" pitchFamily="34" charset="-120"/>
              </a:rPr>
              <a:t>Versión para iOS</a:t>
            </a:r>
            <a:endParaRPr lang="en-US" sz="1400" dirty="0"/>
          </a:p>
        </p:txBody>
      </p:sp>
      <p:sp>
        <p:nvSpPr>
          <p:cNvPr id="23" name="Text 14"/>
          <p:cNvSpPr/>
          <p:nvPr/>
        </p:nvSpPr>
        <p:spPr>
          <a:xfrm>
            <a:off x="6908800" y="2562721"/>
            <a:ext cx="279400"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E0874F"/>
                </a:solidFill>
                <a:latin typeface="DM Sans" pitchFamily="34" charset="0"/>
                <a:ea typeface="DM Sans" pitchFamily="34" charset="-122"/>
                <a:cs typeface="DM Sans" pitchFamily="34" charset="-120"/>
              </a:rPr>
              <a:t>—</a:t>
            </a:r>
            <a:endParaRPr lang="en-US" sz="1400" dirty="0"/>
          </a:p>
        </p:txBody>
      </p:sp>
      <p:sp>
        <p:nvSpPr>
          <p:cNvPr id="24" name="Text 15"/>
          <p:cNvSpPr/>
          <p:nvPr/>
        </p:nvSpPr>
        <p:spPr>
          <a:xfrm>
            <a:off x="7251700" y="2562721"/>
            <a:ext cx="425132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6F5"/>
                </a:solidFill>
                <a:latin typeface="DM Sans" pitchFamily="34" charset="0"/>
                <a:ea typeface="DM Sans" pitchFamily="34" charset="-122"/>
                <a:cs typeface="DM Sans" pitchFamily="34" charset="-120"/>
              </a:rPr>
              <a:t>Integración con fichas hospitalarias (HL7/FHIR)</a:t>
            </a:r>
            <a:endParaRPr lang="en-US" sz="1400" dirty="0"/>
          </a:p>
        </p:txBody>
      </p:sp>
      <p:sp>
        <p:nvSpPr>
          <p:cNvPr id="25" name="Text 16"/>
          <p:cNvSpPr/>
          <p:nvPr/>
        </p:nvSpPr>
        <p:spPr>
          <a:xfrm>
            <a:off x="6908800" y="2955131"/>
            <a:ext cx="279400"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E0874F"/>
                </a:solidFill>
                <a:latin typeface="DM Sans" pitchFamily="34" charset="0"/>
                <a:ea typeface="DM Sans" pitchFamily="34" charset="-122"/>
                <a:cs typeface="DM Sans" pitchFamily="34" charset="-120"/>
              </a:rPr>
              <a:t>—</a:t>
            </a:r>
            <a:endParaRPr lang="en-US" sz="1400" dirty="0"/>
          </a:p>
        </p:txBody>
      </p:sp>
      <p:sp>
        <p:nvSpPr>
          <p:cNvPr id="26" name="Text 17"/>
          <p:cNvSpPr/>
          <p:nvPr/>
        </p:nvSpPr>
        <p:spPr>
          <a:xfrm>
            <a:off x="7251700" y="2955131"/>
            <a:ext cx="425132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6F5"/>
                </a:solidFill>
                <a:latin typeface="DM Sans" pitchFamily="34" charset="0"/>
                <a:ea typeface="DM Sans" pitchFamily="34" charset="-122"/>
                <a:cs typeface="DM Sans" pitchFamily="34" charset="-120"/>
              </a:rPr>
              <a:t>Videoconsulta o chat en tiempo real</a:t>
            </a:r>
            <a:endParaRPr lang="en-US" sz="1400" dirty="0"/>
          </a:p>
        </p:txBody>
      </p:sp>
      <p:sp>
        <p:nvSpPr>
          <p:cNvPr id="27" name="Text 18"/>
          <p:cNvSpPr/>
          <p:nvPr/>
        </p:nvSpPr>
        <p:spPr>
          <a:xfrm>
            <a:off x="6908800" y="3347541"/>
            <a:ext cx="279400"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E0874F"/>
                </a:solidFill>
                <a:latin typeface="DM Sans" pitchFamily="34" charset="0"/>
                <a:ea typeface="DM Sans" pitchFamily="34" charset="-122"/>
                <a:cs typeface="DM Sans" pitchFamily="34" charset="-120"/>
              </a:rPr>
              <a:t>—</a:t>
            </a:r>
            <a:endParaRPr lang="en-US" sz="1400" dirty="0"/>
          </a:p>
        </p:txBody>
      </p:sp>
      <p:sp>
        <p:nvSpPr>
          <p:cNvPr id="28" name="Text 19"/>
          <p:cNvSpPr/>
          <p:nvPr/>
        </p:nvSpPr>
        <p:spPr>
          <a:xfrm>
            <a:off x="7251700" y="3347541"/>
            <a:ext cx="4251325"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6F5"/>
                </a:solidFill>
                <a:latin typeface="DM Sans" pitchFamily="34" charset="0"/>
                <a:ea typeface="DM Sans" pitchFamily="34" charset="-122"/>
                <a:cs typeface="DM Sans" pitchFamily="34" charset="-120"/>
              </a:rPr>
              <a:t>Especialidades fuera de kinesiología y traumatología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1248668"/>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APP DEL PACIENTE · ANDROID</a:t>
            </a:r>
            <a:endParaRPr lang="en-US" sz="1200" dirty="0"/>
          </a:p>
        </p:txBody>
      </p:sp>
      <p:sp>
        <p:nvSpPr>
          <p:cNvPr id="3" name="Text 1"/>
          <p:cNvSpPr>
            <a:spLocks noGrp="1"/>
          </p:cNvSpPr>
          <p:nvPr>
            <p:ph type="title"/>
          </p:nvPr>
        </p:nvSpPr>
        <p:spPr>
          <a:xfrm>
            <a:off x="812800" y="1576288"/>
            <a:ext cx="7848600" cy="41652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0F2E33"/>
                </a:solidFill>
                <a:latin typeface="DM Sans" pitchFamily="34" charset="0"/>
                <a:ea typeface="DM Sans" pitchFamily="34" charset="-122"/>
                <a:cs typeface="DM Sans" pitchFamily="34" charset="-120"/>
              </a:rPr>
              <a:t>Todo empieza en el celular del paciente</a:t>
            </a:r>
            <a:endParaRPr lang="en-US" sz="2800" dirty="0"/>
          </a:p>
        </p:txBody>
      </p:sp>
      <p:sp>
        <p:nvSpPr>
          <p:cNvPr id="4" name="Text 2"/>
          <p:cNvSpPr/>
          <p:nvPr/>
        </p:nvSpPr>
        <p:spPr>
          <a:xfrm>
            <a:off x="812800" y="2081709"/>
            <a:ext cx="784860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El paciente prepara su consulta desde casa, y la medición de movilidad corre entera en el dispositivo (Edge ML).</a:t>
            </a:r>
            <a:endParaRPr lang="en-US" sz="1300" dirty="0"/>
          </a:p>
        </p:txBody>
      </p:sp>
      <p:sp>
        <p:nvSpPr>
          <p:cNvPr id="5" name="Text 3"/>
          <p:cNvSpPr/>
          <p:nvPr/>
        </p:nvSpPr>
        <p:spPr>
          <a:xfrm>
            <a:off x="812800" y="2658170"/>
            <a:ext cx="1905099" cy="314920"/>
          </a:xfrm>
          <a:prstGeom prst="roundRect">
            <a:avLst>
              <a:gd name="adj" fmla="val 50000"/>
            </a:avLst>
          </a:prstGeom>
          <a:solidFill>
            <a:srgbClr val="E3EEEC"/>
          </a:solidFill>
          <a:ln/>
        </p:spPr>
        <p:txBody>
          <a:bodyPr wrap="none" lIns="0" tIns="0" rIns="0" bIns="0" rtlCol="0" anchor="ctr">
            <a:normAutofit/>
          </a:bodyPr>
          <a:lstStyle/>
          <a:p>
            <a:pPr marL="0" indent="0" algn="ctr">
              <a:lnSpc>
                <a:spcPts val="1680"/>
              </a:lnSpc>
              <a:buNone/>
            </a:pPr>
            <a:r>
              <a:rPr lang="en-US" sz="1200" dirty="0">
                <a:solidFill>
                  <a:srgbClr val="157A73"/>
                </a:solidFill>
                <a:latin typeface="DM Sans" pitchFamily="34" charset="0"/>
                <a:ea typeface="DM Sans" pitchFamily="34" charset="-122"/>
                <a:cs typeface="DM Sans" pitchFamily="34" charset="-120"/>
              </a:rPr>
              <a:t>Síntomas en texto libre</a:t>
            </a:r>
            <a:endParaRPr lang="en-US" sz="1200" dirty="0"/>
          </a:p>
        </p:txBody>
      </p:sp>
      <p:sp>
        <p:nvSpPr>
          <p:cNvPr id="6" name="Text 4"/>
          <p:cNvSpPr/>
          <p:nvPr/>
        </p:nvSpPr>
        <p:spPr>
          <a:xfrm>
            <a:off x="2794099" y="2658170"/>
            <a:ext cx="2212975" cy="314920"/>
          </a:xfrm>
          <a:prstGeom prst="roundRect">
            <a:avLst>
              <a:gd name="adj" fmla="val 50000"/>
            </a:avLst>
          </a:prstGeom>
          <a:solidFill>
            <a:srgbClr val="E3EEEC"/>
          </a:solidFill>
          <a:ln/>
        </p:spPr>
        <p:txBody>
          <a:bodyPr wrap="none" lIns="0" tIns="0" rIns="0" bIns="0" rtlCol="0" anchor="ctr">
            <a:normAutofit/>
          </a:bodyPr>
          <a:lstStyle/>
          <a:p>
            <a:pPr marL="0" indent="0" algn="ctr">
              <a:lnSpc>
                <a:spcPts val="1680"/>
              </a:lnSpc>
              <a:buNone/>
            </a:pPr>
            <a:r>
              <a:rPr lang="en-US" sz="1200" dirty="0">
                <a:solidFill>
                  <a:srgbClr val="157A73"/>
                </a:solidFill>
                <a:latin typeface="DM Sans" pitchFamily="34" charset="0"/>
                <a:ea typeface="DM Sans" pitchFamily="34" charset="-122"/>
                <a:cs typeface="DM Sans" pitchFamily="34" charset="-120"/>
              </a:rPr>
              <a:t>Exámenes en PDF o imagen</a:t>
            </a:r>
            <a:endParaRPr lang="en-US" sz="1200" dirty="0"/>
          </a:p>
        </p:txBody>
      </p:sp>
      <p:sp>
        <p:nvSpPr>
          <p:cNvPr id="7" name="Text 5"/>
          <p:cNvSpPr/>
          <p:nvPr/>
        </p:nvSpPr>
        <p:spPr>
          <a:xfrm>
            <a:off x="5083274" y="2658170"/>
            <a:ext cx="1849735" cy="314920"/>
          </a:xfrm>
          <a:prstGeom prst="roundRect">
            <a:avLst>
              <a:gd name="adj" fmla="val 50000"/>
            </a:avLst>
          </a:prstGeom>
          <a:solidFill>
            <a:srgbClr val="E3EEEC"/>
          </a:solidFill>
          <a:ln/>
        </p:spPr>
        <p:txBody>
          <a:bodyPr wrap="none" lIns="0" tIns="0" rIns="0" bIns="0" rtlCol="0" anchor="ctr">
            <a:normAutofit/>
          </a:bodyPr>
          <a:lstStyle/>
          <a:p>
            <a:pPr marL="0" indent="0" algn="ctr">
              <a:lnSpc>
                <a:spcPts val="1680"/>
              </a:lnSpc>
              <a:buNone/>
            </a:pPr>
            <a:r>
              <a:rPr lang="en-US" sz="1200" dirty="0">
                <a:solidFill>
                  <a:srgbClr val="157A73"/>
                </a:solidFill>
                <a:latin typeface="DM Sans" pitchFamily="34" charset="0"/>
                <a:ea typeface="DM Sans" pitchFamily="34" charset="-122"/>
                <a:cs typeface="DM Sans" pitchFamily="34" charset="-120"/>
              </a:rPr>
              <a:t>Catálogo de ejercicios</a:t>
            </a:r>
            <a:endParaRPr lang="en-US" sz="1200" dirty="0"/>
          </a:p>
        </p:txBody>
      </p:sp>
      <p:sp>
        <p:nvSpPr>
          <p:cNvPr id="8" name="Shape 6"/>
          <p:cNvSpPr/>
          <p:nvPr/>
        </p:nvSpPr>
        <p:spPr>
          <a:xfrm>
            <a:off x="815975" y="3179465"/>
            <a:ext cx="3740150" cy="1253331"/>
          </a:xfrm>
          <a:prstGeom prst="roundRect">
            <a:avLst>
              <a:gd name="adj" fmla="val 9880"/>
            </a:avLst>
          </a:prstGeom>
          <a:solidFill>
            <a:srgbClr val="FBFCFB"/>
          </a:solidFill>
          <a:ln w="6350">
            <a:solidFill>
              <a:srgbClr val="DCE3E1"/>
            </a:solidFill>
            <a:prstDash val="solid"/>
          </a:ln>
        </p:spPr>
        <p:txBody>
          <a:bodyPr/>
          <a:lstStyle/>
          <a:p>
            <a:endParaRPr lang="es-CL"/>
          </a:p>
        </p:txBody>
      </p:sp>
      <p:pic>
        <p:nvPicPr>
          <p:cNvPr id="9" name="Image 0" descr="Activity"/>
          <p:cNvPicPr>
            <a:picLocks noChangeAspect="1"/>
          </p:cNvPicPr>
          <p:nvPr/>
        </p:nvPicPr>
        <p:blipFill>
          <a:blip r:embed="rId3"/>
          <a:srcRect/>
          <a:stretch/>
        </p:blipFill>
        <p:spPr>
          <a:xfrm>
            <a:off x="996950" y="3360440"/>
            <a:ext cx="279400" cy="279400"/>
          </a:xfrm>
          <a:prstGeom prst="rect">
            <a:avLst/>
          </a:prstGeom>
        </p:spPr>
      </p:pic>
      <p:sp>
        <p:nvSpPr>
          <p:cNvPr id="10" name="Text 7"/>
          <p:cNvSpPr/>
          <p:nvPr/>
        </p:nvSpPr>
        <p:spPr>
          <a:xfrm>
            <a:off x="1403350" y="3360440"/>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2E33"/>
                </a:solidFill>
                <a:latin typeface="DM Sans" pitchFamily="34" charset="0"/>
                <a:ea typeface="DM Sans" pitchFamily="34" charset="-122"/>
                <a:cs typeface="DM Sans" pitchFamily="34" charset="-120"/>
              </a:rPr>
              <a:t>Rastreo de 33 puntos clave</a:t>
            </a:r>
            <a:endParaRPr lang="en-US" sz="1400" dirty="0"/>
          </a:p>
        </p:txBody>
      </p:sp>
      <p:sp>
        <p:nvSpPr>
          <p:cNvPr id="11" name="Text 8"/>
          <p:cNvSpPr/>
          <p:nvPr/>
        </p:nvSpPr>
        <p:spPr>
          <a:xfrm>
            <a:off x="1403350" y="3611860"/>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MediaPipe detecta 33 puntos del cuerpo en tiempo real, sin enviar video.</a:t>
            </a:r>
            <a:endParaRPr lang="en-US" sz="1200" dirty="0"/>
          </a:p>
        </p:txBody>
      </p:sp>
      <p:sp>
        <p:nvSpPr>
          <p:cNvPr id="12" name="Shape 9"/>
          <p:cNvSpPr/>
          <p:nvPr/>
        </p:nvSpPr>
        <p:spPr>
          <a:xfrm>
            <a:off x="4689475" y="3179465"/>
            <a:ext cx="3740150" cy="1253331"/>
          </a:xfrm>
          <a:prstGeom prst="roundRect">
            <a:avLst>
              <a:gd name="adj" fmla="val 9880"/>
            </a:avLst>
          </a:prstGeom>
          <a:solidFill>
            <a:srgbClr val="FBFCFB"/>
          </a:solidFill>
          <a:ln w="6350">
            <a:solidFill>
              <a:srgbClr val="DCE3E1"/>
            </a:solidFill>
            <a:prstDash val="solid"/>
          </a:ln>
        </p:spPr>
        <p:txBody>
          <a:bodyPr/>
          <a:lstStyle/>
          <a:p>
            <a:endParaRPr lang="es-CL"/>
          </a:p>
        </p:txBody>
      </p:sp>
      <p:pic>
        <p:nvPicPr>
          <p:cNvPr id="13" name="Image 1" descr="Chart"/>
          <p:cNvPicPr>
            <a:picLocks noChangeAspect="1"/>
          </p:cNvPicPr>
          <p:nvPr/>
        </p:nvPicPr>
        <p:blipFill>
          <a:blip r:embed="rId4"/>
          <a:srcRect/>
          <a:stretch/>
        </p:blipFill>
        <p:spPr>
          <a:xfrm>
            <a:off x="4870450" y="3360440"/>
            <a:ext cx="279400" cy="279400"/>
          </a:xfrm>
          <a:prstGeom prst="rect">
            <a:avLst/>
          </a:prstGeom>
        </p:spPr>
      </p:pic>
      <p:sp>
        <p:nvSpPr>
          <p:cNvPr id="14" name="Text 10"/>
          <p:cNvSpPr/>
          <p:nvPr/>
        </p:nvSpPr>
        <p:spPr>
          <a:xfrm>
            <a:off x="5276850" y="3360440"/>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2E33"/>
                </a:solidFill>
                <a:latin typeface="DM Sans" pitchFamily="34" charset="0"/>
                <a:ea typeface="DM Sans" pitchFamily="34" charset="-122"/>
                <a:cs typeface="DM Sans" pitchFamily="34" charset="-120"/>
              </a:rPr>
              <a:t>Motor trigonométrico</a:t>
            </a:r>
            <a:endParaRPr lang="en-US" sz="1400" dirty="0"/>
          </a:p>
        </p:txBody>
      </p:sp>
      <p:sp>
        <p:nvSpPr>
          <p:cNvPr id="15" name="Text 11"/>
          <p:cNvSpPr/>
          <p:nvPr/>
        </p:nvSpPr>
        <p:spPr>
          <a:xfrm>
            <a:off x="5276850" y="3611860"/>
            <a:ext cx="306095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Calcula el ángulo de la articulación con tres puntos y registra el máximo y el mínimo.</a:t>
            </a:r>
            <a:endParaRPr lang="en-US" sz="1200" dirty="0"/>
          </a:p>
        </p:txBody>
      </p:sp>
      <p:sp>
        <p:nvSpPr>
          <p:cNvPr id="16" name="Shape 12"/>
          <p:cNvSpPr/>
          <p:nvPr/>
        </p:nvSpPr>
        <p:spPr>
          <a:xfrm>
            <a:off x="815975" y="4566146"/>
            <a:ext cx="3740150" cy="1040011"/>
          </a:xfrm>
          <a:prstGeom prst="roundRect">
            <a:avLst>
              <a:gd name="adj" fmla="val 11906"/>
            </a:avLst>
          </a:prstGeom>
          <a:solidFill>
            <a:srgbClr val="FBFCFB"/>
          </a:solidFill>
          <a:ln w="6350">
            <a:solidFill>
              <a:srgbClr val="DCE3E1"/>
            </a:solidFill>
            <a:prstDash val="solid"/>
          </a:ln>
        </p:spPr>
        <p:txBody>
          <a:bodyPr/>
          <a:lstStyle/>
          <a:p>
            <a:endParaRPr lang="es-CL"/>
          </a:p>
        </p:txBody>
      </p:sp>
      <p:pic>
        <p:nvPicPr>
          <p:cNvPr id="17" name="Image 2" descr="Users"/>
          <p:cNvPicPr>
            <a:picLocks noChangeAspect="1"/>
          </p:cNvPicPr>
          <p:nvPr/>
        </p:nvPicPr>
        <p:blipFill>
          <a:blip r:embed="rId5"/>
          <a:srcRect/>
          <a:stretch/>
        </p:blipFill>
        <p:spPr>
          <a:xfrm>
            <a:off x="996950" y="4747121"/>
            <a:ext cx="279400" cy="279400"/>
          </a:xfrm>
          <a:prstGeom prst="rect">
            <a:avLst/>
          </a:prstGeom>
        </p:spPr>
      </p:pic>
      <p:sp>
        <p:nvSpPr>
          <p:cNvPr id="18" name="Text 13"/>
          <p:cNvSpPr/>
          <p:nvPr/>
        </p:nvSpPr>
        <p:spPr>
          <a:xfrm>
            <a:off x="1403350" y="4747121"/>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2E33"/>
                </a:solidFill>
                <a:latin typeface="DM Sans" pitchFamily="34" charset="0"/>
                <a:ea typeface="DM Sans" pitchFamily="34" charset="-122"/>
                <a:cs typeface="DM Sans" pitchFamily="34" charset="-120"/>
              </a:rPr>
              <a:t>Esqueleto en vivo</a:t>
            </a:r>
            <a:endParaRPr lang="en-US" sz="1400" dirty="0"/>
          </a:p>
        </p:txBody>
      </p:sp>
      <p:sp>
        <p:nvSpPr>
          <p:cNvPr id="19" name="Text 14"/>
          <p:cNvSpPr/>
          <p:nvPr/>
        </p:nvSpPr>
        <p:spPr>
          <a:xfrm>
            <a:off x="1403350" y="4998541"/>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Jetpack Compose dibuja el esqueleto sobre la cámara para guiar al paciente.</a:t>
            </a:r>
            <a:endParaRPr lang="en-US" sz="1200" dirty="0"/>
          </a:p>
        </p:txBody>
      </p:sp>
      <p:sp>
        <p:nvSpPr>
          <p:cNvPr id="20" name="Shape 15"/>
          <p:cNvSpPr/>
          <p:nvPr/>
        </p:nvSpPr>
        <p:spPr>
          <a:xfrm>
            <a:off x="4689475" y="4566146"/>
            <a:ext cx="3740150" cy="1040011"/>
          </a:xfrm>
          <a:prstGeom prst="roundRect">
            <a:avLst>
              <a:gd name="adj" fmla="val 11906"/>
            </a:avLst>
          </a:prstGeom>
          <a:solidFill>
            <a:srgbClr val="FBFCFB"/>
          </a:solidFill>
          <a:ln w="6350">
            <a:solidFill>
              <a:srgbClr val="DCE3E1"/>
            </a:solidFill>
            <a:prstDash val="solid"/>
          </a:ln>
        </p:spPr>
        <p:txBody>
          <a:bodyPr/>
          <a:lstStyle/>
          <a:p>
            <a:endParaRPr lang="es-CL"/>
          </a:p>
        </p:txBody>
      </p:sp>
      <p:pic>
        <p:nvPicPr>
          <p:cNvPr id="21" name="Image 3" descr="Star"/>
          <p:cNvPicPr>
            <a:picLocks noChangeAspect="1"/>
          </p:cNvPicPr>
          <p:nvPr/>
        </p:nvPicPr>
        <p:blipFill>
          <a:blip r:embed="rId6"/>
          <a:srcRect/>
          <a:stretch/>
        </p:blipFill>
        <p:spPr>
          <a:xfrm>
            <a:off x="4870450" y="4747121"/>
            <a:ext cx="279400" cy="279400"/>
          </a:xfrm>
          <a:prstGeom prst="rect">
            <a:avLst/>
          </a:prstGeom>
        </p:spPr>
      </p:pic>
      <p:sp>
        <p:nvSpPr>
          <p:cNvPr id="22" name="Text 16"/>
          <p:cNvSpPr/>
          <p:nvPr/>
        </p:nvSpPr>
        <p:spPr>
          <a:xfrm>
            <a:off x="5276850" y="4747121"/>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2E33"/>
                </a:solidFill>
                <a:latin typeface="DM Sans" pitchFamily="34" charset="0"/>
                <a:ea typeface="DM Sans" pitchFamily="34" charset="-122"/>
                <a:cs typeface="DM Sans" pitchFamily="34" charset="-120"/>
              </a:rPr>
              <a:t>Evaluación por segmentos</a:t>
            </a:r>
            <a:endParaRPr lang="en-US" sz="1400" dirty="0"/>
          </a:p>
        </p:txBody>
      </p:sp>
      <p:sp>
        <p:nvSpPr>
          <p:cNvPr id="23" name="Text 17"/>
          <p:cNvSpPr/>
          <p:nvPr/>
        </p:nvSpPr>
        <p:spPr>
          <a:xfrm>
            <a:off x="5276850" y="4998541"/>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Modos para tren superior, tren inferior o cuerpo completo.</a:t>
            </a:r>
            <a:endParaRPr lang="en-US" sz="1200" dirty="0"/>
          </a:p>
        </p:txBody>
      </p:sp>
      <p:pic>
        <p:nvPicPr>
          <p:cNvPr id="24" name="Image 4" descr="Celular mostrando la detección de articulaciones de un paciente en tiempo real"/>
          <p:cNvPicPr>
            <a:picLocks noChangeAspect="1"/>
          </p:cNvPicPr>
          <p:nvPr/>
        </p:nvPicPr>
        <p:blipFill>
          <a:blip r:embed="rId7"/>
          <a:srcRect l="-95" r="-95"/>
          <a:stretch/>
        </p:blipFill>
        <p:spPr>
          <a:xfrm>
            <a:off x="9055100" y="1127820"/>
            <a:ext cx="2095500" cy="3683000"/>
          </a:xfrm>
          <a:prstGeom prst="rect">
            <a:avLst/>
          </a:prstGeom>
        </p:spPr>
      </p:pic>
      <p:sp>
        <p:nvSpPr>
          <p:cNvPr id="25" name="Shape 18"/>
          <p:cNvSpPr/>
          <p:nvPr/>
        </p:nvSpPr>
        <p:spPr>
          <a:xfrm>
            <a:off x="9055100" y="4963220"/>
            <a:ext cx="0" cy="213320"/>
          </a:xfrm>
          <a:prstGeom prst="line">
            <a:avLst/>
          </a:prstGeom>
          <a:noFill/>
          <a:ln w="25400">
            <a:solidFill>
              <a:srgbClr val="157A73"/>
            </a:solidFill>
            <a:prstDash val="solid"/>
          </a:ln>
        </p:spPr>
        <p:txBody>
          <a:bodyPr/>
          <a:lstStyle/>
          <a:p>
            <a:endParaRPr lang="es-CL"/>
          </a:p>
        </p:txBody>
      </p:sp>
      <p:sp>
        <p:nvSpPr>
          <p:cNvPr id="26" name="Text 19"/>
          <p:cNvSpPr/>
          <p:nvPr/>
        </p:nvSpPr>
        <p:spPr>
          <a:xfrm>
            <a:off x="9156700" y="4963220"/>
            <a:ext cx="22891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2E33"/>
                </a:solidFill>
                <a:latin typeface="DM Sans" pitchFamily="34" charset="0"/>
                <a:ea typeface="DM Sans" pitchFamily="34" charset="-122"/>
                <a:cs typeface="DM Sans" pitchFamily="34" charset="-120"/>
              </a:rPr>
              <a:t>33</a:t>
            </a:r>
            <a:r>
              <a:rPr lang="en-US" sz="1200" dirty="0">
                <a:solidFill>
                  <a:srgbClr val="0F2E33"/>
                </a:solidFill>
                <a:latin typeface="DM Sans" pitchFamily="34" charset="0"/>
                <a:ea typeface="DM Sans" pitchFamily="34" charset="-122"/>
                <a:cs typeface="DM Sans" pitchFamily="34" charset="-120"/>
              </a:rPr>
              <a:t> puntos clave</a:t>
            </a:r>
            <a:endParaRPr lang="en-US" sz="1200" dirty="0"/>
          </a:p>
        </p:txBody>
      </p:sp>
      <p:sp>
        <p:nvSpPr>
          <p:cNvPr id="27" name="Shape 20"/>
          <p:cNvSpPr/>
          <p:nvPr/>
        </p:nvSpPr>
        <p:spPr>
          <a:xfrm>
            <a:off x="9055100" y="5240040"/>
            <a:ext cx="0" cy="213320"/>
          </a:xfrm>
          <a:prstGeom prst="line">
            <a:avLst/>
          </a:prstGeom>
          <a:noFill/>
          <a:ln w="25400">
            <a:solidFill>
              <a:srgbClr val="157A73"/>
            </a:solidFill>
            <a:prstDash val="solid"/>
          </a:ln>
        </p:spPr>
        <p:txBody>
          <a:bodyPr/>
          <a:lstStyle/>
          <a:p>
            <a:endParaRPr lang="es-CL"/>
          </a:p>
        </p:txBody>
      </p:sp>
      <p:sp>
        <p:nvSpPr>
          <p:cNvPr id="28" name="Text 21"/>
          <p:cNvSpPr/>
          <p:nvPr/>
        </p:nvSpPr>
        <p:spPr>
          <a:xfrm>
            <a:off x="9156700" y="5240040"/>
            <a:ext cx="22891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2E33"/>
                </a:solidFill>
                <a:latin typeface="DM Sans" pitchFamily="34" charset="0"/>
                <a:ea typeface="DM Sans" pitchFamily="34" charset="-122"/>
                <a:cs typeface="DM Sans" pitchFamily="34" charset="-120"/>
              </a:rPr>
              <a:t>≥ 24 FPS</a:t>
            </a:r>
            <a:r>
              <a:rPr lang="en-US" sz="1200" dirty="0">
                <a:solidFill>
                  <a:srgbClr val="0F2E33"/>
                </a:solidFill>
                <a:latin typeface="DM Sans" pitchFamily="34" charset="0"/>
                <a:ea typeface="DM Sans" pitchFamily="34" charset="-122"/>
                <a:cs typeface="DM Sans" pitchFamily="34" charset="-120"/>
              </a:rPr>
              <a:t> en la captura</a:t>
            </a:r>
            <a:endParaRPr lang="en-US" sz="1200" dirty="0"/>
          </a:p>
        </p:txBody>
      </p:sp>
      <p:sp>
        <p:nvSpPr>
          <p:cNvPr id="29" name="Shape 22"/>
          <p:cNvSpPr/>
          <p:nvPr/>
        </p:nvSpPr>
        <p:spPr>
          <a:xfrm>
            <a:off x="9055100" y="5516860"/>
            <a:ext cx="0" cy="213320"/>
          </a:xfrm>
          <a:prstGeom prst="line">
            <a:avLst/>
          </a:prstGeom>
          <a:noFill/>
          <a:ln w="25400">
            <a:solidFill>
              <a:srgbClr val="157A73"/>
            </a:solidFill>
            <a:prstDash val="solid"/>
          </a:ln>
        </p:spPr>
        <p:txBody>
          <a:bodyPr/>
          <a:lstStyle/>
          <a:p>
            <a:endParaRPr lang="es-CL"/>
          </a:p>
        </p:txBody>
      </p:sp>
      <p:sp>
        <p:nvSpPr>
          <p:cNvPr id="30" name="Text 23"/>
          <p:cNvSpPr/>
          <p:nvPr/>
        </p:nvSpPr>
        <p:spPr>
          <a:xfrm>
            <a:off x="9156700" y="5516860"/>
            <a:ext cx="22891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2E33"/>
                </a:solidFill>
                <a:latin typeface="DM Sans" pitchFamily="34" charset="0"/>
                <a:ea typeface="DM Sans" pitchFamily="34" charset="-122"/>
                <a:cs typeface="DM Sans" pitchFamily="34" charset="-120"/>
              </a:rPr>
              <a:t>Al servidor </a:t>
            </a:r>
            <a:r>
              <a:rPr lang="en-US" sz="1200" b="1" dirty="0">
                <a:solidFill>
                  <a:srgbClr val="0F2E33"/>
                </a:solidFill>
                <a:latin typeface="DM Sans" pitchFamily="34" charset="0"/>
                <a:ea typeface="DM Sans" pitchFamily="34" charset="-122"/>
                <a:cs typeface="DM Sans" pitchFamily="34" charset="-120"/>
              </a:rPr>
              <a:t>solo ángulos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E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0"/>
          </a:blip>
          <a:srcRect l="77" r="77"/>
          <a:stretch/>
        </p:blipFill>
        <p:spPr>
          <a:xfrm>
            <a:off x="7493000" y="0"/>
            <a:ext cx="4699000" cy="4635500"/>
          </a:xfrm>
          <a:prstGeom prst="rect">
            <a:avLst/>
          </a:prstGeom>
        </p:spPr>
      </p:pic>
      <p:sp>
        <p:nvSpPr>
          <p:cNvPr id="3" name="Text 0"/>
          <p:cNvSpPr/>
          <p:nvPr/>
        </p:nvSpPr>
        <p:spPr>
          <a:xfrm>
            <a:off x="812800" y="1837234"/>
            <a:ext cx="418592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0874F"/>
                </a:solidFill>
                <a:latin typeface="DM Sans" pitchFamily="34" charset="0"/>
                <a:ea typeface="DM Sans" pitchFamily="34" charset="-122"/>
                <a:cs typeface="DM Sans" pitchFamily="34" charset="-120"/>
              </a:rPr>
              <a:t>PIPELINE DE IA · RAG</a:t>
            </a:r>
            <a:endParaRPr lang="en-US" sz="1200" dirty="0"/>
          </a:p>
        </p:txBody>
      </p:sp>
      <p:sp>
        <p:nvSpPr>
          <p:cNvPr id="4" name="Text 1"/>
          <p:cNvSpPr>
            <a:spLocks noGrp="1"/>
          </p:cNvSpPr>
          <p:nvPr>
            <p:ph type="title"/>
          </p:nvPr>
        </p:nvSpPr>
        <p:spPr>
          <a:xfrm>
            <a:off x="812800" y="2228354"/>
            <a:ext cx="4185920" cy="919361"/>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4F6F5"/>
                </a:solidFill>
                <a:latin typeface="DM Sans" pitchFamily="34" charset="0"/>
                <a:ea typeface="DM Sans" pitchFamily="34" charset="-122"/>
                <a:cs typeface="DM Sans" pitchFamily="34" charset="-120"/>
              </a:rPr>
              <a:t>Cómo se genera el prediagnóstico</a:t>
            </a:r>
            <a:endParaRPr lang="en-US" sz="3200" dirty="0"/>
          </a:p>
        </p:txBody>
      </p:sp>
      <p:sp>
        <p:nvSpPr>
          <p:cNvPr id="5" name="Text 2"/>
          <p:cNvSpPr/>
          <p:nvPr/>
        </p:nvSpPr>
        <p:spPr>
          <a:xfrm>
            <a:off x="812800" y="3300115"/>
            <a:ext cx="418592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D3D1"/>
                </a:solidFill>
                <a:latin typeface="DM Sans" pitchFamily="34" charset="0"/>
                <a:ea typeface="DM Sans" pitchFamily="34" charset="-122"/>
                <a:cs typeface="DM Sans" pitchFamily="34" charset="-120"/>
              </a:rPr>
              <a:t>Antes de responder, la IA consulta guías clínicas cargadas por el equipo, en vez de responder de memoria.</a:t>
            </a:r>
            <a:endParaRPr lang="en-US" sz="1400" dirty="0"/>
          </a:p>
        </p:txBody>
      </p:sp>
      <p:sp>
        <p:nvSpPr>
          <p:cNvPr id="6" name="Text 3"/>
          <p:cNvSpPr/>
          <p:nvPr/>
        </p:nvSpPr>
        <p:spPr>
          <a:xfrm>
            <a:off x="812800" y="4251226"/>
            <a:ext cx="2321322" cy="340320"/>
          </a:xfrm>
          <a:prstGeom prst="roundRect">
            <a:avLst>
              <a:gd name="adj" fmla="val 50000"/>
            </a:avLst>
          </a:prstGeom>
          <a:solidFill>
            <a:srgbClr val="5CC4B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DM Sans" pitchFamily="34" charset="0"/>
                <a:ea typeface="DM Sans" pitchFamily="34" charset="-122"/>
                <a:cs typeface="DM Sans" pitchFamily="34" charset="-120"/>
              </a:rPr>
              <a:t>Solo viaja texto anonimizado</a:t>
            </a:r>
            <a:endParaRPr lang="en-US" sz="1200" dirty="0"/>
          </a:p>
        </p:txBody>
      </p:sp>
      <p:sp>
        <p:nvSpPr>
          <p:cNvPr id="7" name="Text 4"/>
          <p:cNvSpPr/>
          <p:nvPr/>
        </p:nvSpPr>
        <p:spPr>
          <a:xfrm>
            <a:off x="812800" y="4680446"/>
            <a:ext cx="1995686" cy="340320"/>
          </a:xfrm>
          <a:prstGeom prst="roundRect">
            <a:avLst>
              <a:gd name="adj" fmla="val 50000"/>
            </a:avLst>
          </a:prstGeom>
          <a:solidFill>
            <a:srgbClr val="E0874F"/>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DM Sans" pitchFamily="34" charset="0"/>
                <a:ea typeface="DM Sans" pitchFamily="34" charset="-122"/>
                <a:cs typeface="DM Sans" pitchFamily="34" charset="-120"/>
              </a:rPr>
              <a:t>Corre en segundo plano</a:t>
            </a:r>
            <a:endParaRPr lang="en-US" sz="1200" dirty="0"/>
          </a:p>
        </p:txBody>
      </p:sp>
      <p:sp>
        <p:nvSpPr>
          <p:cNvPr id="8" name="Text 5"/>
          <p:cNvSpPr/>
          <p:nvPr/>
        </p:nvSpPr>
        <p:spPr>
          <a:xfrm>
            <a:off x="5486400" y="1708348"/>
            <a:ext cx="406400" cy="401241"/>
          </a:xfrm>
          <a:custGeom>
            <a:avLst/>
            <a:gdLst/>
            <a:ahLst/>
            <a:cxnLst/>
            <a:rect l="l" t="t" r="r" b="b"/>
            <a:pathLst>
              <a:path w="406400" h="401241">
                <a:moveTo>
                  <a:pt x="200620" y="0"/>
                </a:moveTo>
                <a:lnTo>
                  <a:pt x="205780" y="0"/>
                </a:lnTo>
                <a:arcTo wR="200620" hR="200620" stAng="16200000" swAng="5400000"/>
                <a:lnTo>
                  <a:pt x="406400" y="200620"/>
                </a:lnTo>
                <a:arcTo wR="200620" hR="200620" stAng="0" swAng="5400000"/>
                <a:lnTo>
                  <a:pt x="200620" y="401241"/>
                </a:lnTo>
                <a:arcTo wR="200620" hR="200620" stAng="5400000" swAng="5400000"/>
                <a:lnTo>
                  <a:pt x="0" y="200620"/>
                </a:lnTo>
                <a:arcTo wR="200620" hR="200620" stAng="10800000" swAng="5400000"/>
                <a:close/>
              </a:path>
            </a:pathLst>
          </a:custGeom>
          <a:solidFill>
            <a:srgbClr val="5CC4BB"/>
          </a:solidFill>
          <a:ln/>
        </p:spPr>
        <p:txBody>
          <a:bodyPr wrap="square" lIns="0" tIns="76200" rIns="0" bIns="50800" rtlCol="0" anchor="t">
            <a:normAutofit/>
          </a:bodyPr>
          <a:lstStyle/>
          <a:p>
            <a:pPr marL="0" indent="0" algn="ctr">
              <a:lnSpc>
                <a:spcPts val="1960"/>
              </a:lnSpc>
              <a:buNone/>
            </a:pPr>
            <a:r>
              <a:rPr lang="en-US" sz="1400" b="1" dirty="0">
                <a:solidFill>
                  <a:srgbClr val="0F2E33"/>
                </a:solidFill>
                <a:latin typeface="DM Sans" pitchFamily="34" charset="0"/>
                <a:ea typeface="DM Sans" pitchFamily="34" charset="-122"/>
                <a:cs typeface="DM Sans" pitchFamily="34" charset="-120"/>
              </a:rPr>
              <a:t>1</a:t>
            </a:r>
            <a:endParaRPr lang="en-US" sz="1400" dirty="0"/>
          </a:p>
        </p:txBody>
      </p:sp>
      <p:sp>
        <p:nvSpPr>
          <p:cNvPr id="9" name="Shape 6"/>
          <p:cNvSpPr/>
          <p:nvPr/>
        </p:nvSpPr>
        <p:spPr>
          <a:xfrm>
            <a:off x="5680075" y="2109589"/>
            <a:ext cx="19050" cy="322560"/>
          </a:xfrm>
          <a:prstGeom prst="rect">
            <a:avLst/>
          </a:prstGeom>
          <a:solidFill>
            <a:srgbClr val="2E6A6F"/>
          </a:solidFill>
          <a:ln/>
        </p:spPr>
        <p:txBody>
          <a:bodyPr/>
          <a:lstStyle/>
          <a:p>
            <a:endParaRPr lang="es-CL"/>
          </a:p>
        </p:txBody>
      </p:sp>
      <p:sp>
        <p:nvSpPr>
          <p:cNvPr id="10" name="Text 7"/>
          <p:cNvSpPr/>
          <p:nvPr/>
        </p:nvSpPr>
        <p:spPr>
          <a:xfrm>
            <a:off x="6070600" y="1759148"/>
            <a:ext cx="546785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DM Sans" pitchFamily="34" charset="0"/>
                <a:ea typeface="DM Sans" pitchFamily="34" charset="-122"/>
                <a:cs typeface="DM Sans" pitchFamily="34" charset="-120"/>
              </a:rPr>
              <a:t>Síntoma</a:t>
            </a:r>
            <a:endParaRPr lang="en-US" sz="1600" dirty="0"/>
          </a:p>
        </p:txBody>
      </p:sp>
      <p:sp>
        <p:nvSpPr>
          <p:cNvPr id="11" name="Text 8"/>
          <p:cNvSpPr/>
          <p:nvPr/>
        </p:nvSpPr>
        <p:spPr>
          <a:xfrm>
            <a:off x="6070600" y="2041029"/>
            <a:ext cx="54678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El paciente describe su molestia en la app.</a:t>
            </a:r>
            <a:endParaRPr lang="en-US" sz="1200" dirty="0"/>
          </a:p>
        </p:txBody>
      </p:sp>
      <p:sp>
        <p:nvSpPr>
          <p:cNvPr id="12" name="Text 9"/>
          <p:cNvSpPr/>
          <p:nvPr/>
        </p:nvSpPr>
        <p:spPr>
          <a:xfrm>
            <a:off x="5486400" y="2432149"/>
            <a:ext cx="406400" cy="401241"/>
          </a:xfrm>
          <a:custGeom>
            <a:avLst/>
            <a:gdLst/>
            <a:ahLst/>
            <a:cxnLst/>
            <a:rect l="l" t="t" r="r" b="b"/>
            <a:pathLst>
              <a:path w="406400" h="401241">
                <a:moveTo>
                  <a:pt x="200620" y="0"/>
                </a:moveTo>
                <a:lnTo>
                  <a:pt x="205780" y="0"/>
                </a:lnTo>
                <a:arcTo wR="200620" hR="200620" stAng="16200000" swAng="5400000"/>
                <a:lnTo>
                  <a:pt x="406400" y="200620"/>
                </a:lnTo>
                <a:arcTo wR="200620" hR="200620" stAng="0" swAng="5400000"/>
                <a:lnTo>
                  <a:pt x="200620" y="401241"/>
                </a:lnTo>
                <a:arcTo wR="200620" hR="200620" stAng="5400000" swAng="5400000"/>
                <a:lnTo>
                  <a:pt x="0" y="200620"/>
                </a:lnTo>
                <a:arcTo wR="200620" hR="200620" stAng="10800000" swAng="5400000"/>
                <a:close/>
              </a:path>
            </a:pathLst>
          </a:custGeom>
          <a:solidFill>
            <a:srgbClr val="5CC4BB"/>
          </a:solidFill>
          <a:ln/>
        </p:spPr>
        <p:txBody>
          <a:bodyPr wrap="square" lIns="0" tIns="76200" rIns="0" bIns="50800" rtlCol="0" anchor="t">
            <a:normAutofit/>
          </a:bodyPr>
          <a:lstStyle/>
          <a:p>
            <a:pPr marL="0" indent="0" algn="ctr">
              <a:lnSpc>
                <a:spcPts val="1960"/>
              </a:lnSpc>
              <a:buNone/>
            </a:pPr>
            <a:r>
              <a:rPr lang="en-US" sz="1400" b="1" dirty="0">
                <a:solidFill>
                  <a:srgbClr val="0F2E33"/>
                </a:solidFill>
                <a:latin typeface="DM Sans" pitchFamily="34" charset="0"/>
                <a:ea typeface="DM Sans" pitchFamily="34" charset="-122"/>
                <a:cs typeface="DM Sans" pitchFamily="34" charset="-120"/>
              </a:rPr>
              <a:t>2</a:t>
            </a:r>
            <a:endParaRPr lang="en-US" sz="1400" dirty="0"/>
          </a:p>
        </p:txBody>
      </p:sp>
      <p:sp>
        <p:nvSpPr>
          <p:cNvPr id="13" name="Shape 10"/>
          <p:cNvSpPr/>
          <p:nvPr/>
        </p:nvSpPr>
        <p:spPr>
          <a:xfrm>
            <a:off x="5680075" y="2833390"/>
            <a:ext cx="19050" cy="322560"/>
          </a:xfrm>
          <a:prstGeom prst="rect">
            <a:avLst/>
          </a:prstGeom>
          <a:solidFill>
            <a:srgbClr val="2E6A6F"/>
          </a:solidFill>
          <a:ln/>
        </p:spPr>
        <p:txBody>
          <a:bodyPr/>
          <a:lstStyle/>
          <a:p>
            <a:endParaRPr lang="es-CL"/>
          </a:p>
        </p:txBody>
      </p:sp>
      <p:sp>
        <p:nvSpPr>
          <p:cNvPr id="14" name="Text 11"/>
          <p:cNvSpPr/>
          <p:nvPr/>
        </p:nvSpPr>
        <p:spPr>
          <a:xfrm>
            <a:off x="6070600" y="2482949"/>
            <a:ext cx="546785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DM Sans" pitchFamily="34" charset="0"/>
                <a:ea typeface="DM Sans" pitchFamily="34" charset="-122"/>
                <a:cs typeface="DM Sans" pitchFamily="34" charset="-120"/>
              </a:rPr>
              <a:t>Anonimización</a:t>
            </a:r>
            <a:endParaRPr lang="en-US" sz="1600" dirty="0"/>
          </a:p>
        </p:txBody>
      </p:sp>
      <p:sp>
        <p:nvSpPr>
          <p:cNvPr id="15" name="Text 12"/>
          <p:cNvSpPr/>
          <p:nvPr/>
        </p:nvSpPr>
        <p:spPr>
          <a:xfrm>
            <a:off x="6070600" y="2764830"/>
            <a:ext cx="54678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Se eliminan RUT, correo y teléfono del texto.</a:t>
            </a:r>
            <a:endParaRPr lang="en-US" sz="1200" dirty="0"/>
          </a:p>
        </p:txBody>
      </p:sp>
      <p:sp>
        <p:nvSpPr>
          <p:cNvPr id="16" name="Text 13"/>
          <p:cNvSpPr/>
          <p:nvPr/>
        </p:nvSpPr>
        <p:spPr>
          <a:xfrm>
            <a:off x="5486400" y="3155950"/>
            <a:ext cx="406400" cy="401241"/>
          </a:xfrm>
          <a:custGeom>
            <a:avLst/>
            <a:gdLst/>
            <a:ahLst/>
            <a:cxnLst/>
            <a:rect l="l" t="t" r="r" b="b"/>
            <a:pathLst>
              <a:path w="406400" h="401241">
                <a:moveTo>
                  <a:pt x="200620" y="0"/>
                </a:moveTo>
                <a:lnTo>
                  <a:pt x="205780" y="0"/>
                </a:lnTo>
                <a:arcTo wR="200620" hR="200620" stAng="16200000" swAng="5400000"/>
                <a:lnTo>
                  <a:pt x="406400" y="200620"/>
                </a:lnTo>
                <a:arcTo wR="200620" hR="200620" stAng="0" swAng="5400000"/>
                <a:lnTo>
                  <a:pt x="200620" y="401241"/>
                </a:lnTo>
                <a:arcTo wR="200620" hR="200620" stAng="5400000" swAng="5400000"/>
                <a:lnTo>
                  <a:pt x="0" y="200620"/>
                </a:lnTo>
                <a:arcTo wR="200620" hR="200620" stAng="10800000" swAng="5400000"/>
                <a:close/>
              </a:path>
            </a:pathLst>
          </a:custGeom>
          <a:solidFill>
            <a:srgbClr val="5CC4BB"/>
          </a:solidFill>
          <a:ln/>
        </p:spPr>
        <p:txBody>
          <a:bodyPr wrap="square" lIns="0" tIns="76200" rIns="0" bIns="50800" rtlCol="0" anchor="t">
            <a:normAutofit/>
          </a:bodyPr>
          <a:lstStyle/>
          <a:p>
            <a:pPr marL="0" indent="0" algn="ctr">
              <a:lnSpc>
                <a:spcPts val="1960"/>
              </a:lnSpc>
              <a:buNone/>
            </a:pPr>
            <a:r>
              <a:rPr lang="en-US" sz="1400" b="1" dirty="0">
                <a:solidFill>
                  <a:srgbClr val="0F2E33"/>
                </a:solidFill>
                <a:latin typeface="DM Sans" pitchFamily="34" charset="0"/>
                <a:ea typeface="DM Sans" pitchFamily="34" charset="-122"/>
                <a:cs typeface="DM Sans" pitchFamily="34" charset="-120"/>
              </a:rPr>
              <a:t>3</a:t>
            </a:r>
            <a:endParaRPr lang="en-US" sz="1400" dirty="0"/>
          </a:p>
        </p:txBody>
      </p:sp>
      <p:sp>
        <p:nvSpPr>
          <p:cNvPr id="17" name="Shape 14"/>
          <p:cNvSpPr/>
          <p:nvPr/>
        </p:nvSpPr>
        <p:spPr>
          <a:xfrm>
            <a:off x="5680075" y="3557191"/>
            <a:ext cx="19050" cy="322560"/>
          </a:xfrm>
          <a:prstGeom prst="rect">
            <a:avLst/>
          </a:prstGeom>
          <a:solidFill>
            <a:srgbClr val="2E6A6F"/>
          </a:solidFill>
          <a:ln/>
        </p:spPr>
        <p:txBody>
          <a:bodyPr/>
          <a:lstStyle/>
          <a:p>
            <a:endParaRPr lang="es-CL"/>
          </a:p>
        </p:txBody>
      </p:sp>
      <p:sp>
        <p:nvSpPr>
          <p:cNvPr id="18" name="Text 15"/>
          <p:cNvSpPr/>
          <p:nvPr/>
        </p:nvSpPr>
        <p:spPr>
          <a:xfrm>
            <a:off x="6070600" y="3206750"/>
            <a:ext cx="546785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DM Sans" pitchFamily="34" charset="0"/>
                <a:ea typeface="DM Sans" pitchFamily="34" charset="-122"/>
                <a:cs typeface="DM Sans" pitchFamily="34" charset="-120"/>
              </a:rPr>
              <a:t>Búsqueda semántica</a:t>
            </a:r>
            <a:endParaRPr lang="en-US" sz="1600" dirty="0"/>
          </a:p>
        </p:txBody>
      </p:sp>
      <p:sp>
        <p:nvSpPr>
          <p:cNvPr id="19" name="Text 16"/>
          <p:cNvSpPr/>
          <p:nvPr/>
        </p:nvSpPr>
        <p:spPr>
          <a:xfrm>
            <a:off x="6070600" y="3488630"/>
            <a:ext cx="54678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Embedding y pgvector encuentran las 3 guías más parecidas.</a:t>
            </a:r>
            <a:endParaRPr lang="en-US" sz="1200" dirty="0"/>
          </a:p>
        </p:txBody>
      </p:sp>
      <p:sp>
        <p:nvSpPr>
          <p:cNvPr id="20" name="Text 17"/>
          <p:cNvSpPr/>
          <p:nvPr/>
        </p:nvSpPr>
        <p:spPr>
          <a:xfrm>
            <a:off x="5486400" y="3879751"/>
            <a:ext cx="406400" cy="401241"/>
          </a:xfrm>
          <a:custGeom>
            <a:avLst/>
            <a:gdLst/>
            <a:ahLst/>
            <a:cxnLst/>
            <a:rect l="l" t="t" r="r" b="b"/>
            <a:pathLst>
              <a:path w="406400" h="401241">
                <a:moveTo>
                  <a:pt x="200620" y="0"/>
                </a:moveTo>
                <a:lnTo>
                  <a:pt x="205780" y="0"/>
                </a:lnTo>
                <a:arcTo wR="200620" hR="200620" stAng="16200000" swAng="5400000"/>
                <a:lnTo>
                  <a:pt x="406400" y="200620"/>
                </a:lnTo>
                <a:arcTo wR="200620" hR="200620" stAng="0" swAng="5400000"/>
                <a:lnTo>
                  <a:pt x="200620" y="401241"/>
                </a:lnTo>
                <a:arcTo wR="200620" hR="200620" stAng="5400000" swAng="5400000"/>
                <a:lnTo>
                  <a:pt x="0" y="200620"/>
                </a:lnTo>
                <a:arcTo wR="200620" hR="200620" stAng="10800000" swAng="5400000"/>
                <a:close/>
              </a:path>
            </a:pathLst>
          </a:custGeom>
          <a:solidFill>
            <a:srgbClr val="5CC4BB"/>
          </a:solidFill>
          <a:ln/>
        </p:spPr>
        <p:txBody>
          <a:bodyPr wrap="square" lIns="0" tIns="76200" rIns="0" bIns="50800" rtlCol="0" anchor="t">
            <a:normAutofit/>
          </a:bodyPr>
          <a:lstStyle/>
          <a:p>
            <a:pPr marL="0" indent="0" algn="ctr">
              <a:lnSpc>
                <a:spcPts val="1960"/>
              </a:lnSpc>
              <a:buNone/>
            </a:pPr>
            <a:r>
              <a:rPr lang="en-US" sz="1400" b="1" dirty="0">
                <a:solidFill>
                  <a:srgbClr val="0F2E33"/>
                </a:solidFill>
                <a:latin typeface="DM Sans" pitchFamily="34" charset="0"/>
                <a:ea typeface="DM Sans" pitchFamily="34" charset="-122"/>
                <a:cs typeface="DM Sans" pitchFamily="34" charset="-120"/>
              </a:rPr>
              <a:t>4</a:t>
            </a:r>
            <a:endParaRPr lang="en-US" sz="1400" dirty="0"/>
          </a:p>
        </p:txBody>
      </p:sp>
      <p:sp>
        <p:nvSpPr>
          <p:cNvPr id="21" name="Shape 18"/>
          <p:cNvSpPr/>
          <p:nvPr/>
        </p:nvSpPr>
        <p:spPr>
          <a:xfrm>
            <a:off x="5680075" y="4280991"/>
            <a:ext cx="19050" cy="322560"/>
          </a:xfrm>
          <a:prstGeom prst="rect">
            <a:avLst/>
          </a:prstGeom>
          <a:solidFill>
            <a:srgbClr val="2E6A6F"/>
          </a:solidFill>
          <a:ln/>
        </p:spPr>
        <p:txBody>
          <a:bodyPr/>
          <a:lstStyle/>
          <a:p>
            <a:endParaRPr lang="es-CL"/>
          </a:p>
        </p:txBody>
      </p:sp>
      <p:sp>
        <p:nvSpPr>
          <p:cNvPr id="22" name="Text 19"/>
          <p:cNvSpPr/>
          <p:nvPr/>
        </p:nvSpPr>
        <p:spPr>
          <a:xfrm>
            <a:off x="6070600" y="3930551"/>
            <a:ext cx="546785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DM Sans" pitchFamily="34" charset="0"/>
                <a:ea typeface="DM Sans" pitchFamily="34" charset="-122"/>
                <a:cs typeface="DM Sans" pitchFamily="34" charset="-120"/>
              </a:rPr>
              <a:t>Modelo de lenguaje</a:t>
            </a:r>
            <a:endParaRPr lang="en-US" sz="1600" dirty="0"/>
          </a:p>
        </p:txBody>
      </p:sp>
      <p:sp>
        <p:nvSpPr>
          <p:cNvPr id="23" name="Text 20"/>
          <p:cNvSpPr/>
          <p:nvPr/>
        </p:nvSpPr>
        <p:spPr>
          <a:xfrm>
            <a:off x="6070600" y="4212431"/>
            <a:ext cx="54678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Resumen, diferenciales con su % y urgencia, en formato JSON.</a:t>
            </a:r>
            <a:endParaRPr lang="en-US" sz="1200" dirty="0"/>
          </a:p>
        </p:txBody>
      </p:sp>
      <p:sp>
        <p:nvSpPr>
          <p:cNvPr id="24" name="Text 21"/>
          <p:cNvSpPr/>
          <p:nvPr/>
        </p:nvSpPr>
        <p:spPr>
          <a:xfrm>
            <a:off x="5486400" y="4603552"/>
            <a:ext cx="406400" cy="401241"/>
          </a:xfrm>
          <a:custGeom>
            <a:avLst/>
            <a:gdLst/>
            <a:ahLst/>
            <a:cxnLst/>
            <a:rect l="l" t="t" r="r" b="b"/>
            <a:pathLst>
              <a:path w="406400" h="401241">
                <a:moveTo>
                  <a:pt x="200620" y="0"/>
                </a:moveTo>
                <a:lnTo>
                  <a:pt x="205780" y="0"/>
                </a:lnTo>
                <a:arcTo wR="200620" hR="200620" stAng="16200000" swAng="5400000"/>
                <a:lnTo>
                  <a:pt x="406400" y="200620"/>
                </a:lnTo>
                <a:arcTo wR="200620" hR="200620" stAng="0" swAng="5400000"/>
                <a:lnTo>
                  <a:pt x="200620" y="401241"/>
                </a:lnTo>
                <a:arcTo wR="200620" hR="200620" stAng="5400000" swAng="5400000"/>
                <a:lnTo>
                  <a:pt x="0" y="200620"/>
                </a:lnTo>
                <a:arcTo wR="200620" hR="200620" stAng="10800000" swAng="5400000"/>
                <a:close/>
              </a:path>
            </a:pathLst>
          </a:custGeom>
          <a:solidFill>
            <a:srgbClr val="5CC4BB"/>
          </a:solidFill>
          <a:ln/>
        </p:spPr>
        <p:txBody>
          <a:bodyPr wrap="square" lIns="0" tIns="76200" rIns="0" bIns="50800" rtlCol="0" anchor="t">
            <a:normAutofit/>
          </a:bodyPr>
          <a:lstStyle/>
          <a:p>
            <a:pPr marL="0" indent="0" algn="ctr">
              <a:lnSpc>
                <a:spcPts val="1960"/>
              </a:lnSpc>
              <a:buNone/>
            </a:pPr>
            <a:r>
              <a:rPr lang="en-US" sz="1400" b="1" dirty="0">
                <a:solidFill>
                  <a:srgbClr val="0F2E33"/>
                </a:solidFill>
                <a:latin typeface="DM Sans" pitchFamily="34" charset="0"/>
                <a:ea typeface="DM Sans" pitchFamily="34" charset="-122"/>
                <a:cs typeface="DM Sans" pitchFamily="34" charset="-120"/>
              </a:rPr>
              <a:t>5</a:t>
            </a:r>
            <a:endParaRPr lang="en-US" sz="1400" dirty="0"/>
          </a:p>
        </p:txBody>
      </p:sp>
      <p:sp>
        <p:nvSpPr>
          <p:cNvPr id="25" name="Text 22"/>
          <p:cNvSpPr/>
          <p:nvPr/>
        </p:nvSpPr>
        <p:spPr>
          <a:xfrm>
            <a:off x="6070600" y="4654352"/>
            <a:ext cx="546785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DM Sans" pitchFamily="34" charset="0"/>
                <a:ea typeface="DM Sans" pitchFamily="34" charset="-122"/>
                <a:cs typeface="DM Sans" pitchFamily="34" charset="-120"/>
              </a:rPr>
              <a:t>Bandeja de triage</a:t>
            </a:r>
            <a:endParaRPr lang="en-US" sz="1600" dirty="0"/>
          </a:p>
        </p:txBody>
      </p:sp>
      <p:sp>
        <p:nvSpPr>
          <p:cNvPr id="26" name="Text 23"/>
          <p:cNvSpPr/>
          <p:nvPr/>
        </p:nvSpPr>
        <p:spPr>
          <a:xfrm>
            <a:off x="6070600" y="4936232"/>
            <a:ext cx="54678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El médico revisa el caso, ordenado por urgencia.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1653877"/>
            <a:ext cx="353187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PLATAFORMA WEB · MÉDICO</a:t>
            </a:r>
            <a:endParaRPr lang="en-US" sz="1200" dirty="0"/>
          </a:p>
        </p:txBody>
      </p:sp>
      <p:sp>
        <p:nvSpPr>
          <p:cNvPr id="3" name="Text 1"/>
          <p:cNvSpPr>
            <a:spLocks noGrp="1"/>
          </p:cNvSpPr>
          <p:nvPr>
            <p:ph type="title"/>
          </p:nvPr>
        </p:nvSpPr>
        <p:spPr>
          <a:xfrm>
            <a:off x="812800" y="2019598"/>
            <a:ext cx="3531870" cy="751681"/>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0F2E33"/>
                </a:solidFill>
                <a:latin typeface="DM Sans" pitchFamily="34" charset="0"/>
                <a:ea typeface="DM Sans" pitchFamily="34" charset="-122"/>
                <a:cs typeface="DM Sans" pitchFamily="34" charset="-120"/>
              </a:rPr>
              <a:t>El médico recibe el caso ordenado</a:t>
            </a:r>
            <a:endParaRPr lang="en-US" sz="2600" dirty="0"/>
          </a:p>
        </p:txBody>
      </p:sp>
      <p:pic>
        <p:nvPicPr>
          <p:cNvPr id="4" name="Image 0" descr="Activity"/>
          <p:cNvPicPr>
            <a:picLocks noChangeAspect="1"/>
          </p:cNvPicPr>
          <p:nvPr/>
        </p:nvPicPr>
        <p:blipFill>
          <a:blip r:embed="rId3"/>
          <a:srcRect/>
          <a:stretch/>
        </p:blipFill>
        <p:spPr>
          <a:xfrm>
            <a:off x="812800" y="2898279"/>
            <a:ext cx="215900" cy="215900"/>
          </a:xfrm>
          <a:prstGeom prst="rect">
            <a:avLst/>
          </a:prstGeom>
        </p:spPr>
      </p:pic>
      <p:sp>
        <p:nvSpPr>
          <p:cNvPr id="5" name="Text 2"/>
          <p:cNvSpPr/>
          <p:nvPr/>
        </p:nvSpPr>
        <p:spPr>
          <a:xfrm>
            <a:off x="1130300" y="2898279"/>
            <a:ext cx="320484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Bandeja de triage ordenada por urgencia</a:t>
            </a:r>
            <a:endParaRPr lang="en-US" sz="1300" dirty="0"/>
          </a:p>
        </p:txBody>
      </p:sp>
      <p:pic>
        <p:nvPicPr>
          <p:cNvPr id="6" name="Image 1" descr="Lightbulb"/>
          <p:cNvPicPr>
            <a:picLocks noChangeAspect="1"/>
          </p:cNvPicPr>
          <p:nvPr/>
        </p:nvPicPr>
        <p:blipFill>
          <a:blip r:embed="rId4"/>
          <a:srcRect/>
          <a:stretch/>
        </p:blipFill>
        <p:spPr>
          <a:xfrm>
            <a:off x="803275" y="3305098"/>
            <a:ext cx="215900" cy="215900"/>
          </a:xfrm>
          <a:prstGeom prst="rect">
            <a:avLst/>
          </a:prstGeom>
        </p:spPr>
      </p:pic>
      <p:sp>
        <p:nvSpPr>
          <p:cNvPr id="7" name="Text 3"/>
          <p:cNvSpPr/>
          <p:nvPr/>
        </p:nvSpPr>
        <p:spPr>
          <a:xfrm>
            <a:off x="1120775" y="3305098"/>
            <a:ext cx="320484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Resumen y diagnósticos diferenciales de la IA</a:t>
            </a:r>
            <a:endParaRPr lang="en-US" sz="1300" dirty="0"/>
          </a:p>
        </p:txBody>
      </p:sp>
      <p:pic>
        <p:nvPicPr>
          <p:cNvPr id="8" name="Image 2" descr="Book"/>
          <p:cNvPicPr>
            <a:picLocks noChangeAspect="1"/>
          </p:cNvPicPr>
          <p:nvPr/>
        </p:nvPicPr>
        <p:blipFill>
          <a:blip r:embed="rId5"/>
          <a:srcRect/>
          <a:stretch/>
        </p:blipFill>
        <p:spPr>
          <a:xfrm>
            <a:off x="803275" y="3919659"/>
            <a:ext cx="215900" cy="215900"/>
          </a:xfrm>
          <a:prstGeom prst="rect">
            <a:avLst/>
          </a:prstGeom>
        </p:spPr>
      </p:pic>
      <p:sp>
        <p:nvSpPr>
          <p:cNvPr id="9" name="Text 4"/>
          <p:cNvSpPr/>
          <p:nvPr/>
        </p:nvSpPr>
        <p:spPr>
          <a:xfrm>
            <a:off x="1120775" y="3919659"/>
            <a:ext cx="320484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Síntomas originales y documentos del paciente</a:t>
            </a:r>
            <a:endParaRPr lang="en-US" sz="1300" dirty="0"/>
          </a:p>
        </p:txBody>
      </p:sp>
      <p:pic>
        <p:nvPicPr>
          <p:cNvPr id="10" name="Image 3" descr="Settings"/>
          <p:cNvPicPr>
            <a:picLocks noChangeAspect="1"/>
          </p:cNvPicPr>
          <p:nvPr/>
        </p:nvPicPr>
        <p:blipFill>
          <a:blip r:embed="rId6"/>
          <a:srcRect/>
          <a:stretch/>
        </p:blipFill>
        <p:spPr>
          <a:xfrm>
            <a:off x="803275" y="4534220"/>
            <a:ext cx="215900" cy="215900"/>
          </a:xfrm>
          <a:prstGeom prst="rect">
            <a:avLst/>
          </a:prstGeom>
        </p:spPr>
      </p:pic>
      <p:sp>
        <p:nvSpPr>
          <p:cNvPr id="11" name="Text 5"/>
          <p:cNvSpPr/>
          <p:nvPr/>
        </p:nvSpPr>
        <p:spPr>
          <a:xfrm>
            <a:off x="1120775" y="4534220"/>
            <a:ext cx="320484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Admin: usuarios, guías clínicas y ejercicios</a:t>
            </a:r>
            <a:endParaRPr lang="en-US" sz="1300" dirty="0"/>
          </a:p>
        </p:txBody>
      </p:sp>
      <p:sp>
        <p:nvSpPr>
          <p:cNvPr id="12" name="Shape 6"/>
          <p:cNvSpPr/>
          <p:nvPr/>
        </p:nvSpPr>
        <p:spPr>
          <a:xfrm>
            <a:off x="4651375" y="1529755"/>
            <a:ext cx="6724650" cy="3483570"/>
          </a:xfrm>
          <a:prstGeom prst="roundRect">
            <a:avLst>
              <a:gd name="adj" fmla="val 3190"/>
            </a:avLst>
          </a:prstGeom>
          <a:solidFill>
            <a:srgbClr val="FBFCFB"/>
          </a:solidFill>
          <a:ln w="6350">
            <a:solidFill>
              <a:srgbClr val="C9D6D3"/>
            </a:solidFill>
            <a:prstDash val="solid"/>
          </a:ln>
          <a:effectLst>
            <a:outerShdw blurRad="381000" dist="152400" dir="5400000" algn="bl" rotWithShape="0">
              <a:srgbClr val="0F2E33">
                <a:alpha val="16000"/>
              </a:srgbClr>
            </a:outerShdw>
          </a:effectLst>
        </p:spPr>
        <p:txBody>
          <a:bodyPr/>
          <a:lstStyle/>
          <a:p>
            <a:endParaRPr lang="es-CL"/>
          </a:p>
        </p:txBody>
      </p:sp>
      <p:sp>
        <p:nvSpPr>
          <p:cNvPr id="13" name="Shape 7"/>
          <p:cNvSpPr/>
          <p:nvPr/>
        </p:nvSpPr>
        <p:spPr>
          <a:xfrm>
            <a:off x="4654550" y="1532930"/>
            <a:ext cx="6718300" cy="391120"/>
          </a:xfrm>
          <a:custGeom>
            <a:avLst/>
            <a:gdLst/>
            <a:ahLst/>
            <a:cxnLst/>
            <a:rect l="l" t="t" r="r" b="b"/>
            <a:pathLst>
              <a:path w="6718300" h="391120">
                <a:moveTo>
                  <a:pt x="0" y="107950"/>
                </a:moveTo>
                <a:arcTo wR="107950" hR="107950" stAng="10800000" swAng="5400000"/>
                <a:lnTo>
                  <a:pt x="6610350" y="0"/>
                </a:lnTo>
                <a:arcTo wR="107950" hR="107950" stAng="16200000" swAng="5400000"/>
                <a:lnTo>
                  <a:pt x="6718300" y="391120"/>
                </a:lnTo>
                <a:lnTo>
                  <a:pt x="0" y="391120"/>
                </a:lnTo>
                <a:close/>
              </a:path>
            </a:pathLst>
          </a:custGeom>
          <a:solidFill>
            <a:srgbClr val="DCE3E1"/>
          </a:solidFill>
          <a:ln/>
        </p:spPr>
        <p:txBody>
          <a:bodyPr/>
          <a:lstStyle/>
          <a:p>
            <a:endParaRPr lang="es-CL"/>
          </a:p>
        </p:txBody>
      </p:sp>
      <p:pic>
        <p:nvPicPr>
          <p:cNvPr id="14" name="Image 4" descr="ellipse"/>
          <p:cNvPicPr>
            <a:picLocks noChangeAspect="1"/>
          </p:cNvPicPr>
          <p:nvPr/>
        </p:nvPicPr>
        <p:blipFill>
          <a:blip r:embed="rId7"/>
          <a:srcRect/>
          <a:stretch/>
        </p:blipFill>
        <p:spPr>
          <a:xfrm>
            <a:off x="4781550" y="1677690"/>
            <a:ext cx="101600" cy="101600"/>
          </a:xfrm>
          <a:prstGeom prst="rect">
            <a:avLst/>
          </a:prstGeom>
        </p:spPr>
      </p:pic>
      <p:pic>
        <p:nvPicPr>
          <p:cNvPr id="15" name="Image 5" descr="ellipse"/>
          <p:cNvPicPr>
            <a:picLocks noChangeAspect="1"/>
          </p:cNvPicPr>
          <p:nvPr/>
        </p:nvPicPr>
        <p:blipFill>
          <a:blip r:embed="rId8"/>
          <a:srcRect/>
          <a:stretch/>
        </p:blipFill>
        <p:spPr>
          <a:xfrm>
            <a:off x="4959350" y="1677690"/>
            <a:ext cx="101600" cy="101600"/>
          </a:xfrm>
          <a:prstGeom prst="rect">
            <a:avLst/>
          </a:prstGeom>
        </p:spPr>
      </p:pic>
      <p:pic>
        <p:nvPicPr>
          <p:cNvPr id="16" name="Image 6" descr="ellipse"/>
          <p:cNvPicPr>
            <a:picLocks noChangeAspect="1"/>
          </p:cNvPicPr>
          <p:nvPr/>
        </p:nvPicPr>
        <p:blipFill>
          <a:blip r:embed="rId9"/>
          <a:srcRect/>
          <a:stretch/>
        </p:blipFill>
        <p:spPr>
          <a:xfrm>
            <a:off x="5137150" y="1677690"/>
            <a:ext cx="101600" cy="101600"/>
          </a:xfrm>
          <a:prstGeom prst="rect">
            <a:avLst/>
          </a:prstGeom>
        </p:spPr>
      </p:pic>
      <p:sp>
        <p:nvSpPr>
          <p:cNvPr id="17" name="Text 8"/>
          <p:cNvSpPr/>
          <p:nvPr/>
        </p:nvSpPr>
        <p:spPr>
          <a:xfrm>
            <a:off x="5225987" y="1621830"/>
            <a:ext cx="610882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5555A"/>
                </a:solidFill>
                <a:latin typeface="DM Sans" pitchFamily="34" charset="0"/>
                <a:ea typeface="DM Sans" pitchFamily="34" charset="-122"/>
                <a:cs typeface="DM Sans" pitchFamily="34" charset="-120"/>
              </a:rPr>
              <a:t>ARCA Med · Panel principal</a:t>
            </a:r>
            <a:endParaRPr lang="en-US" sz="1200" dirty="0"/>
          </a:p>
        </p:txBody>
      </p:sp>
      <p:pic>
        <p:nvPicPr>
          <p:cNvPr id="18" name="Image 7" descr="Panel principal de la plataforma web con resumen de pacientes y agenda"/>
          <p:cNvPicPr>
            <a:picLocks noChangeAspect="1"/>
          </p:cNvPicPr>
          <p:nvPr/>
        </p:nvPicPr>
        <p:blipFill>
          <a:blip r:embed="rId10"/>
          <a:srcRect t="28" b="28"/>
          <a:stretch/>
        </p:blipFill>
        <p:spPr>
          <a:xfrm>
            <a:off x="4654550" y="1924050"/>
            <a:ext cx="6731000" cy="3086100"/>
          </a:xfrm>
          <a:custGeom>
            <a:avLst/>
            <a:gdLst/>
            <a:ahLst/>
            <a:cxnLst/>
            <a:rect l="l" t="t" r="r" b="b"/>
            <a:pathLst>
              <a:path w="6731000" h="3086100">
                <a:moveTo>
                  <a:pt x="107950" y="3086100"/>
                </a:moveTo>
                <a:arcTo wR="107950" hR="107950" stAng="5400000" swAng="5400000"/>
                <a:lnTo>
                  <a:pt x="0" y="0"/>
                </a:lnTo>
                <a:lnTo>
                  <a:pt x="6731000" y="0"/>
                </a:lnTo>
                <a:lnTo>
                  <a:pt x="6731000" y="3086100"/>
                </a:lnTo>
                <a:close/>
              </a:path>
            </a:pathLst>
          </a:custGeom>
        </p:spPr>
      </p:pic>
      <p:sp>
        <p:nvSpPr>
          <p:cNvPr id="19" name="Text 9"/>
          <p:cNvSpPr/>
          <p:nvPr/>
        </p:nvSpPr>
        <p:spPr>
          <a:xfrm>
            <a:off x="4648200" y="5118100"/>
            <a:ext cx="693293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REQUERIMIENTOS FUNCIONALES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Doce funciones, cada una en su plataforma</a:t>
            </a:r>
            <a:endParaRPr lang="en-US" sz="3200" dirty="0"/>
          </a:p>
        </p:txBody>
      </p:sp>
      <p:sp>
        <p:nvSpPr>
          <p:cNvPr id="4" name="Shape 2"/>
          <p:cNvSpPr/>
          <p:nvPr/>
        </p:nvSpPr>
        <p:spPr>
          <a:xfrm>
            <a:off x="815975" y="1882676"/>
            <a:ext cx="3993753" cy="3813274"/>
          </a:xfrm>
          <a:prstGeom prst="roundRect">
            <a:avLst>
              <a:gd name="adj" fmla="val 2914"/>
            </a:avLst>
          </a:prstGeom>
          <a:solidFill>
            <a:srgbClr val="FBFCFB"/>
          </a:solidFill>
          <a:ln w="6350">
            <a:solidFill>
              <a:srgbClr val="DCE3E1"/>
            </a:solidFill>
            <a:prstDash val="solid"/>
          </a:ln>
        </p:spPr>
        <p:txBody>
          <a:bodyPr/>
          <a:lstStyle/>
          <a:p>
            <a:endParaRPr lang="es-CL"/>
          </a:p>
        </p:txBody>
      </p:sp>
      <p:sp>
        <p:nvSpPr>
          <p:cNvPr id="5" name="Shape 3"/>
          <p:cNvSpPr/>
          <p:nvPr/>
        </p:nvSpPr>
        <p:spPr>
          <a:xfrm>
            <a:off x="819150" y="1885851"/>
            <a:ext cx="3987403" cy="523180"/>
          </a:xfrm>
          <a:custGeom>
            <a:avLst/>
            <a:gdLst/>
            <a:ahLst/>
            <a:cxnLst/>
            <a:rect l="l" t="t" r="r" b="b"/>
            <a:pathLst>
              <a:path w="3987403" h="523180">
                <a:moveTo>
                  <a:pt x="0" y="107950"/>
                </a:moveTo>
                <a:arcTo wR="107950" hR="107950" stAng="10800000" swAng="5400000"/>
                <a:lnTo>
                  <a:pt x="3879453" y="0"/>
                </a:lnTo>
                <a:arcTo wR="107950" hR="107950" stAng="16200000" swAng="5400000"/>
                <a:lnTo>
                  <a:pt x="3987403" y="523180"/>
                </a:lnTo>
                <a:lnTo>
                  <a:pt x="0" y="523180"/>
                </a:lnTo>
                <a:close/>
              </a:path>
            </a:pathLst>
          </a:custGeom>
          <a:solidFill>
            <a:srgbClr val="157A73"/>
          </a:solidFill>
          <a:ln/>
        </p:spPr>
        <p:txBody>
          <a:bodyPr/>
          <a:lstStyle/>
          <a:p>
            <a:endParaRPr lang="es-CL"/>
          </a:p>
        </p:txBody>
      </p:sp>
      <p:sp>
        <p:nvSpPr>
          <p:cNvPr id="6" name="Text 4"/>
          <p:cNvSpPr/>
          <p:nvPr/>
        </p:nvSpPr>
        <p:spPr>
          <a:xfrm>
            <a:off x="1022350" y="2025551"/>
            <a:ext cx="135622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DM Sans" pitchFamily="34" charset="0"/>
                <a:ea typeface="DM Sans" pitchFamily="34" charset="-122"/>
                <a:cs typeface="DM Sans" pitchFamily="34" charset="-120"/>
              </a:rPr>
              <a:t>App Android</a:t>
            </a:r>
            <a:endParaRPr lang="en-US" sz="1600" dirty="0"/>
          </a:p>
        </p:txBody>
      </p:sp>
      <p:sp>
        <p:nvSpPr>
          <p:cNvPr id="7" name="Text 5"/>
          <p:cNvSpPr/>
          <p:nvPr/>
        </p:nvSpPr>
        <p:spPr>
          <a:xfrm>
            <a:off x="2378571" y="2040731"/>
            <a:ext cx="816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7EEEB"/>
                </a:solidFill>
                <a:latin typeface="DM Sans" pitchFamily="34" charset="0"/>
                <a:ea typeface="DM Sans" pitchFamily="34" charset="-122"/>
                <a:cs typeface="DM Sans" pitchFamily="34" charset="-120"/>
              </a:rPr>
              <a:t>· Paciente</a:t>
            </a:r>
            <a:endParaRPr lang="en-US" sz="1200" dirty="0"/>
          </a:p>
        </p:txBody>
      </p:sp>
      <p:sp>
        <p:nvSpPr>
          <p:cNvPr id="8" name="Text 6"/>
          <p:cNvSpPr/>
          <p:nvPr/>
        </p:nvSpPr>
        <p:spPr>
          <a:xfrm>
            <a:off x="1022350" y="2548731"/>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RF-01</a:t>
            </a:r>
            <a:endParaRPr lang="en-US" sz="1200" dirty="0"/>
          </a:p>
        </p:txBody>
      </p:sp>
      <p:sp>
        <p:nvSpPr>
          <p:cNvPr id="9" name="Text 7"/>
          <p:cNvSpPr/>
          <p:nvPr/>
        </p:nvSpPr>
        <p:spPr>
          <a:xfrm>
            <a:off x="1758950" y="2548731"/>
            <a:ext cx="29297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Autenticación por rol</a:t>
            </a:r>
            <a:endParaRPr lang="en-US" sz="1300" dirty="0"/>
          </a:p>
        </p:txBody>
      </p:sp>
      <p:sp>
        <p:nvSpPr>
          <p:cNvPr id="10" name="Shape 8"/>
          <p:cNvSpPr/>
          <p:nvPr/>
        </p:nvSpPr>
        <p:spPr>
          <a:xfrm>
            <a:off x="1022350" y="2871887"/>
            <a:ext cx="3581003" cy="0"/>
          </a:xfrm>
          <a:prstGeom prst="line">
            <a:avLst/>
          </a:prstGeom>
          <a:noFill/>
          <a:ln w="6350">
            <a:solidFill>
              <a:srgbClr val="E3E9E7"/>
            </a:solidFill>
            <a:prstDash val="solid"/>
          </a:ln>
        </p:spPr>
        <p:txBody>
          <a:bodyPr/>
          <a:lstStyle/>
          <a:p>
            <a:endParaRPr lang="es-CL"/>
          </a:p>
        </p:txBody>
      </p:sp>
      <p:sp>
        <p:nvSpPr>
          <p:cNvPr id="11" name="Text 9"/>
          <p:cNvSpPr/>
          <p:nvPr/>
        </p:nvSpPr>
        <p:spPr>
          <a:xfrm>
            <a:off x="1022350" y="2963962"/>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RF-02</a:t>
            </a:r>
            <a:endParaRPr lang="en-US" sz="1200" dirty="0"/>
          </a:p>
        </p:txBody>
      </p:sp>
      <p:sp>
        <p:nvSpPr>
          <p:cNvPr id="12" name="Text 10"/>
          <p:cNvSpPr/>
          <p:nvPr/>
        </p:nvSpPr>
        <p:spPr>
          <a:xfrm>
            <a:off x="1758950" y="2963962"/>
            <a:ext cx="29297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Registro de síntomas</a:t>
            </a:r>
            <a:endParaRPr lang="en-US" sz="1300" dirty="0"/>
          </a:p>
        </p:txBody>
      </p:sp>
      <p:sp>
        <p:nvSpPr>
          <p:cNvPr id="13" name="Shape 11"/>
          <p:cNvSpPr/>
          <p:nvPr/>
        </p:nvSpPr>
        <p:spPr>
          <a:xfrm>
            <a:off x="1022350" y="3287117"/>
            <a:ext cx="3581003" cy="0"/>
          </a:xfrm>
          <a:prstGeom prst="line">
            <a:avLst/>
          </a:prstGeom>
          <a:noFill/>
          <a:ln w="6350">
            <a:solidFill>
              <a:srgbClr val="E3E9E7"/>
            </a:solidFill>
            <a:prstDash val="solid"/>
          </a:ln>
        </p:spPr>
        <p:txBody>
          <a:bodyPr/>
          <a:lstStyle/>
          <a:p>
            <a:endParaRPr lang="es-CL"/>
          </a:p>
        </p:txBody>
      </p:sp>
      <p:sp>
        <p:nvSpPr>
          <p:cNvPr id="14" name="Text 12"/>
          <p:cNvSpPr/>
          <p:nvPr/>
        </p:nvSpPr>
        <p:spPr>
          <a:xfrm>
            <a:off x="1022350" y="3379192"/>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RF-03</a:t>
            </a:r>
            <a:endParaRPr lang="en-US" sz="1200" dirty="0"/>
          </a:p>
        </p:txBody>
      </p:sp>
      <p:sp>
        <p:nvSpPr>
          <p:cNvPr id="15" name="Text 13"/>
          <p:cNvSpPr/>
          <p:nvPr/>
        </p:nvSpPr>
        <p:spPr>
          <a:xfrm>
            <a:off x="1758950" y="3379192"/>
            <a:ext cx="29297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Carga de documentos</a:t>
            </a:r>
            <a:endParaRPr lang="en-US" sz="1300" dirty="0"/>
          </a:p>
        </p:txBody>
      </p:sp>
      <p:sp>
        <p:nvSpPr>
          <p:cNvPr id="16" name="Shape 14"/>
          <p:cNvSpPr/>
          <p:nvPr/>
        </p:nvSpPr>
        <p:spPr>
          <a:xfrm>
            <a:off x="1022350" y="3702348"/>
            <a:ext cx="3581003" cy="0"/>
          </a:xfrm>
          <a:prstGeom prst="line">
            <a:avLst/>
          </a:prstGeom>
          <a:noFill/>
          <a:ln w="6350">
            <a:solidFill>
              <a:srgbClr val="E3E9E7"/>
            </a:solidFill>
            <a:prstDash val="solid"/>
          </a:ln>
        </p:spPr>
        <p:txBody>
          <a:bodyPr/>
          <a:lstStyle/>
          <a:p>
            <a:endParaRPr lang="es-CL"/>
          </a:p>
        </p:txBody>
      </p:sp>
      <p:sp>
        <p:nvSpPr>
          <p:cNvPr id="17" name="Text 15"/>
          <p:cNvSpPr/>
          <p:nvPr/>
        </p:nvSpPr>
        <p:spPr>
          <a:xfrm>
            <a:off x="1022350" y="3794423"/>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RF-04</a:t>
            </a:r>
            <a:endParaRPr lang="en-US" sz="1200" dirty="0"/>
          </a:p>
        </p:txBody>
      </p:sp>
      <p:sp>
        <p:nvSpPr>
          <p:cNvPr id="18" name="Text 16"/>
          <p:cNvSpPr/>
          <p:nvPr/>
        </p:nvSpPr>
        <p:spPr>
          <a:xfrm>
            <a:off x="1758950" y="3794423"/>
            <a:ext cx="29297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Captura de movimiento articular</a:t>
            </a:r>
            <a:endParaRPr lang="en-US" sz="1300" dirty="0"/>
          </a:p>
        </p:txBody>
      </p:sp>
      <p:sp>
        <p:nvSpPr>
          <p:cNvPr id="19" name="Shape 17"/>
          <p:cNvSpPr/>
          <p:nvPr/>
        </p:nvSpPr>
        <p:spPr>
          <a:xfrm>
            <a:off x="1022350" y="4117578"/>
            <a:ext cx="3581003" cy="0"/>
          </a:xfrm>
          <a:prstGeom prst="line">
            <a:avLst/>
          </a:prstGeom>
          <a:noFill/>
          <a:ln w="6350">
            <a:solidFill>
              <a:srgbClr val="E3E9E7"/>
            </a:solidFill>
            <a:prstDash val="solid"/>
          </a:ln>
        </p:spPr>
        <p:txBody>
          <a:bodyPr/>
          <a:lstStyle/>
          <a:p>
            <a:endParaRPr lang="es-CL"/>
          </a:p>
        </p:txBody>
      </p:sp>
      <p:sp>
        <p:nvSpPr>
          <p:cNvPr id="20" name="Text 18"/>
          <p:cNvSpPr/>
          <p:nvPr/>
        </p:nvSpPr>
        <p:spPr>
          <a:xfrm>
            <a:off x="1022350" y="4209653"/>
            <a:ext cx="685800" cy="4875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RF-05</a:t>
            </a:r>
            <a:endParaRPr lang="en-US" sz="1200" dirty="0"/>
          </a:p>
        </p:txBody>
      </p:sp>
      <p:sp>
        <p:nvSpPr>
          <p:cNvPr id="21" name="Text 19"/>
          <p:cNvSpPr/>
          <p:nvPr/>
        </p:nvSpPr>
        <p:spPr>
          <a:xfrm>
            <a:off x="1758950" y="4209653"/>
            <a:ext cx="29297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Registro de ángulos máximo y mínimo</a:t>
            </a:r>
            <a:endParaRPr lang="en-US" sz="1300" dirty="0"/>
          </a:p>
        </p:txBody>
      </p:sp>
      <p:sp>
        <p:nvSpPr>
          <p:cNvPr id="22" name="Shape 20"/>
          <p:cNvSpPr/>
          <p:nvPr/>
        </p:nvSpPr>
        <p:spPr>
          <a:xfrm>
            <a:off x="1022350" y="4763889"/>
            <a:ext cx="3581003" cy="0"/>
          </a:xfrm>
          <a:prstGeom prst="line">
            <a:avLst/>
          </a:prstGeom>
          <a:noFill/>
          <a:ln w="6350">
            <a:solidFill>
              <a:srgbClr val="E3E9E7"/>
            </a:solidFill>
            <a:prstDash val="solid"/>
          </a:ln>
        </p:spPr>
        <p:txBody>
          <a:bodyPr/>
          <a:lstStyle/>
          <a:p>
            <a:endParaRPr lang="es-CL"/>
          </a:p>
        </p:txBody>
      </p:sp>
      <p:sp>
        <p:nvSpPr>
          <p:cNvPr id="23" name="Text 21"/>
          <p:cNvSpPr/>
          <p:nvPr/>
        </p:nvSpPr>
        <p:spPr>
          <a:xfrm>
            <a:off x="1022350" y="4855964"/>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RF-11</a:t>
            </a:r>
            <a:endParaRPr lang="en-US" sz="1200" dirty="0"/>
          </a:p>
        </p:txBody>
      </p:sp>
      <p:sp>
        <p:nvSpPr>
          <p:cNvPr id="24" name="Text 22"/>
          <p:cNvSpPr/>
          <p:nvPr/>
        </p:nvSpPr>
        <p:spPr>
          <a:xfrm>
            <a:off x="1758950" y="4855964"/>
            <a:ext cx="29297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Catálogo de ejercicios</a:t>
            </a:r>
            <a:endParaRPr lang="en-US" sz="1300" dirty="0"/>
          </a:p>
        </p:txBody>
      </p:sp>
      <p:sp>
        <p:nvSpPr>
          <p:cNvPr id="25" name="Shape 23"/>
          <p:cNvSpPr/>
          <p:nvPr/>
        </p:nvSpPr>
        <p:spPr>
          <a:xfrm>
            <a:off x="1022350" y="5179120"/>
            <a:ext cx="3581003" cy="0"/>
          </a:xfrm>
          <a:prstGeom prst="line">
            <a:avLst/>
          </a:prstGeom>
          <a:noFill/>
          <a:ln w="6350">
            <a:solidFill>
              <a:srgbClr val="E3E9E7"/>
            </a:solidFill>
            <a:prstDash val="solid"/>
          </a:ln>
        </p:spPr>
        <p:txBody>
          <a:bodyPr/>
          <a:lstStyle/>
          <a:p>
            <a:endParaRPr lang="es-CL"/>
          </a:p>
        </p:txBody>
      </p:sp>
      <p:sp>
        <p:nvSpPr>
          <p:cNvPr id="26" name="Text 24"/>
          <p:cNvSpPr/>
          <p:nvPr/>
        </p:nvSpPr>
        <p:spPr>
          <a:xfrm>
            <a:off x="1022350" y="5271195"/>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RF-12</a:t>
            </a:r>
            <a:endParaRPr lang="en-US" sz="1200" dirty="0"/>
          </a:p>
        </p:txBody>
      </p:sp>
      <p:sp>
        <p:nvSpPr>
          <p:cNvPr id="27" name="Text 25"/>
          <p:cNvSpPr/>
          <p:nvPr/>
        </p:nvSpPr>
        <p:spPr>
          <a:xfrm>
            <a:off x="1758950" y="5271195"/>
            <a:ext cx="292973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Registro de ejecución de ejercicios</a:t>
            </a:r>
            <a:endParaRPr lang="en-US" sz="1300" dirty="0"/>
          </a:p>
        </p:txBody>
      </p:sp>
      <p:sp>
        <p:nvSpPr>
          <p:cNvPr id="28" name="Shape 26"/>
          <p:cNvSpPr/>
          <p:nvPr/>
        </p:nvSpPr>
        <p:spPr>
          <a:xfrm>
            <a:off x="5019278" y="1882676"/>
            <a:ext cx="3073598" cy="2567583"/>
          </a:xfrm>
          <a:prstGeom prst="roundRect">
            <a:avLst>
              <a:gd name="adj" fmla="val 4328"/>
            </a:avLst>
          </a:prstGeom>
          <a:solidFill>
            <a:srgbClr val="FBFCFB"/>
          </a:solidFill>
          <a:ln w="6350">
            <a:solidFill>
              <a:srgbClr val="DCE3E1"/>
            </a:solidFill>
            <a:prstDash val="solid"/>
          </a:ln>
        </p:spPr>
        <p:txBody>
          <a:bodyPr/>
          <a:lstStyle/>
          <a:p>
            <a:endParaRPr lang="es-CL"/>
          </a:p>
        </p:txBody>
      </p:sp>
      <p:sp>
        <p:nvSpPr>
          <p:cNvPr id="29" name="Shape 27"/>
          <p:cNvSpPr/>
          <p:nvPr/>
        </p:nvSpPr>
        <p:spPr>
          <a:xfrm>
            <a:off x="5022453" y="1885851"/>
            <a:ext cx="3067248" cy="523180"/>
          </a:xfrm>
          <a:custGeom>
            <a:avLst/>
            <a:gdLst/>
            <a:ahLst/>
            <a:cxnLst/>
            <a:rect l="l" t="t" r="r" b="b"/>
            <a:pathLst>
              <a:path w="3067248" h="523180">
                <a:moveTo>
                  <a:pt x="0" y="107950"/>
                </a:moveTo>
                <a:arcTo wR="107950" hR="107950" stAng="10800000" swAng="5400000"/>
                <a:lnTo>
                  <a:pt x="2959298" y="0"/>
                </a:lnTo>
                <a:arcTo wR="107950" hR="107950" stAng="16200000" swAng="5400000"/>
                <a:lnTo>
                  <a:pt x="3067248" y="523180"/>
                </a:lnTo>
                <a:lnTo>
                  <a:pt x="0" y="523180"/>
                </a:lnTo>
                <a:close/>
              </a:path>
            </a:pathLst>
          </a:custGeom>
          <a:solidFill>
            <a:srgbClr val="0F2E33"/>
          </a:solidFill>
          <a:ln/>
        </p:spPr>
        <p:txBody>
          <a:bodyPr/>
          <a:lstStyle/>
          <a:p>
            <a:endParaRPr lang="es-CL"/>
          </a:p>
        </p:txBody>
      </p:sp>
      <p:sp>
        <p:nvSpPr>
          <p:cNvPr id="30" name="Text 28"/>
          <p:cNvSpPr/>
          <p:nvPr/>
        </p:nvSpPr>
        <p:spPr>
          <a:xfrm>
            <a:off x="5225653" y="2025551"/>
            <a:ext cx="54137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5"/>
                </a:solidFill>
                <a:latin typeface="DM Sans" pitchFamily="34" charset="0"/>
                <a:ea typeface="DM Sans" pitchFamily="34" charset="-122"/>
                <a:cs typeface="DM Sans" pitchFamily="34" charset="-120"/>
              </a:rPr>
              <a:t>Web</a:t>
            </a:r>
            <a:endParaRPr lang="en-US" sz="1600" dirty="0"/>
          </a:p>
        </p:txBody>
      </p:sp>
      <p:sp>
        <p:nvSpPr>
          <p:cNvPr id="31" name="Text 29"/>
          <p:cNvSpPr/>
          <p:nvPr/>
        </p:nvSpPr>
        <p:spPr>
          <a:xfrm>
            <a:off x="5778401" y="2040731"/>
            <a:ext cx="14391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 Médico y admin</a:t>
            </a:r>
            <a:endParaRPr lang="en-US" sz="1200" dirty="0"/>
          </a:p>
        </p:txBody>
      </p:sp>
      <p:sp>
        <p:nvSpPr>
          <p:cNvPr id="32" name="Text 30"/>
          <p:cNvSpPr/>
          <p:nvPr/>
        </p:nvSpPr>
        <p:spPr>
          <a:xfrm>
            <a:off x="5225653" y="2548731"/>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RF-01</a:t>
            </a:r>
            <a:endParaRPr lang="en-US" sz="1200" dirty="0"/>
          </a:p>
        </p:txBody>
      </p:sp>
      <p:sp>
        <p:nvSpPr>
          <p:cNvPr id="33" name="Text 31"/>
          <p:cNvSpPr/>
          <p:nvPr/>
        </p:nvSpPr>
        <p:spPr>
          <a:xfrm>
            <a:off x="5962253" y="2548731"/>
            <a:ext cx="198197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Autenticación por rol</a:t>
            </a:r>
            <a:endParaRPr lang="en-US" sz="1300" dirty="0"/>
          </a:p>
        </p:txBody>
      </p:sp>
      <p:sp>
        <p:nvSpPr>
          <p:cNvPr id="34" name="Shape 32"/>
          <p:cNvSpPr/>
          <p:nvPr/>
        </p:nvSpPr>
        <p:spPr>
          <a:xfrm>
            <a:off x="5225653" y="2871887"/>
            <a:ext cx="2660848" cy="0"/>
          </a:xfrm>
          <a:prstGeom prst="line">
            <a:avLst/>
          </a:prstGeom>
          <a:noFill/>
          <a:ln w="6350">
            <a:solidFill>
              <a:srgbClr val="E3E9E7"/>
            </a:solidFill>
            <a:prstDash val="solid"/>
          </a:ln>
        </p:spPr>
        <p:txBody>
          <a:bodyPr/>
          <a:lstStyle/>
          <a:p>
            <a:endParaRPr lang="es-CL"/>
          </a:p>
        </p:txBody>
      </p:sp>
      <p:sp>
        <p:nvSpPr>
          <p:cNvPr id="35" name="Text 33"/>
          <p:cNvSpPr/>
          <p:nvPr/>
        </p:nvSpPr>
        <p:spPr>
          <a:xfrm>
            <a:off x="5225653" y="2963962"/>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RF-06</a:t>
            </a:r>
            <a:endParaRPr lang="en-US" sz="1200" dirty="0"/>
          </a:p>
        </p:txBody>
      </p:sp>
      <p:sp>
        <p:nvSpPr>
          <p:cNvPr id="36" name="Text 34"/>
          <p:cNvSpPr/>
          <p:nvPr/>
        </p:nvSpPr>
        <p:spPr>
          <a:xfrm>
            <a:off x="5962253" y="2963962"/>
            <a:ext cx="198197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Bandeja de triage</a:t>
            </a:r>
            <a:endParaRPr lang="en-US" sz="1300" dirty="0"/>
          </a:p>
        </p:txBody>
      </p:sp>
      <p:sp>
        <p:nvSpPr>
          <p:cNvPr id="37" name="Shape 35"/>
          <p:cNvSpPr/>
          <p:nvPr/>
        </p:nvSpPr>
        <p:spPr>
          <a:xfrm>
            <a:off x="5225653" y="3287117"/>
            <a:ext cx="2660848" cy="0"/>
          </a:xfrm>
          <a:prstGeom prst="line">
            <a:avLst/>
          </a:prstGeom>
          <a:noFill/>
          <a:ln w="6350">
            <a:solidFill>
              <a:srgbClr val="E3E9E7"/>
            </a:solidFill>
            <a:prstDash val="solid"/>
          </a:ln>
        </p:spPr>
        <p:txBody>
          <a:bodyPr/>
          <a:lstStyle/>
          <a:p>
            <a:endParaRPr lang="es-CL"/>
          </a:p>
        </p:txBody>
      </p:sp>
      <p:sp>
        <p:nvSpPr>
          <p:cNvPr id="38" name="Text 36"/>
          <p:cNvSpPr/>
          <p:nvPr/>
        </p:nvSpPr>
        <p:spPr>
          <a:xfrm>
            <a:off x="5225653" y="3379192"/>
            <a:ext cx="685800" cy="4875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RF-07</a:t>
            </a:r>
            <a:endParaRPr lang="en-US" sz="1200" dirty="0"/>
          </a:p>
        </p:txBody>
      </p:sp>
      <p:sp>
        <p:nvSpPr>
          <p:cNvPr id="39" name="Text 37"/>
          <p:cNvSpPr/>
          <p:nvPr/>
        </p:nvSpPr>
        <p:spPr>
          <a:xfrm>
            <a:off x="5962253" y="3379192"/>
            <a:ext cx="198197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Resumen y prediagnóstico</a:t>
            </a:r>
            <a:endParaRPr lang="en-US" sz="1300" dirty="0"/>
          </a:p>
        </p:txBody>
      </p:sp>
      <p:sp>
        <p:nvSpPr>
          <p:cNvPr id="40" name="Shape 38"/>
          <p:cNvSpPr/>
          <p:nvPr/>
        </p:nvSpPr>
        <p:spPr>
          <a:xfrm>
            <a:off x="5225653" y="3933428"/>
            <a:ext cx="2660848" cy="0"/>
          </a:xfrm>
          <a:prstGeom prst="line">
            <a:avLst/>
          </a:prstGeom>
          <a:noFill/>
          <a:ln w="6350">
            <a:solidFill>
              <a:srgbClr val="E3E9E7"/>
            </a:solidFill>
            <a:prstDash val="solid"/>
          </a:ln>
        </p:spPr>
        <p:txBody>
          <a:bodyPr/>
          <a:lstStyle/>
          <a:p>
            <a:endParaRPr lang="es-CL"/>
          </a:p>
        </p:txBody>
      </p:sp>
      <p:sp>
        <p:nvSpPr>
          <p:cNvPr id="41" name="Text 39"/>
          <p:cNvSpPr/>
          <p:nvPr/>
        </p:nvSpPr>
        <p:spPr>
          <a:xfrm>
            <a:off x="5225653" y="4025503"/>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57A73"/>
                </a:solidFill>
                <a:latin typeface="JetBrains Mono" pitchFamily="49" charset="0"/>
                <a:ea typeface="JetBrains Mono" pitchFamily="49" charset="-122"/>
                <a:cs typeface="JetBrains Mono" pitchFamily="49" charset="-120"/>
              </a:rPr>
              <a:t>RF-08</a:t>
            </a:r>
            <a:endParaRPr lang="en-US" sz="1200" dirty="0"/>
          </a:p>
        </p:txBody>
      </p:sp>
      <p:sp>
        <p:nvSpPr>
          <p:cNvPr id="42" name="Text 40"/>
          <p:cNvSpPr/>
          <p:nvPr/>
        </p:nvSpPr>
        <p:spPr>
          <a:xfrm>
            <a:off x="5962253" y="4025503"/>
            <a:ext cx="198197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Gráficos de movilidad</a:t>
            </a:r>
            <a:endParaRPr lang="en-US" sz="1300" dirty="0"/>
          </a:p>
        </p:txBody>
      </p:sp>
      <p:sp>
        <p:nvSpPr>
          <p:cNvPr id="43" name="Shape 41"/>
          <p:cNvSpPr/>
          <p:nvPr/>
        </p:nvSpPr>
        <p:spPr>
          <a:xfrm>
            <a:off x="8302427" y="1882676"/>
            <a:ext cx="3073598" cy="2091432"/>
          </a:xfrm>
          <a:prstGeom prst="roundRect">
            <a:avLst>
              <a:gd name="adj" fmla="val 5313"/>
            </a:avLst>
          </a:prstGeom>
          <a:solidFill>
            <a:srgbClr val="FBFCFB"/>
          </a:solidFill>
          <a:ln w="6350">
            <a:solidFill>
              <a:srgbClr val="DCE3E1"/>
            </a:solidFill>
            <a:prstDash val="solid"/>
          </a:ln>
        </p:spPr>
        <p:txBody>
          <a:bodyPr/>
          <a:lstStyle/>
          <a:p>
            <a:endParaRPr lang="es-CL"/>
          </a:p>
        </p:txBody>
      </p:sp>
      <p:sp>
        <p:nvSpPr>
          <p:cNvPr id="44" name="Shape 42"/>
          <p:cNvSpPr/>
          <p:nvPr/>
        </p:nvSpPr>
        <p:spPr>
          <a:xfrm>
            <a:off x="8305602" y="1885851"/>
            <a:ext cx="3067248" cy="523180"/>
          </a:xfrm>
          <a:custGeom>
            <a:avLst/>
            <a:gdLst/>
            <a:ahLst/>
            <a:cxnLst/>
            <a:rect l="l" t="t" r="r" b="b"/>
            <a:pathLst>
              <a:path w="3067248" h="523180">
                <a:moveTo>
                  <a:pt x="0" y="107950"/>
                </a:moveTo>
                <a:arcTo wR="107950" hR="107950" stAng="10800000" swAng="5400000"/>
                <a:lnTo>
                  <a:pt x="2959298" y="0"/>
                </a:lnTo>
                <a:arcTo wR="107950" hR="107950" stAng="16200000" swAng="5400000"/>
                <a:lnTo>
                  <a:pt x="3067248" y="523180"/>
                </a:lnTo>
                <a:lnTo>
                  <a:pt x="0" y="523180"/>
                </a:lnTo>
                <a:close/>
              </a:path>
            </a:pathLst>
          </a:custGeom>
          <a:solidFill>
            <a:srgbClr val="B5501F"/>
          </a:solidFill>
          <a:ln/>
        </p:spPr>
        <p:txBody>
          <a:bodyPr/>
          <a:lstStyle/>
          <a:p>
            <a:endParaRPr lang="es-CL"/>
          </a:p>
        </p:txBody>
      </p:sp>
      <p:sp>
        <p:nvSpPr>
          <p:cNvPr id="45" name="Text 43"/>
          <p:cNvSpPr/>
          <p:nvPr/>
        </p:nvSpPr>
        <p:spPr>
          <a:xfrm>
            <a:off x="8508802" y="2025551"/>
            <a:ext cx="9634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CFB"/>
                </a:solidFill>
                <a:latin typeface="DM Sans" pitchFamily="34" charset="0"/>
                <a:ea typeface="DM Sans" pitchFamily="34" charset="-122"/>
                <a:cs typeface="DM Sans" pitchFamily="34" charset="-120"/>
              </a:rPr>
              <a:t>Backend</a:t>
            </a:r>
            <a:endParaRPr lang="en-US" sz="1600" dirty="0"/>
          </a:p>
        </p:txBody>
      </p:sp>
      <p:sp>
        <p:nvSpPr>
          <p:cNvPr id="46" name="Text 44"/>
          <p:cNvSpPr/>
          <p:nvPr/>
        </p:nvSpPr>
        <p:spPr>
          <a:xfrm>
            <a:off x="9472216" y="2040731"/>
            <a:ext cx="2584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8DC"/>
                </a:solidFill>
                <a:latin typeface="DM Sans" pitchFamily="34" charset="0"/>
                <a:ea typeface="DM Sans" pitchFamily="34" charset="-122"/>
                <a:cs typeface="DM Sans" pitchFamily="34" charset="-120"/>
              </a:rPr>
              <a:t>· IA</a:t>
            </a:r>
            <a:endParaRPr lang="en-US" sz="1200" dirty="0"/>
          </a:p>
        </p:txBody>
      </p:sp>
      <p:sp>
        <p:nvSpPr>
          <p:cNvPr id="47" name="Text 45"/>
          <p:cNvSpPr/>
          <p:nvPr/>
        </p:nvSpPr>
        <p:spPr>
          <a:xfrm>
            <a:off x="8508802" y="2548731"/>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501F"/>
                </a:solidFill>
                <a:latin typeface="JetBrains Mono" pitchFamily="49" charset="0"/>
                <a:ea typeface="JetBrains Mono" pitchFamily="49" charset="-122"/>
                <a:cs typeface="JetBrains Mono" pitchFamily="49" charset="-120"/>
              </a:rPr>
              <a:t>RF-09</a:t>
            </a:r>
            <a:endParaRPr lang="en-US" sz="1200" dirty="0"/>
          </a:p>
        </p:txBody>
      </p:sp>
      <p:sp>
        <p:nvSpPr>
          <p:cNvPr id="48" name="Text 46"/>
          <p:cNvSpPr/>
          <p:nvPr/>
        </p:nvSpPr>
        <p:spPr>
          <a:xfrm>
            <a:off x="9245402" y="2548731"/>
            <a:ext cx="198197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Anonimización de datos</a:t>
            </a:r>
            <a:endParaRPr lang="en-US" sz="1300" dirty="0"/>
          </a:p>
        </p:txBody>
      </p:sp>
      <p:sp>
        <p:nvSpPr>
          <p:cNvPr id="49" name="Shape 47"/>
          <p:cNvSpPr/>
          <p:nvPr/>
        </p:nvSpPr>
        <p:spPr>
          <a:xfrm>
            <a:off x="8508802" y="2871887"/>
            <a:ext cx="2660848" cy="0"/>
          </a:xfrm>
          <a:prstGeom prst="line">
            <a:avLst/>
          </a:prstGeom>
          <a:noFill/>
          <a:ln w="6350">
            <a:solidFill>
              <a:srgbClr val="E3E9E7"/>
            </a:solidFill>
            <a:prstDash val="solid"/>
          </a:ln>
        </p:spPr>
        <p:txBody>
          <a:bodyPr/>
          <a:lstStyle/>
          <a:p>
            <a:endParaRPr lang="es-CL"/>
          </a:p>
        </p:txBody>
      </p:sp>
      <p:sp>
        <p:nvSpPr>
          <p:cNvPr id="50" name="Text 48"/>
          <p:cNvSpPr/>
          <p:nvPr/>
        </p:nvSpPr>
        <p:spPr>
          <a:xfrm>
            <a:off x="8508802" y="2963962"/>
            <a:ext cx="685800" cy="25648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501F"/>
                </a:solidFill>
                <a:latin typeface="JetBrains Mono" pitchFamily="49" charset="0"/>
                <a:ea typeface="JetBrains Mono" pitchFamily="49" charset="-122"/>
                <a:cs typeface="JetBrains Mono" pitchFamily="49" charset="-120"/>
              </a:rPr>
              <a:t>RF-10</a:t>
            </a:r>
            <a:endParaRPr lang="en-US" sz="1200" dirty="0"/>
          </a:p>
        </p:txBody>
      </p:sp>
      <p:sp>
        <p:nvSpPr>
          <p:cNvPr id="51" name="Text 49"/>
          <p:cNvSpPr/>
          <p:nvPr/>
        </p:nvSpPr>
        <p:spPr>
          <a:xfrm>
            <a:off x="9245402" y="2963962"/>
            <a:ext cx="198197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F2E33"/>
                </a:solidFill>
                <a:latin typeface="DM Sans" pitchFamily="34" charset="0"/>
                <a:ea typeface="DM Sans" pitchFamily="34" charset="-122"/>
                <a:cs typeface="DM Sans" pitchFamily="34" charset="-120"/>
              </a:rPr>
              <a:t>Prediagnóstico con RAG</a:t>
            </a:r>
            <a:endParaRPr lang="en-US" sz="1300" dirty="0"/>
          </a:p>
        </p:txBody>
      </p:sp>
      <p:sp>
        <p:nvSpPr>
          <p:cNvPr id="52" name="Shape 50"/>
          <p:cNvSpPr/>
          <p:nvPr/>
        </p:nvSpPr>
        <p:spPr>
          <a:xfrm>
            <a:off x="8508802" y="3287117"/>
            <a:ext cx="2660848" cy="0"/>
          </a:xfrm>
          <a:prstGeom prst="line">
            <a:avLst/>
          </a:prstGeom>
          <a:noFill/>
          <a:ln w="6350">
            <a:solidFill>
              <a:srgbClr val="E3E9E7"/>
            </a:solidFill>
            <a:prstDash val="solid"/>
          </a:ln>
        </p:spPr>
        <p:txBody>
          <a:bodyPr/>
          <a:lstStyle/>
          <a:p>
            <a:endParaRPr lang="es-CL"/>
          </a:p>
        </p:txBody>
      </p:sp>
      <p:sp>
        <p:nvSpPr>
          <p:cNvPr id="53" name="Text 51"/>
          <p:cNvSpPr/>
          <p:nvPr/>
        </p:nvSpPr>
        <p:spPr>
          <a:xfrm>
            <a:off x="8508802" y="3391892"/>
            <a:ext cx="274067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Además da soporte a todo: API, autenticación, datos y auditoría.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REQUERIMIENTOS NO FUNCIONALES</a:t>
            </a:r>
            <a:endParaRPr lang="en-US" sz="1200" dirty="0"/>
          </a:p>
        </p:txBody>
      </p:sp>
      <p:sp>
        <p:nvSpPr>
          <p:cNvPr id="3" name="Text 1"/>
          <p:cNvSpPr>
            <a:spLocks noGrp="1"/>
          </p:cNvSpPr>
          <p:nvPr>
            <p:ph type="title"/>
          </p:nvPr>
        </p:nvSpPr>
        <p:spPr>
          <a:xfrm>
            <a:off x="812800" y="1228656"/>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8 compromisos de calidad</a:t>
            </a:r>
            <a:endParaRPr lang="en-US" sz="3200" dirty="0"/>
          </a:p>
        </p:txBody>
      </p:sp>
      <p:sp>
        <p:nvSpPr>
          <p:cNvPr id="4" name="Shape 2"/>
          <p:cNvSpPr/>
          <p:nvPr/>
        </p:nvSpPr>
        <p:spPr>
          <a:xfrm>
            <a:off x="812800" y="1993900"/>
            <a:ext cx="2641600" cy="0"/>
          </a:xfrm>
          <a:prstGeom prst="line">
            <a:avLst/>
          </a:prstGeom>
          <a:noFill/>
          <a:ln w="25400">
            <a:solidFill>
              <a:srgbClr val="157A73"/>
            </a:solidFill>
            <a:prstDash val="solid"/>
          </a:ln>
        </p:spPr>
        <p:txBody>
          <a:bodyPr/>
          <a:lstStyle/>
          <a:p>
            <a:endParaRPr lang="es-CL"/>
          </a:p>
        </p:txBody>
      </p:sp>
      <p:sp>
        <p:nvSpPr>
          <p:cNvPr id="5" name="Text 3"/>
          <p:cNvSpPr/>
          <p:nvPr/>
        </p:nvSpPr>
        <p:spPr>
          <a:xfrm>
            <a:off x="812800" y="2159000"/>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AES-256</a:t>
            </a:r>
            <a:endParaRPr lang="en-US" sz="2800" dirty="0"/>
          </a:p>
        </p:txBody>
      </p:sp>
      <p:sp>
        <p:nvSpPr>
          <p:cNvPr id="6" name="Text 4"/>
          <p:cNvSpPr/>
          <p:nvPr/>
        </p:nvSpPr>
        <p:spPr>
          <a:xfrm>
            <a:off x="812800" y="2613620"/>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RNF-01 · CIFRADO</a:t>
            </a:r>
            <a:endParaRPr lang="en-US" sz="1200" dirty="0"/>
          </a:p>
        </p:txBody>
      </p:sp>
      <p:sp>
        <p:nvSpPr>
          <p:cNvPr id="7" name="Text 5"/>
          <p:cNvSpPr/>
          <p:nvPr/>
        </p:nvSpPr>
        <p:spPr>
          <a:xfrm>
            <a:off x="812800" y="2890441"/>
            <a:ext cx="272084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Datos clínicos cifrados en la base de datos.</a:t>
            </a:r>
            <a:endParaRPr lang="en-US" sz="1200" dirty="0"/>
          </a:p>
        </p:txBody>
      </p:sp>
      <p:sp>
        <p:nvSpPr>
          <p:cNvPr id="8" name="Shape 6"/>
          <p:cNvSpPr/>
          <p:nvPr/>
        </p:nvSpPr>
        <p:spPr>
          <a:xfrm>
            <a:off x="3454400" y="1993900"/>
            <a:ext cx="2641600" cy="0"/>
          </a:xfrm>
          <a:prstGeom prst="line">
            <a:avLst/>
          </a:prstGeom>
          <a:noFill/>
          <a:ln w="25400">
            <a:solidFill>
              <a:srgbClr val="157A73"/>
            </a:solidFill>
            <a:prstDash val="solid"/>
          </a:ln>
        </p:spPr>
        <p:txBody>
          <a:bodyPr/>
          <a:lstStyle/>
          <a:p>
            <a:endParaRPr lang="es-CL"/>
          </a:p>
        </p:txBody>
      </p:sp>
      <p:sp>
        <p:nvSpPr>
          <p:cNvPr id="9" name="Text 7"/>
          <p:cNvSpPr/>
          <p:nvPr/>
        </p:nvSpPr>
        <p:spPr>
          <a:xfrm>
            <a:off x="3454400" y="2159000"/>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HTTPS</a:t>
            </a:r>
            <a:endParaRPr lang="en-US" sz="2800" dirty="0"/>
          </a:p>
        </p:txBody>
      </p:sp>
      <p:sp>
        <p:nvSpPr>
          <p:cNvPr id="10" name="Text 8"/>
          <p:cNvSpPr/>
          <p:nvPr/>
        </p:nvSpPr>
        <p:spPr>
          <a:xfrm>
            <a:off x="3454400" y="2613620"/>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RNF-02 · TRÁNSITO</a:t>
            </a:r>
            <a:endParaRPr lang="en-US" sz="1200" dirty="0"/>
          </a:p>
        </p:txBody>
      </p:sp>
      <p:sp>
        <p:nvSpPr>
          <p:cNvPr id="11" name="Text 9"/>
          <p:cNvSpPr/>
          <p:nvPr/>
        </p:nvSpPr>
        <p:spPr>
          <a:xfrm>
            <a:off x="3454400" y="2890441"/>
            <a:ext cx="27208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Toda comunicación cifrada con TLS.</a:t>
            </a:r>
            <a:endParaRPr lang="en-US" sz="1200" dirty="0"/>
          </a:p>
        </p:txBody>
      </p:sp>
      <p:sp>
        <p:nvSpPr>
          <p:cNvPr id="12" name="Shape 10"/>
          <p:cNvSpPr/>
          <p:nvPr/>
        </p:nvSpPr>
        <p:spPr>
          <a:xfrm>
            <a:off x="6096000" y="1993900"/>
            <a:ext cx="2641600" cy="0"/>
          </a:xfrm>
          <a:prstGeom prst="line">
            <a:avLst/>
          </a:prstGeom>
          <a:noFill/>
          <a:ln w="25400">
            <a:solidFill>
              <a:srgbClr val="157A73"/>
            </a:solidFill>
            <a:prstDash val="solid"/>
          </a:ln>
        </p:spPr>
        <p:txBody>
          <a:bodyPr/>
          <a:lstStyle/>
          <a:p>
            <a:endParaRPr lang="es-CL"/>
          </a:p>
        </p:txBody>
      </p:sp>
      <p:sp>
        <p:nvSpPr>
          <p:cNvPr id="13" name="Text 11"/>
          <p:cNvSpPr/>
          <p:nvPr/>
        </p:nvSpPr>
        <p:spPr>
          <a:xfrm>
            <a:off x="6096000" y="2159000"/>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24 FPS</a:t>
            </a:r>
            <a:endParaRPr lang="en-US" sz="2800" dirty="0"/>
          </a:p>
        </p:txBody>
      </p:sp>
      <p:sp>
        <p:nvSpPr>
          <p:cNvPr id="14" name="Text 12"/>
          <p:cNvSpPr/>
          <p:nvPr/>
        </p:nvSpPr>
        <p:spPr>
          <a:xfrm>
            <a:off x="6096000" y="2613620"/>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RNF-03 · VISIÓN</a:t>
            </a:r>
            <a:endParaRPr lang="en-US" sz="1200" dirty="0"/>
          </a:p>
        </p:txBody>
      </p:sp>
      <p:sp>
        <p:nvSpPr>
          <p:cNvPr id="15" name="Text 13"/>
          <p:cNvSpPr/>
          <p:nvPr/>
        </p:nvSpPr>
        <p:spPr>
          <a:xfrm>
            <a:off x="6096000" y="2890441"/>
            <a:ext cx="272084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Detección de articulaciones sin latencia.</a:t>
            </a:r>
            <a:endParaRPr lang="en-US" sz="1200" dirty="0"/>
          </a:p>
        </p:txBody>
      </p:sp>
      <p:sp>
        <p:nvSpPr>
          <p:cNvPr id="16" name="Shape 14"/>
          <p:cNvSpPr/>
          <p:nvPr/>
        </p:nvSpPr>
        <p:spPr>
          <a:xfrm>
            <a:off x="8737600" y="1993900"/>
            <a:ext cx="2641600" cy="0"/>
          </a:xfrm>
          <a:prstGeom prst="line">
            <a:avLst/>
          </a:prstGeom>
          <a:noFill/>
          <a:ln w="25400">
            <a:solidFill>
              <a:srgbClr val="157A73"/>
            </a:solidFill>
            <a:prstDash val="solid"/>
          </a:ln>
        </p:spPr>
        <p:txBody>
          <a:bodyPr/>
          <a:lstStyle/>
          <a:p>
            <a:endParaRPr lang="es-CL"/>
          </a:p>
        </p:txBody>
      </p:sp>
      <p:sp>
        <p:nvSpPr>
          <p:cNvPr id="17" name="Text 15"/>
          <p:cNvSpPr/>
          <p:nvPr/>
        </p:nvSpPr>
        <p:spPr>
          <a:xfrm>
            <a:off x="8737600" y="2159000"/>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 300 ms</a:t>
            </a:r>
            <a:endParaRPr lang="en-US" sz="2800" dirty="0"/>
          </a:p>
        </p:txBody>
      </p:sp>
      <p:sp>
        <p:nvSpPr>
          <p:cNvPr id="18" name="Text 16"/>
          <p:cNvSpPr/>
          <p:nvPr/>
        </p:nvSpPr>
        <p:spPr>
          <a:xfrm>
            <a:off x="8737600" y="2613620"/>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RNF-04 · API</a:t>
            </a:r>
            <a:endParaRPr lang="en-US" sz="1200" dirty="0"/>
          </a:p>
        </p:txBody>
      </p:sp>
      <p:sp>
        <p:nvSpPr>
          <p:cNvPr id="19" name="Text 17"/>
          <p:cNvSpPr/>
          <p:nvPr/>
        </p:nvSpPr>
        <p:spPr>
          <a:xfrm>
            <a:off x="8737600" y="2890441"/>
            <a:ext cx="27208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Respuesta máxima, sin contar la IA.</a:t>
            </a:r>
            <a:endParaRPr lang="en-US" sz="1200" dirty="0"/>
          </a:p>
        </p:txBody>
      </p:sp>
      <p:sp>
        <p:nvSpPr>
          <p:cNvPr id="20" name="Shape 18"/>
          <p:cNvSpPr/>
          <p:nvPr/>
        </p:nvSpPr>
        <p:spPr>
          <a:xfrm>
            <a:off x="812800" y="3538835"/>
            <a:ext cx="2641600" cy="0"/>
          </a:xfrm>
          <a:prstGeom prst="line">
            <a:avLst/>
          </a:prstGeom>
          <a:noFill/>
          <a:ln w="25400">
            <a:solidFill>
              <a:srgbClr val="157A73"/>
            </a:solidFill>
            <a:prstDash val="solid"/>
          </a:ln>
        </p:spPr>
        <p:txBody>
          <a:bodyPr/>
          <a:lstStyle/>
          <a:p>
            <a:endParaRPr lang="es-CL"/>
          </a:p>
        </p:txBody>
      </p:sp>
      <p:sp>
        <p:nvSpPr>
          <p:cNvPr id="21" name="Text 19"/>
          <p:cNvSpPr/>
          <p:nvPr/>
        </p:nvSpPr>
        <p:spPr>
          <a:xfrm>
            <a:off x="812800" y="3703935"/>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SHA-256</a:t>
            </a:r>
            <a:endParaRPr lang="en-US" sz="2800" dirty="0"/>
          </a:p>
        </p:txBody>
      </p:sp>
      <p:sp>
        <p:nvSpPr>
          <p:cNvPr id="22" name="Text 20"/>
          <p:cNvSpPr/>
          <p:nvPr/>
        </p:nvSpPr>
        <p:spPr>
          <a:xfrm>
            <a:off x="812800" y="4158555"/>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RNF-05 · AUDITORÍA</a:t>
            </a:r>
            <a:endParaRPr lang="en-US" sz="1200" dirty="0"/>
          </a:p>
        </p:txBody>
      </p:sp>
      <p:sp>
        <p:nvSpPr>
          <p:cNvPr id="23" name="Text 21"/>
          <p:cNvSpPr/>
          <p:nvPr/>
        </p:nvSpPr>
        <p:spPr>
          <a:xfrm>
            <a:off x="812800" y="4435376"/>
            <a:ext cx="272084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Logs inmutables de cada acceso a una ficha.</a:t>
            </a:r>
            <a:endParaRPr lang="en-US" sz="1200" dirty="0"/>
          </a:p>
        </p:txBody>
      </p:sp>
      <p:sp>
        <p:nvSpPr>
          <p:cNvPr id="24" name="Shape 22"/>
          <p:cNvSpPr/>
          <p:nvPr/>
        </p:nvSpPr>
        <p:spPr>
          <a:xfrm>
            <a:off x="3454400" y="3538835"/>
            <a:ext cx="2641600" cy="0"/>
          </a:xfrm>
          <a:prstGeom prst="line">
            <a:avLst/>
          </a:prstGeom>
          <a:noFill/>
          <a:ln w="25400">
            <a:solidFill>
              <a:srgbClr val="157A73"/>
            </a:solidFill>
            <a:prstDash val="solid"/>
          </a:ln>
        </p:spPr>
        <p:txBody>
          <a:bodyPr/>
          <a:lstStyle/>
          <a:p>
            <a:endParaRPr lang="es-CL"/>
          </a:p>
        </p:txBody>
      </p:sp>
      <p:sp>
        <p:nvSpPr>
          <p:cNvPr id="25" name="Text 23"/>
          <p:cNvSpPr/>
          <p:nvPr/>
        </p:nvSpPr>
        <p:spPr>
          <a:xfrm>
            <a:off x="3454400" y="3703935"/>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Responsiva</a:t>
            </a:r>
            <a:endParaRPr lang="en-US" sz="2800" dirty="0"/>
          </a:p>
        </p:txBody>
      </p:sp>
      <p:sp>
        <p:nvSpPr>
          <p:cNvPr id="26" name="Text 24"/>
          <p:cNvSpPr/>
          <p:nvPr/>
        </p:nvSpPr>
        <p:spPr>
          <a:xfrm>
            <a:off x="3454400" y="4158555"/>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RNF-06 · WEB</a:t>
            </a:r>
            <a:endParaRPr lang="en-US" sz="1200" dirty="0"/>
          </a:p>
        </p:txBody>
      </p:sp>
      <p:sp>
        <p:nvSpPr>
          <p:cNvPr id="27" name="Text 25"/>
          <p:cNvSpPr/>
          <p:nvPr/>
        </p:nvSpPr>
        <p:spPr>
          <a:xfrm>
            <a:off x="3454400" y="4435376"/>
            <a:ext cx="27208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Chrome, Edge y Firefox recientes.</a:t>
            </a:r>
            <a:endParaRPr lang="en-US" sz="1200" dirty="0"/>
          </a:p>
        </p:txBody>
      </p:sp>
      <p:sp>
        <p:nvSpPr>
          <p:cNvPr id="28" name="Shape 26"/>
          <p:cNvSpPr/>
          <p:nvPr/>
        </p:nvSpPr>
        <p:spPr>
          <a:xfrm>
            <a:off x="6096000" y="3538835"/>
            <a:ext cx="2641600" cy="0"/>
          </a:xfrm>
          <a:prstGeom prst="line">
            <a:avLst/>
          </a:prstGeom>
          <a:noFill/>
          <a:ln w="25400">
            <a:solidFill>
              <a:srgbClr val="157A73"/>
            </a:solidFill>
            <a:prstDash val="solid"/>
          </a:ln>
        </p:spPr>
        <p:txBody>
          <a:bodyPr/>
          <a:lstStyle/>
          <a:p>
            <a:endParaRPr lang="es-CL"/>
          </a:p>
        </p:txBody>
      </p:sp>
      <p:sp>
        <p:nvSpPr>
          <p:cNvPr id="29" name="Text 27"/>
          <p:cNvSpPr/>
          <p:nvPr/>
        </p:nvSpPr>
        <p:spPr>
          <a:xfrm>
            <a:off x="6096000" y="3703935"/>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API 29+</a:t>
            </a:r>
            <a:endParaRPr lang="en-US" sz="2800" dirty="0"/>
          </a:p>
        </p:txBody>
      </p:sp>
      <p:sp>
        <p:nvSpPr>
          <p:cNvPr id="30" name="Text 28"/>
          <p:cNvSpPr/>
          <p:nvPr/>
        </p:nvSpPr>
        <p:spPr>
          <a:xfrm>
            <a:off x="6096000" y="4158555"/>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RNF-07 · MÓVIL</a:t>
            </a:r>
            <a:endParaRPr lang="en-US" sz="1200" dirty="0"/>
          </a:p>
        </p:txBody>
      </p:sp>
      <p:sp>
        <p:nvSpPr>
          <p:cNvPr id="31" name="Text 29"/>
          <p:cNvSpPr/>
          <p:nvPr/>
        </p:nvSpPr>
        <p:spPr>
          <a:xfrm>
            <a:off x="6096000" y="4435376"/>
            <a:ext cx="27208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Android 10 o superior.</a:t>
            </a:r>
            <a:endParaRPr lang="en-US" sz="1200" dirty="0"/>
          </a:p>
        </p:txBody>
      </p:sp>
      <p:sp>
        <p:nvSpPr>
          <p:cNvPr id="32" name="Shape 30"/>
          <p:cNvSpPr/>
          <p:nvPr/>
        </p:nvSpPr>
        <p:spPr>
          <a:xfrm>
            <a:off x="8737600" y="3538835"/>
            <a:ext cx="2641600" cy="0"/>
          </a:xfrm>
          <a:prstGeom prst="line">
            <a:avLst/>
          </a:prstGeom>
          <a:noFill/>
          <a:ln w="25400">
            <a:solidFill>
              <a:srgbClr val="157A73"/>
            </a:solidFill>
            <a:prstDash val="solid"/>
          </a:ln>
        </p:spPr>
        <p:txBody>
          <a:bodyPr/>
          <a:lstStyle/>
          <a:p>
            <a:endParaRPr lang="es-CL"/>
          </a:p>
        </p:txBody>
      </p:sp>
      <p:sp>
        <p:nvSpPr>
          <p:cNvPr id="33" name="Text 31"/>
          <p:cNvSpPr/>
          <p:nvPr/>
        </p:nvSpPr>
        <p:spPr>
          <a:xfrm>
            <a:off x="8737600" y="3703935"/>
            <a:ext cx="2720848"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F2E33"/>
                </a:solidFill>
                <a:latin typeface="DM Sans" pitchFamily="34" charset="0"/>
                <a:ea typeface="DM Sans" pitchFamily="34" charset="-122"/>
                <a:cs typeface="DM Sans" pitchFamily="34" charset="-120"/>
              </a:rPr>
              <a:t>Docker</a:t>
            </a:r>
            <a:endParaRPr lang="en-US" sz="2800" dirty="0"/>
          </a:p>
        </p:txBody>
      </p:sp>
      <p:sp>
        <p:nvSpPr>
          <p:cNvPr id="34" name="Text 32"/>
          <p:cNvSpPr/>
          <p:nvPr/>
        </p:nvSpPr>
        <p:spPr>
          <a:xfrm>
            <a:off x="8737600" y="4158555"/>
            <a:ext cx="272084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57A73"/>
                </a:solidFill>
                <a:latin typeface="DM Sans" pitchFamily="34" charset="0"/>
                <a:ea typeface="DM Sans" pitchFamily="34" charset="-122"/>
                <a:cs typeface="DM Sans" pitchFamily="34" charset="-120"/>
              </a:rPr>
              <a:t>RNF-08 · DESPLIEGUE</a:t>
            </a:r>
            <a:endParaRPr lang="en-US" sz="1200" dirty="0"/>
          </a:p>
        </p:txBody>
      </p:sp>
      <p:sp>
        <p:nvSpPr>
          <p:cNvPr id="35" name="Text 33"/>
          <p:cNvSpPr/>
          <p:nvPr/>
        </p:nvSpPr>
        <p:spPr>
          <a:xfrm>
            <a:off x="8737600" y="4435376"/>
            <a:ext cx="272084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Backend y base de datos en contenedores.</a:t>
            </a:r>
            <a:endParaRPr lang="en-US" sz="1200" dirty="0"/>
          </a:p>
        </p:txBody>
      </p:sp>
      <p:sp>
        <p:nvSpPr>
          <p:cNvPr id="36" name="Text 34"/>
          <p:cNvSpPr/>
          <p:nvPr/>
        </p:nvSpPr>
        <p:spPr>
          <a:xfrm>
            <a:off x="812800" y="506095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METODOLOGÍA Y EQUIPO</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Metodología de desarrollo y equipo</a:t>
            </a:r>
            <a:endParaRPr lang="en-US" sz="3200" dirty="0"/>
          </a:p>
        </p:txBody>
      </p:sp>
      <p:sp>
        <p:nvSpPr>
          <p:cNvPr id="4" name="Text 2"/>
          <p:cNvSpPr/>
          <p:nvPr/>
        </p:nvSpPr>
        <p:spPr>
          <a:xfrm>
            <a:off x="812800" y="167630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Cada integrante asumió un subsistema vertical especializado según el stack tecnológico.</a:t>
            </a:r>
            <a:endParaRPr lang="en-US" sz="1300" dirty="0"/>
          </a:p>
        </p:txBody>
      </p:sp>
      <p:sp>
        <p:nvSpPr>
          <p:cNvPr id="6" name="Text 4"/>
          <p:cNvSpPr/>
          <p:nvPr/>
        </p:nvSpPr>
        <p:spPr>
          <a:xfrm>
            <a:off x="812800" y="2034275"/>
            <a:ext cx="3629819" cy="314920"/>
          </a:xfrm>
          <a:prstGeom prst="roundRect">
            <a:avLst>
              <a:gd name="adj" fmla="val 50000"/>
            </a:avLst>
          </a:prstGeom>
          <a:solidFill>
            <a:srgbClr val="E3EEEC"/>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DM Sans" pitchFamily="34" charset="0"/>
                <a:ea typeface="DM Sans" pitchFamily="34" charset="-122"/>
                <a:cs typeface="DM Sans" pitchFamily="34" charset="-120"/>
              </a:rPr>
              <a:t>API-first: contrato definido antes de programar</a:t>
            </a:r>
            <a:endParaRPr lang="en-US" sz="1200" dirty="0"/>
          </a:p>
        </p:txBody>
      </p:sp>
      <p:sp>
        <p:nvSpPr>
          <p:cNvPr id="7" name="Text 5"/>
          <p:cNvSpPr/>
          <p:nvPr/>
        </p:nvSpPr>
        <p:spPr>
          <a:xfrm>
            <a:off x="4575393" y="2034275"/>
            <a:ext cx="2420640" cy="314920"/>
          </a:xfrm>
          <a:prstGeom prst="roundRect">
            <a:avLst>
              <a:gd name="adj" fmla="val 50000"/>
            </a:avLst>
          </a:prstGeom>
          <a:solidFill>
            <a:srgbClr val="E3EEEC"/>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DM Sans" pitchFamily="34" charset="0"/>
                <a:ea typeface="DM Sans" pitchFamily="34" charset="-122"/>
                <a:cs typeface="DM Sans" pitchFamily="34" charset="-120"/>
              </a:rPr>
              <a:t>Un repositorio por subsistema</a:t>
            </a:r>
            <a:endParaRPr lang="en-US" sz="1200" dirty="0"/>
          </a:p>
        </p:txBody>
      </p:sp>
      <p:sp>
        <p:nvSpPr>
          <p:cNvPr id="8" name="Text 6"/>
          <p:cNvSpPr/>
          <p:nvPr/>
        </p:nvSpPr>
        <p:spPr>
          <a:xfrm>
            <a:off x="812800" y="2577902"/>
            <a:ext cx="2667000" cy="424160"/>
          </a:xfrm>
          <a:prstGeom prst="roundRect">
            <a:avLst>
              <a:gd name="adj" fmla="val 17965"/>
            </a:avLst>
          </a:prstGeom>
          <a:solidFill>
            <a:srgbClr val="157A73"/>
          </a:solidFill>
          <a:ln/>
        </p:spPr>
        <p:txBody>
          <a:bodyPr wrap="square" lIns="130082" tIns="91982" rIns="59216" bIns="66582" rtlCol="0" anchor="t">
            <a:normAutofit/>
          </a:bodyPr>
          <a:lstStyle/>
          <a:p>
            <a:pPr marL="0" indent="0" algn="l">
              <a:lnSpc>
                <a:spcPts val="1540"/>
              </a:lnSpc>
              <a:buNone/>
            </a:pPr>
            <a:r>
              <a:rPr lang="en-US" sz="1100" b="1" kern="0" spc="100" dirty="0">
                <a:solidFill>
                  <a:srgbClr val="FBFCFB"/>
                </a:solidFill>
                <a:latin typeface="DM Sans" pitchFamily="34" charset="0"/>
                <a:ea typeface="DM Sans" pitchFamily="34" charset="-122"/>
                <a:cs typeface="DM Sans" pitchFamily="34" charset="-120"/>
              </a:rPr>
              <a:t>ROL / SUBSISTEMA</a:t>
            </a:r>
            <a:endParaRPr lang="en-US" sz="1100" dirty="0"/>
          </a:p>
        </p:txBody>
      </p:sp>
      <p:sp>
        <p:nvSpPr>
          <p:cNvPr id="9" name="Text 7"/>
          <p:cNvSpPr/>
          <p:nvPr/>
        </p:nvSpPr>
        <p:spPr>
          <a:xfrm>
            <a:off x="3556000" y="2577902"/>
            <a:ext cx="1905000" cy="424160"/>
          </a:xfrm>
          <a:prstGeom prst="roundRect">
            <a:avLst>
              <a:gd name="adj" fmla="val 17965"/>
            </a:avLst>
          </a:prstGeom>
          <a:solidFill>
            <a:srgbClr val="157A73"/>
          </a:solidFill>
          <a:ln/>
        </p:spPr>
        <p:txBody>
          <a:bodyPr wrap="square" lIns="130082" tIns="91982" rIns="79282" bIns="66582" rtlCol="0" anchor="t">
            <a:normAutofit/>
          </a:bodyPr>
          <a:lstStyle/>
          <a:p>
            <a:pPr marL="0" indent="0" algn="l">
              <a:lnSpc>
                <a:spcPts val="1540"/>
              </a:lnSpc>
              <a:buNone/>
            </a:pPr>
            <a:r>
              <a:rPr lang="en-US" sz="1100" b="1" kern="0" spc="100" dirty="0">
                <a:solidFill>
                  <a:srgbClr val="FBFCFB"/>
                </a:solidFill>
                <a:latin typeface="DM Sans" pitchFamily="34" charset="0"/>
                <a:ea typeface="DM Sans" pitchFamily="34" charset="-122"/>
                <a:cs typeface="DM Sans" pitchFamily="34" charset="-120"/>
              </a:rPr>
              <a:t>RESPONSABLE</a:t>
            </a:r>
            <a:endParaRPr lang="en-US" sz="1100" dirty="0"/>
          </a:p>
        </p:txBody>
      </p:sp>
      <p:sp>
        <p:nvSpPr>
          <p:cNvPr id="10" name="Text 8"/>
          <p:cNvSpPr/>
          <p:nvPr/>
        </p:nvSpPr>
        <p:spPr>
          <a:xfrm>
            <a:off x="5537200" y="2577902"/>
            <a:ext cx="2413000" cy="424160"/>
          </a:xfrm>
          <a:prstGeom prst="roundRect">
            <a:avLst>
              <a:gd name="adj" fmla="val 17965"/>
            </a:avLst>
          </a:prstGeom>
          <a:solidFill>
            <a:srgbClr val="157A73"/>
          </a:solidFill>
          <a:ln/>
        </p:spPr>
        <p:txBody>
          <a:bodyPr wrap="square" lIns="130082" tIns="91982" rIns="66836" bIns="66582" rtlCol="0" anchor="t">
            <a:normAutofit/>
          </a:bodyPr>
          <a:lstStyle/>
          <a:p>
            <a:pPr marL="0" indent="0" algn="l">
              <a:lnSpc>
                <a:spcPts val="1540"/>
              </a:lnSpc>
              <a:buNone/>
            </a:pPr>
            <a:r>
              <a:rPr lang="en-US" sz="1100" b="1" kern="0" spc="100" dirty="0">
                <a:solidFill>
                  <a:srgbClr val="FBFCFB"/>
                </a:solidFill>
                <a:latin typeface="DM Sans" pitchFamily="34" charset="0"/>
                <a:ea typeface="DM Sans" pitchFamily="34" charset="-122"/>
                <a:cs typeface="DM Sans" pitchFamily="34" charset="-120"/>
              </a:rPr>
              <a:t>STACK TECNOLÓGICO</a:t>
            </a:r>
            <a:endParaRPr lang="en-US" sz="1100" dirty="0"/>
          </a:p>
        </p:txBody>
      </p:sp>
      <p:sp>
        <p:nvSpPr>
          <p:cNvPr id="11" name="Text 9"/>
          <p:cNvSpPr/>
          <p:nvPr/>
        </p:nvSpPr>
        <p:spPr>
          <a:xfrm>
            <a:off x="8026400" y="2577902"/>
            <a:ext cx="3352800" cy="424160"/>
          </a:xfrm>
          <a:prstGeom prst="roundRect">
            <a:avLst>
              <a:gd name="adj" fmla="val 17965"/>
            </a:avLst>
          </a:prstGeom>
          <a:solidFill>
            <a:srgbClr val="157A73"/>
          </a:solidFill>
          <a:ln/>
        </p:spPr>
        <p:txBody>
          <a:bodyPr wrap="square" lIns="130082" tIns="91982" rIns="38642" bIns="66582" rtlCol="0" anchor="t">
            <a:normAutofit/>
          </a:bodyPr>
          <a:lstStyle/>
          <a:p>
            <a:pPr marL="0" indent="0" algn="l">
              <a:lnSpc>
                <a:spcPts val="1540"/>
              </a:lnSpc>
              <a:buNone/>
            </a:pPr>
            <a:r>
              <a:rPr lang="en-US" sz="1100" b="1" kern="0" spc="100" dirty="0">
                <a:solidFill>
                  <a:srgbClr val="FBFCFB"/>
                </a:solidFill>
                <a:latin typeface="DM Sans" pitchFamily="34" charset="0"/>
                <a:ea typeface="DM Sans" pitchFamily="34" charset="-122"/>
                <a:cs typeface="DM Sans" pitchFamily="34" charset="-120"/>
              </a:rPr>
              <a:t>ALCANCE CLAVE</a:t>
            </a:r>
            <a:endParaRPr lang="en-US" sz="1100" dirty="0"/>
          </a:p>
        </p:txBody>
      </p:sp>
      <p:sp>
        <p:nvSpPr>
          <p:cNvPr id="12" name="Shape 10"/>
          <p:cNvSpPr/>
          <p:nvPr/>
        </p:nvSpPr>
        <p:spPr>
          <a:xfrm>
            <a:off x="815975" y="3081437"/>
            <a:ext cx="2660650" cy="737791"/>
          </a:xfrm>
          <a:prstGeom prst="roundRect">
            <a:avLst>
              <a:gd name="adj" fmla="val 9898"/>
            </a:avLst>
          </a:prstGeom>
          <a:solidFill>
            <a:srgbClr val="FBFCFB"/>
          </a:solidFill>
          <a:ln w="6350">
            <a:solidFill>
              <a:srgbClr val="DCE3E1"/>
            </a:solidFill>
            <a:prstDash val="solid"/>
          </a:ln>
        </p:spPr>
        <p:txBody>
          <a:bodyPr/>
          <a:lstStyle/>
          <a:p>
            <a:endParaRPr lang="es-CL"/>
          </a:p>
        </p:txBody>
      </p:sp>
      <p:sp>
        <p:nvSpPr>
          <p:cNvPr id="13" name="Shape 11"/>
          <p:cNvSpPr/>
          <p:nvPr/>
        </p:nvSpPr>
        <p:spPr>
          <a:xfrm>
            <a:off x="996950" y="3247132"/>
            <a:ext cx="406400" cy="406400"/>
          </a:xfrm>
          <a:prstGeom prst="roundRect">
            <a:avLst>
              <a:gd name="adj" fmla="val 21875"/>
            </a:avLst>
          </a:prstGeom>
          <a:solidFill>
            <a:srgbClr val="E3EEEC"/>
          </a:solidFill>
          <a:ln/>
        </p:spPr>
        <p:txBody>
          <a:bodyPr/>
          <a:lstStyle/>
          <a:p>
            <a:endParaRPr lang="es-CL"/>
          </a:p>
        </p:txBody>
      </p:sp>
      <p:pic>
        <p:nvPicPr>
          <p:cNvPr id="14" name="Image 0" descr="Code"/>
          <p:cNvPicPr>
            <a:picLocks noChangeAspect="1"/>
          </p:cNvPicPr>
          <p:nvPr/>
        </p:nvPicPr>
        <p:blipFill>
          <a:blip r:embed="rId3"/>
          <a:srcRect/>
          <a:stretch/>
        </p:blipFill>
        <p:spPr>
          <a:xfrm>
            <a:off x="1085850" y="3336032"/>
            <a:ext cx="228600" cy="228600"/>
          </a:xfrm>
          <a:prstGeom prst="rect">
            <a:avLst/>
          </a:prstGeom>
        </p:spPr>
      </p:pic>
      <p:sp>
        <p:nvSpPr>
          <p:cNvPr id="15" name="Text 12"/>
          <p:cNvSpPr/>
          <p:nvPr/>
        </p:nvSpPr>
        <p:spPr>
          <a:xfrm>
            <a:off x="1517650" y="3339207"/>
            <a:ext cx="183134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0F2E33"/>
                </a:solidFill>
                <a:latin typeface="DM Sans" pitchFamily="34" charset="0"/>
                <a:ea typeface="DM Sans" pitchFamily="34" charset="-122"/>
                <a:cs typeface="DM Sans" pitchFamily="34" charset="-120"/>
              </a:rPr>
              <a:t>Backend e IA</a:t>
            </a:r>
            <a:endParaRPr lang="en-US" sz="1400" dirty="0"/>
          </a:p>
        </p:txBody>
      </p:sp>
      <p:sp>
        <p:nvSpPr>
          <p:cNvPr id="16" name="Text 13"/>
          <p:cNvSpPr/>
          <p:nvPr/>
        </p:nvSpPr>
        <p:spPr>
          <a:xfrm>
            <a:off x="3559175" y="3081437"/>
            <a:ext cx="1898650" cy="737791"/>
          </a:xfrm>
          <a:prstGeom prst="roundRect">
            <a:avLst>
              <a:gd name="adj" fmla="val 9898"/>
            </a:avLst>
          </a:prstGeom>
          <a:solidFill>
            <a:srgbClr val="FBFCFB"/>
          </a:solidFill>
          <a:ln w="6350">
            <a:solidFill>
              <a:srgbClr val="DCE3E1"/>
            </a:solidFill>
            <a:prstDash val="solid"/>
          </a:ln>
        </p:spPr>
        <p:txBody>
          <a:bodyPr wrap="square" lIns="159587" tIns="134187" rIns="108787" bIns="134187" rtlCol="0" anchor="ctr">
            <a:normAutofit/>
          </a:bodyPr>
          <a:lstStyle/>
          <a:p>
            <a:pPr marL="0" indent="0" algn="l">
              <a:lnSpc>
                <a:spcPts val="1960"/>
              </a:lnSpc>
              <a:buNone/>
            </a:pPr>
            <a:r>
              <a:rPr lang="en-US" sz="1400" dirty="0">
                <a:solidFill>
                  <a:srgbClr val="0F2E33"/>
                </a:solidFill>
                <a:latin typeface="DM Sans" pitchFamily="34" charset="0"/>
                <a:ea typeface="DM Sans" pitchFamily="34" charset="-122"/>
                <a:cs typeface="DM Sans" pitchFamily="34" charset="-120"/>
              </a:rPr>
              <a:t>Andhre Cruz</a:t>
            </a:r>
            <a:endParaRPr lang="en-US" sz="1400" dirty="0"/>
          </a:p>
        </p:txBody>
      </p:sp>
      <p:sp>
        <p:nvSpPr>
          <p:cNvPr id="17" name="Text 14"/>
          <p:cNvSpPr/>
          <p:nvPr/>
        </p:nvSpPr>
        <p:spPr>
          <a:xfrm>
            <a:off x="5540375" y="3081437"/>
            <a:ext cx="2406650" cy="737791"/>
          </a:xfrm>
          <a:prstGeom prst="roundRect">
            <a:avLst>
              <a:gd name="adj" fmla="val 9898"/>
            </a:avLst>
          </a:prstGeom>
          <a:solidFill>
            <a:srgbClr val="FBFCFB"/>
          </a:solidFill>
          <a:ln w="6350">
            <a:solidFill>
              <a:srgbClr val="DCE3E1"/>
            </a:solidFill>
            <a:prstDash val="solid"/>
          </a:ln>
        </p:spPr>
        <p:txBody>
          <a:bodyPr wrap="square" lIns="159587" tIns="132302" rIns="98246" bIns="132302" rtlCol="0" anchor="ctr">
            <a:normAutofit/>
          </a:bodyPr>
          <a:lstStyle/>
          <a:p>
            <a:pPr marL="0" indent="0" algn="l">
              <a:lnSpc>
                <a:spcPts val="1595"/>
              </a:lnSpc>
              <a:buNone/>
            </a:pPr>
            <a:r>
              <a:rPr lang="en-US" sz="1200" dirty="0">
                <a:solidFill>
                  <a:srgbClr val="157A73"/>
                </a:solidFill>
                <a:latin typeface="JetBrains Mono" pitchFamily="49" charset="0"/>
                <a:ea typeface="JetBrains Mono" pitchFamily="49" charset="-122"/>
                <a:cs typeface="JetBrains Mono" pitchFamily="49" charset="-120"/>
              </a:rPr>
              <a:t>Python · FastAPI</a:t>
            </a:r>
            <a:endParaRPr lang="en-US" sz="1200" dirty="0"/>
          </a:p>
          <a:p>
            <a:pPr marL="0" indent="0" algn="l">
              <a:lnSpc>
                <a:spcPts val="1595"/>
              </a:lnSpc>
              <a:buNone/>
            </a:pPr>
            <a:r>
              <a:rPr lang="en-US" sz="1200" dirty="0">
                <a:solidFill>
                  <a:srgbClr val="157A73"/>
                </a:solidFill>
                <a:latin typeface="JetBrains Mono" pitchFamily="49" charset="0"/>
                <a:ea typeface="JetBrains Mono" pitchFamily="49" charset="-122"/>
                <a:cs typeface="JetBrains Mono" pitchFamily="49" charset="-120"/>
              </a:rPr>
              <a:t>PostgreSQL · OpenAI</a:t>
            </a:r>
            <a:endParaRPr lang="en-US" sz="1200" dirty="0"/>
          </a:p>
        </p:txBody>
      </p:sp>
      <p:sp>
        <p:nvSpPr>
          <p:cNvPr id="18" name="Text 15"/>
          <p:cNvSpPr/>
          <p:nvPr/>
        </p:nvSpPr>
        <p:spPr>
          <a:xfrm>
            <a:off x="8029575" y="3081437"/>
            <a:ext cx="3346450" cy="737791"/>
          </a:xfrm>
          <a:prstGeom prst="roundRect">
            <a:avLst>
              <a:gd name="adj" fmla="val 9898"/>
            </a:avLst>
          </a:prstGeom>
          <a:solidFill>
            <a:srgbClr val="FBFCFB"/>
          </a:solidFill>
          <a:ln w="6350">
            <a:solidFill>
              <a:srgbClr val="DCE3E1"/>
            </a:solidFill>
            <a:prstDash val="solid"/>
          </a:ln>
        </p:spPr>
        <p:txBody>
          <a:bodyPr wrap="square" lIns="159587" tIns="121487" rIns="70052" bIns="121487" rtlCol="0" anchor="ctr">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API-first, autenticación y roles, pipeline de IA y seguridad de los datos.</a:t>
            </a:r>
            <a:endParaRPr lang="en-US" sz="1200" dirty="0"/>
          </a:p>
        </p:txBody>
      </p:sp>
      <p:sp>
        <p:nvSpPr>
          <p:cNvPr id="19" name="Shape 16"/>
          <p:cNvSpPr/>
          <p:nvPr/>
        </p:nvSpPr>
        <p:spPr>
          <a:xfrm>
            <a:off x="815975" y="3901777"/>
            <a:ext cx="2660650" cy="737791"/>
          </a:xfrm>
          <a:prstGeom prst="roundRect">
            <a:avLst>
              <a:gd name="adj" fmla="val 9898"/>
            </a:avLst>
          </a:prstGeom>
          <a:solidFill>
            <a:srgbClr val="FBFCFB"/>
          </a:solidFill>
          <a:ln w="6350">
            <a:solidFill>
              <a:srgbClr val="DCE3E1"/>
            </a:solidFill>
            <a:prstDash val="solid"/>
          </a:ln>
        </p:spPr>
        <p:txBody>
          <a:bodyPr/>
          <a:lstStyle/>
          <a:p>
            <a:endParaRPr lang="es-CL"/>
          </a:p>
        </p:txBody>
      </p:sp>
      <p:sp>
        <p:nvSpPr>
          <p:cNvPr id="20" name="Shape 17"/>
          <p:cNvSpPr/>
          <p:nvPr/>
        </p:nvSpPr>
        <p:spPr>
          <a:xfrm>
            <a:off x="996950" y="4067473"/>
            <a:ext cx="406400" cy="406400"/>
          </a:xfrm>
          <a:prstGeom prst="roundRect">
            <a:avLst>
              <a:gd name="adj" fmla="val 21875"/>
            </a:avLst>
          </a:prstGeom>
          <a:solidFill>
            <a:srgbClr val="E3EEEC"/>
          </a:solidFill>
          <a:ln/>
        </p:spPr>
        <p:txBody>
          <a:bodyPr/>
          <a:lstStyle/>
          <a:p>
            <a:endParaRPr lang="es-CL"/>
          </a:p>
        </p:txBody>
      </p:sp>
      <p:pic>
        <p:nvPicPr>
          <p:cNvPr id="21" name="Image 1" descr="Chart"/>
          <p:cNvPicPr>
            <a:picLocks noChangeAspect="1"/>
          </p:cNvPicPr>
          <p:nvPr/>
        </p:nvPicPr>
        <p:blipFill>
          <a:blip r:embed="rId4"/>
          <a:srcRect/>
          <a:stretch/>
        </p:blipFill>
        <p:spPr>
          <a:xfrm>
            <a:off x="1085850" y="4156373"/>
            <a:ext cx="228600" cy="228600"/>
          </a:xfrm>
          <a:prstGeom prst="rect">
            <a:avLst/>
          </a:prstGeom>
        </p:spPr>
      </p:pic>
      <p:sp>
        <p:nvSpPr>
          <p:cNvPr id="22" name="Text 18"/>
          <p:cNvSpPr/>
          <p:nvPr/>
        </p:nvSpPr>
        <p:spPr>
          <a:xfrm>
            <a:off x="1517650" y="4159548"/>
            <a:ext cx="183134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0F2E33"/>
                </a:solidFill>
                <a:latin typeface="DM Sans" pitchFamily="34" charset="0"/>
                <a:ea typeface="DM Sans" pitchFamily="34" charset="-122"/>
                <a:cs typeface="DM Sans" pitchFamily="34" charset="-120"/>
              </a:rPr>
              <a:t>Plataforma web</a:t>
            </a:r>
            <a:endParaRPr lang="en-US" sz="1400" dirty="0"/>
          </a:p>
        </p:txBody>
      </p:sp>
      <p:sp>
        <p:nvSpPr>
          <p:cNvPr id="23" name="Text 19"/>
          <p:cNvSpPr/>
          <p:nvPr/>
        </p:nvSpPr>
        <p:spPr>
          <a:xfrm>
            <a:off x="3559175" y="3901777"/>
            <a:ext cx="1898650" cy="737791"/>
          </a:xfrm>
          <a:prstGeom prst="roundRect">
            <a:avLst>
              <a:gd name="adj" fmla="val 9898"/>
            </a:avLst>
          </a:prstGeom>
          <a:solidFill>
            <a:srgbClr val="FBFCFB"/>
          </a:solidFill>
          <a:ln w="6350">
            <a:solidFill>
              <a:srgbClr val="DCE3E1"/>
            </a:solidFill>
            <a:prstDash val="solid"/>
          </a:ln>
        </p:spPr>
        <p:txBody>
          <a:bodyPr wrap="none" lIns="0" tIns="134187" rIns="0" bIns="134187" rtlCol="0" anchor="ctr">
            <a:normAutofit/>
          </a:bodyPr>
          <a:lstStyle/>
          <a:p>
            <a:pPr marL="0" indent="0" algn="ctr">
              <a:lnSpc>
                <a:spcPts val="1960"/>
              </a:lnSpc>
              <a:buNone/>
            </a:pPr>
            <a:r>
              <a:rPr lang="en-US" sz="1400" dirty="0">
                <a:solidFill>
                  <a:srgbClr val="0F2E33"/>
                </a:solidFill>
                <a:latin typeface="DM Sans" pitchFamily="34" charset="0"/>
                <a:ea typeface="DM Sans" pitchFamily="34" charset="-122"/>
                <a:cs typeface="DM Sans" pitchFamily="34" charset="-120"/>
              </a:rPr>
              <a:t>Sebastián Polanco</a:t>
            </a:r>
            <a:endParaRPr lang="en-US" sz="1400" dirty="0"/>
          </a:p>
        </p:txBody>
      </p:sp>
      <p:sp>
        <p:nvSpPr>
          <p:cNvPr id="24" name="Text 20"/>
          <p:cNvSpPr/>
          <p:nvPr/>
        </p:nvSpPr>
        <p:spPr>
          <a:xfrm>
            <a:off x="5540375" y="3901777"/>
            <a:ext cx="2406650" cy="737791"/>
          </a:xfrm>
          <a:prstGeom prst="roundRect">
            <a:avLst>
              <a:gd name="adj" fmla="val 9898"/>
            </a:avLst>
          </a:prstGeom>
          <a:solidFill>
            <a:srgbClr val="FBFCFB"/>
          </a:solidFill>
          <a:ln w="6350">
            <a:solidFill>
              <a:srgbClr val="DCE3E1"/>
            </a:solidFill>
            <a:prstDash val="solid"/>
          </a:ln>
        </p:spPr>
        <p:txBody>
          <a:bodyPr wrap="square" lIns="159587" tIns="132302" rIns="98246" bIns="132302" rtlCol="0" anchor="ctr">
            <a:normAutofit/>
          </a:bodyPr>
          <a:lstStyle/>
          <a:p>
            <a:pPr marL="0" indent="0" algn="l">
              <a:lnSpc>
                <a:spcPts val="1595"/>
              </a:lnSpc>
              <a:buNone/>
            </a:pPr>
            <a:r>
              <a:rPr lang="en-US" sz="1200" dirty="0">
                <a:solidFill>
                  <a:srgbClr val="157A73"/>
                </a:solidFill>
                <a:latin typeface="JetBrains Mono" pitchFamily="49" charset="0"/>
                <a:ea typeface="JetBrains Mono" pitchFamily="49" charset="-122"/>
                <a:cs typeface="JetBrains Mono" pitchFamily="49" charset="-120"/>
              </a:rPr>
              <a:t>React · JavaScript</a:t>
            </a:r>
            <a:endParaRPr lang="en-US" sz="1200" dirty="0"/>
          </a:p>
          <a:p>
            <a:pPr marL="0" indent="0" algn="l">
              <a:lnSpc>
                <a:spcPts val="1595"/>
              </a:lnSpc>
              <a:buNone/>
            </a:pPr>
            <a:r>
              <a:rPr lang="en-US" sz="1200" dirty="0">
                <a:solidFill>
                  <a:srgbClr val="157A73"/>
                </a:solidFill>
                <a:latin typeface="JetBrains Mono" pitchFamily="49" charset="0"/>
                <a:ea typeface="JetBrains Mono" pitchFamily="49" charset="-122"/>
                <a:cs typeface="JetBrains Mono" pitchFamily="49" charset="-120"/>
              </a:rPr>
              <a:t>HTML · CSS</a:t>
            </a:r>
            <a:endParaRPr lang="en-US" sz="1200" dirty="0"/>
          </a:p>
        </p:txBody>
      </p:sp>
      <p:sp>
        <p:nvSpPr>
          <p:cNvPr id="25" name="Text 21"/>
          <p:cNvSpPr/>
          <p:nvPr/>
        </p:nvSpPr>
        <p:spPr>
          <a:xfrm>
            <a:off x="8029575" y="3901777"/>
            <a:ext cx="3346450" cy="737791"/>
          </a:xfrm>
          <a:prstGeom prst="roundRect">
            <a:avLst>
              <a:gd name="adj" fmla="val 9898"/>
            </a:avLst>
          </a:prstGeom>
          <a:solidFill>
            <a:srgbClr val="FBFCFB"/>
          </a:solidFill>
          <a:ln w="6350">
            <a:solidFill>
              <a:srgbClr val="DCE3E1"/>
            </a:solidFill>
            <a:prstDash val="solid"/>
          </a:ln>
        </p:spPr>
        <p:txBody>
          <a:bodyPr wrap="square" lIns="159587" tIns="121487" rIns="70052" bIns="121487" rtlCol="0" anchor="ctr">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Dashboard del médico, triage, resúmenes clínicos y gestión del administrador.</a:t>
            </a:r>
            <a:endParaRPr lang="en-US" sz="1200" dirty="0"/>
          </a:p>
        </p:txBody>
      </p:sp>
      <p:sp>
        <p:nvSpPr>
          <p:cNvPr id="26" name="Shape 22"/>
          <p:cNvSpPr/>
          <p:nvPr/>
        </p:nvSpPr>
        <p:spPr>
          <a:xfrm>
            <a:off x="815975" y="4722118"/>
            <a:ext cx="2660650" cy="737791"/>
          </a:xfrm>
          <a:prstGeom prst="roundRect">
            <a:avLst>
              <a:gd name="adj" fmla="val 9898"/>
            </a:avLst>
          </a:prstGeom>
          <a:solidFill>
            <a:srgbClr val="FBFCFB"/>
          </a:solidFill>
          <a:ln w="6350">
            <a:solidFill>
              <a:srgbClr val="DCE3E1"/>
            </a:solidFill>
            <a:prstDash val="solid"/>
          </a:ln>
        </p:spPr>
        <p:txBody>
          <a:bodyPr/>
          <a:lstStyle/>
          <a:p>
            <a:endParaRPr lang="es-CL"/>
          </a:p>
        </p:txBody>
      </p:sp>
      <p:sp>
        <p:nvSpPr>
          <p:cNvPr id="27" name="Shape 23"/>
          <p:cNvSpPr/>
          <p:nvPr/>
        </p:nvSpPr>
        <p:spPr>
          <a:xfrm>
            <a:off x="996950" y="4887813"/>
            <a:ext cx="406400" cy="406400"/>
          </a:xfrm>
          <a:prstGeom prst="roundRect">
            <a:avLst>
              <a:gd name="adj" fmla="val 21875"/>
            </a:avLst>
          </a:prstGeom>
          <a:solidFill>
            <a:srgbClr val="E3EEEC"/>
          </a:solidFill>
          <a:ln/>
        </p:spPr>
        <p:txBody>
          <a:bodyPr/>
          <a:lstStyle/>
          <a:p>
            <a:endParaRPr lang="es-CL"/>
          </a:p>
        </p:txBody>
      </p:sp>
      <p:pic>
        <p:nvPicPr>
          <p:cNvPr id="28" name="Image 2" descr="Activity"/>
          <p:cNvPicPr>
            <a:picLocks noChangeAspect="1"/>
          </p:cNvPicPr>
          <p:nvPr/>
        </p:nvPicPr>
        <p:blipFill>
          <a:blip r:embed="rId5"/>
          <a:srcRect/>
          <a:stretch/>
        </p:blipFill>
        <p:spPr>
          <a:xfrm>
            <a:off x="1085850" y="4976713"/>
            <a:ext cx="228600" cy="228600"/>
          </a:xfrm>
          <a:prstGeom prst="rect">
            <a:avLst/>
          </a:prstGeom>
        </p:spPr>
      </p:pic>
      <p:sp>
        <p:nvSpPr>
          <p:cNvPr id="29" name="Text 24"/>
          <p:cNvSpPr/>
          <p:nvPr/>
        </p:nvSpPr>
        <p:spPr>
          <a:xfrm>
            <a:off x="1517650" y="4979888"/>
            <a:ext cx="183134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0F2E33"/>
                </a:solidFill>
                <a:latin typeface="DM Sans" pitchFamily="34" charset="0"/>
                <a:ea typeface="DM Sans" pitchFamily="34" charset="-122"/>
                <a:cs typeface="DM Sans" pitchFamily="34" charset="-120"/>
              </a:rPr>
              <a:t>App móvil y Edge AI</a:t>
            </a:r>
            <a:endParaRPr lang="en-US" sz="1400" dirty="0"/>
          </a:p>
        </p:txBody>
      </p:sp>
      <p:sp>
        <p:nvSpPr>
          <p:cNvPr id="30" name="Text 25"/>
          <p:cNvSpPr/>
          <p:nvPr/>
        </p:nvSpPr>
        <p:spPr>
          <a:xfrm>
            <a:off x="3559175" y="4722118"/>
            <a:ext cx="1898650" cy="737791"/>
          </a:xfrm>
          <a:prstGeom prst="roundRect">
            <a:avLst>
              <a:gd name="adj" fmla="val 9898"/>
            </a:avLst>
          </a:prstGeom>
          <a:solidFill>
            <a:srgbClr val="FBFCFB"/>
          </a:solidFill>
          <a:ln w="6350">
            <a:solidFill>
              <a:srgbClr val="DCE3E1"/>
            </a:solidFill>
            <a:prstDash val="solid"/>
          </a:ln>
        </p:spPr>
        <p:txBody>
          <a:bodyPr wrap="square" lIns="159587" tIns="134187" rIns="108787" bIns="134187" rtlCol="0" anchor="ctr">
            <a:normAutofit/>
          </a:bodyPr>
          <a:lstStyle/>
          <a:p>
            <a:pPr marL="0" indent="0" algn="l">
              <a:lnSpc>
                <a:spcPts val="1960"/>
              </a:lnSpc>
              <a:buNone/>
            </a:pPr>
            <a:r>
              <a:rPr lang="en-US" sz="1400" dirty="0">
                <a:solidFill>
                  <a:srgbClr val="0F2E33"/>
                </a:solidFill>
                <a:latin typeface="DM Sans" pitchFamily="34" charset="0"/>
                <a:ea typeface="DM Sans" pitchFamily="34" charset="-122"/>
                <a:cs typeface="DM Sans" pitchFamily="34" charset="-120"/>
              </a:rPr>
              <a:t>Nicolás Kacic</a:t>
            </a:r>
            <a:endParaRPr lang="en-US" sz="1400" dirty="0"/>
          </a:p>
        </p:txBody>
      </p:sp>
      <p:sp>
        <p:nvSpPr>
          <p:cNvPr id="31" name="Text 26"/>
          <p:cNvSpPr/>
          <p:nvPr/>
        </p:nvSpPr>
        <p:spPr>
          <a:xfrm>
            <a:off x="5540375" y="4722118"/>
            <a:ext cx="2406650" cy="737791"/>
          </a:xfrm>
          <a:prstGeom prst="roundRect">
            <a:avLst>
              <a:gd name="adj" fmla="val 9898"/>
            </a:avLst>
          </a:prstGeom>
          <a:solidFill>
            <a:srgbClr val="FBFCFB"/>
          </a:solidFill>
          <a:ln w="6350">
            <a:solidFill>
              <a:srgbClr val="DCE3E1"/>
            </a:solidFill>
            <a:prstDash val="solid"/>
          </a:ln>
        </p:spPr>
        <p:txBody>
          <a:bodyPr wrap="square" lIns="159587" tIns="132302" rIns="98246" bIns="132302" rtlCol="0" anchor="ctr">
            <a:normAutofit/>
          </a:bodyPr>
          <a:lstStyle/>
          <a:p>
            <a:pPr marL="0" indent="0" algn="l">
              <a:lnSpc>
                <a:spcPts val="1595"/>
              </a:lnSpc>
              <a:buNone/>
            </a:pPr>
            <a:r>
              <a:rPr lang="en-US" sz="1200" dirty="0">
                <a:solidFill>
                  <a:srgbClr val="157A73"/>
                </a:solidFill>
                <a:latin typeface="JetBrains Mono" pitchFamily="49" charset="0"/>
                <a:ea typeface="JetBrains Mono" pitchFamily="49" charset="-122"/>
                <a:cs typeface="JetBrains Mono" pitchFamily="49" charset="-120"/>
              </a:rPr>
              <a:t>Kotlin · Jetpack Compose</a:t>
            </a:r>
            <a:endParaRPr lang="en-US" sz="1200" dirty="0"/>
          </a:p>
          <a:p>
            <a:pPr marL="0" indent="0" algn="l">
              <a:lnSpc>
                <a:spcPts val="1595"/>
              </a:lnSpc>
              <a:buNone/>
            </a:pPr>
            <a:r>
              <a:rPr lang="en-US" sz="1200" dirty="0">
                <a:solidFill>
                  <a:srgbClr val="157A73"/>
                </a:solidFill>
                <a:latin typeface="JetBrains Mono" pitchFamily="49" charset="0"/>
                <a:ea typeface="JetBrains Mono" pitchFamily="49" charset="-122"/>
                <a:cs typeface="JetBrains Mono" pitchFamily="49" charset="-120"/>
              </a:rPr>
              <a:t>MediaPipe</a:t>
            </a:r>
            <a:endParaRPr lang="en-US" sz="1200" dirty="0"/>
          </a:p>
        </p:txBody>
      </p:sp>
      <p:sp>
        <p:nvSpPr>
          <p:cNvPr id="32" name="Text 27"/>
          <p:cNvSpPr/>
          <p:nvPr/>
        </p:nvSpPr>
        <p:spPr>
          <a:xfrm>
            <a:off x="8029575" y="4722118"/>
            <a:ext cx="3346450" cy="737791"/>
          </a:xfrm>
          <a:prstGeom prst="roundRect">
            <a:avLst>
              <a:gd name="adj" fmla="val 9898"/>
            </a:avLst>
          </a:prstGeom>
          <a:solidFill>
            <a:srgbClr val="FBFCFB"/>
          </a:solidFill>
          <a:ln w="6350">
            <a:solidFill>
              <a:srgbClr val="DCE3E1"/>
            </a:solidFill>
            <a:prstDash val="solid"/>
          </a:ln>
        </p:spPr>
        <p:txBody>
          <a:bodyPr wrap="square" lIns="159587" tIns="121487" rIns="70052" bIns="121487" rtlCol="0" anchor="ctr">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Flujo del paciente, rastreo de 33 puntos y cálculo de ángulos en el dispositivo.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5"/>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3086576" y="711200"/>
            <a:ext cx="6018848" cy="472380"/>
          </a:xfrm>
          <a:prstGeom prst="rect">
            <a:avLst/>
          </a:prstGeom>
          <a:noFill/>
          <a:ln/>
        </p:spPr>
        <p:txBody>
          <a:bodyPr wrap="square" lIns="0" tIns="0" rIns="0" bIns="0" rtlCol="0" anchor="t">
            <a:normAutofit/>
          </a:bodyPr>
          <a:lstStyle/>
          <a:p>
            <a:pPr marL="0" indent="0" algn="ctr">
              <a:lnSpc>
                <a:spcPts val="3520"/>
              </a:lnSpc>
              <a:buNone/>
            </a:pPr>
            <a:r>
              <a:rPr lang="en-US" sz="3200" b="1" i="0" kern="0" spc="-50" dirty="0">
                <a:solidFill>
                  <a:srgbClr val="0F2E33"/>
                </a:solidFill>
                <a:latin typeface="DM Sans" pitchFamily="34" charset="0"/>
                <a:ea typeface="DM Sans" pitchFamily="34" charset="-122"/>
                <a:cs typeface="DM Sans" pitchFamily="34" charset="-120"/>
              </a:rPr>
              <a:t>Arquitectura del proyecto</a:t>
            </a:r>
            <a:endParaRPr lang="en-US" sz="3200" dirty="0"/>
          </a:p>
        </p:txBody>
      </p:sp>
      <p:sp>
        <p:nvSpPr>
          <p:cNvPr id="3" name="Text 1"/>
          <p:cNvSpPr/>
          <p:nvPr/>
        </p:nvSpPr>
        <p:spPr>
          <a:xfrm>
            <a:off x="2621885" y="1247080"/>
            <a:ext cx="6948130" cy="27424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5555A"/>
                </a:solidFill>
                <a:latin typeface="DM Sans" pitchFamily="34" charset="0"/>
                <a:ea typeface="DM Sans" pitchFamily="34" charset="-122"/>
                <a:cs typeface="DM Sans" pitchFamily="34" charset="-120"/>
              </a:rPr>
              <a:t>Arquitectura distribuida de tres capas orientada a servicios (API-first).</a:t>
            </a:r>
            <a:endParaRPr lang="en-US" sz="1400" dirty="0"/>
          </a:p>
        </p:txBody>
      </p:sp>
      <p:sp>
        <p:nvSpPr>
          <p:cNvPr id="4" name="Shape 2"/>
          <p:cNvSpPr/>
          <p:nvPr/>
        </p:nvSpPr>
        <p:spPr>
          <a:xfrm>
            <a:off x="1588691" y="1584821"/>
            <a:ext cx="9014520" cy="416520"/>
          </a:xfrm>
          <a:prstGeom prst="roundRect">
            <a:avLst>
              <a:gd name="adj" fmla="val 18294"/>
            </a:avLst>
          </a:prstGeom>
          <a:solidFill>
            <a:srgbClr val="E3EEEC"/>
          </a:solidFill>
          <a:ln/>
        </p:spPr>
        <p:txBody>
          <a:bodyPr/>
          <a:lstStyle/>
          <a:p>
            <a:endParaRPr lang="es-CL"/>
          </a:p>
        </p:txBody>
      </p:sp>
      <p:sp>
        <p:nvSpPr>
          <p:cNvPr id="5" name="Shape 3"/>
          <p:cNvSpPr/>
          <p:nvPr/>
        </p:nvSpPr>
        <p:spPr>
          <a:xfrm>
            <a:off x="1588691" y="1584821"/>
            <a:ext cx="9014520" cy="416520"/>
          </a:xfrm>
          <a:custGeom>
            <a:avLst/>
            <a:gdLst/>
            <a:ahLst/>
            <a:cxnLst/>
            <a:rect l="l" t="t" r="r" b="b"/>
            <a:pathLst>
              <a:path w="9014520" h="416520">
                <a:moveTo>
                  <a:pt x="76200" y="416520"/>
                </a:moveTo>
                <a:lnTo>
                  <a:pt x="76200" y="416520"/>
                </a:lnTo>
                <a:arcTo wR="76200" hR="76200" stAng="5400000" swAng="5400000"/>
                <a:lnTo>
                  <a:pt x="0" y="76200"/>
                </a:lnTo>
                <a:arcTo wR="76200" hR="76200" stAng="10800000" swAng="5400000"/>
                <a:lnTo>
                  <a:pt x="76200" y="0"/>
                </a:lnTo>
                <a:arcTo wR="38100" hR="76200" stAng="16200000" swAng="-5400000"/>
                <a:lnTo>
                  <a:pt x="38100" y="340320"/>
                </a:lnTo>
                <a:arcTo wR="38100" hR="76200" stAng="10800000" swAng="-5400000"/>
                <a:close/>
              </a:path>
            </a:pathLst>
          </a:custGeom>
          <a:solidFill>
            <a:srgbClr val="157A73"/>
          </a:solidFill>
          <a:ln/>
        </p:spPr>
        <p:txBody>
          <a:bodyPr/>
          <a:lstStyle/>
          <a:p>
            <a:endParaRPr lang="es-CL"/>
          </a:p>
        </p:txBody>
      </p:sp>
      <p:pic>
        <p:nvPicPr>
          <p:cNvPr id="6" name="Image 0" descr="Link"/>
          <p:cNvPicPr>
            <a:picLocks noChangeAspect="1"/>
          </p:cNvPicPr>
          <p:nvPr/>
        </p:nvPicPr>
        <p:blipFill>
          <a:blip r:embed="rId3"/>
          <a:srcRect/>
          <a:stretch/>
        </p:blipFill>
        <p:spPr>
          <a:xfrm>
            <a:off x="1804591" y="1691481"/>
            <a:ext cx="203200" cy="203200"/>
          </a:xfrm>
          <a:prstGeom prst="rect">
            <a:avLst/>
          </a:prstGeom>
        </p:spPr>
      </p:pic>
      <p:sp>
        <p:nvSpPr>
          <p:cNvPr id="7" name="Text 4"/>
          <p:cNvSpPr/>
          <p:nvPr/>
        </p:nvSpPr>
        <p:spPr>
          <a:xfrm>
            <a:off x="2109391" y="1686421"/>
            <a:ext cx="8565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2E33"/>
                </a:solidFill>
                <a:latin typeface="DM Sans" pitchFamily="34" charset="0"/>
                <a:ea typeface="DM Sans" pitchFamily="34" charset="-122"/>
                <a:cs typeface="DM Sans" pitchFamily="34" charset="-120"/>
              </a:rPr>
              <a:t>El movimiento se procesa en el celular (Edge ML); el backend centraliza lógica, datos e IA, y conecta la app con la web.</a:t>
            </a:r>
            <a:endParaRPr lang="en-US" sz="1200" dirty="0"/>
          </a:p>
        </p:txBody>
      </p:sp>
      <p:sp>
        <p:nvSpPr>
          <p:cNvPr id="8" name="Shape 5"/>
          <p:cNvSpPr/>
          <p:nvPr/>
        </p:nvSpPr>
        <p:spPr>
          <a:xfrm>
            <a:off x="815975" y="2207716"/>
            <a:ext cx="3007717" cy="3935909"/>
          </a:xfrm>
          <a:prstGeom prst="roundRect">
            <a:avLst>
              <a:gd name="adj" fmla="val 4117"/>
            </a:avLst>
          </a:prstGeom>
          <a:solidFill>
            <a:srgbClr val="FBFCFB"/>
          </a:solidFill>
          <a:ln w="6350">
            <a:solidFill>
              <a:srgbClr val="DCE3E1"/>
            </a:solidFill>
            <a:prstDash val="solid"/>
          </a:ln>
        </p:spPr>
        <p:txBody>
          <a:bodyPr/>
          <a:lstStyle/>
          <a:p>
            <a:endParaRPr lang="es-CL"/>
          </a:p>
        </p:txBody>
      </p:sp>
      <p:sp>
        <p:nvSpPr>
          <p:cNvPr id="9" name="Text 6"/>
          <p:cNvSpPr/>
          <p:nvPr/>
        </p:nvSpPr>
        <p:spPr>
          <a:xfrm>
            <a:off x="996950" y="2388691"/>
            <a:ext cx="272514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157A73"/>
                </a:solidFill>
                <a:latin typeface="DM Sans" pitchFamily="34" charset="0"/>
                <a:ea typeface="DM Sans" pitchFamily="34" charset="-122"/>
                <a:cs typeface="DM Sans" pitchFamily="34" charset="-120"/>
              </a:rPr>
              <a:t>01 · Adquisición y borde</a:t>
            </a:r>
            <a:endParaRPr lang="en-US" sz="1100" dirty="0"/>
          </a:p>
        </p:txBody>
      </p:sp>
      <p:sp>
        <p:nvSpPr>
          <p:cNvPr id="10" name="Text 7"/>
          <p:cNvSpPr/>
          <p:nvPr/>
        </p:nvSpPr>
        <p:spPr>
          <a:xfrm>
            <a:off x="996950" y="2673152"/>
            <a:ext cx="2725140" cy="28823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0F2E33"/>
                </a:solidFill>
                <a:latin typeface="DM Sans" pitchFamily="34" charset="0"/>
                <a:ea typeface="DM Sans" pitchFamily="34" charset="-122"/>
                <a:cs typeface="DM Sans" pitchFamily="34" charset="-120"/>
              </a:rPr>
              <a:t>App móvil</a:t>
            </a:r>
            <a:endParaRPr lang="en-US" sz="1800" dirty="0"/>
          </a:p>
        </p:txBody>
      </p:sp>
      <p:sp>
        <p:nvSpPr>
          <p:cNvPr id="11" name="Text 8"/>
          <p:cNvSpPr/>
          <p:nvPr/>
        </p:nvSpPr>
        <p:spPr>
          <a:xfrm>
            <a:off x="996950" y="2948682"/>
            <a:ext cx="27251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Nicolás Kacic</a:t>
            </a:r>
            <a:endParaRPr lang="en-US" sz="1200" dirty="0"/>
          </a:p>
        </p:txBody>
      </p:sp>
      <p:sp>
        <p:nvSpPr>
          <p:cNvPr id="12" name="Shape 9"/>
          <p:cNvSpPr/>
          <p:nvPr/>
        </p:nvSpPr>
        <p:spPr>
          <a:xfrm>
            <a:off x="996950" y="3250902"/>
            <a:ext cx="2645767" cy="952500"/>
          </a:xfrm>
          <a:prstGeom prst="roundRect">
            <a:avLst>
              <a:gd name="adj" fmla="val 9333"/>
            </a:avLst>
          </a:prstGeom>
          <a:solidFill>
            <a:srgbClr val="0F2E33"/>
          </a:solidFill>
          <a:ln/>
        </p:spPr>
        <p:txBody>
          <a:bodyPr/>
          <a:lstStyle/>
          <a:p>
            <a:endParaRPr lang="es-CL"/>
          </a:p>
        </p:txBody>
      </p:sp>
      <p:pic>
        <p:nvPicPr>
          <p:cNvPr id="13" name="Image 1" descr="Celular con la detección de articulaciones"/>
          <p:cNvPicPr>
            <a:picLocks noChangeAspect="1"/>
          </p:cNvPicPr>
          <p:nvPr/>
        </p:nvPicPr>
        <p:blipFill>
          <a:blip r:embed="rId4"/>
          <a:srcRect l="-312" r="-312"/>
          <a:stretch/>
        </p:blipFill>
        <p:spPr>
          <a:xfrm>
            <a:off x="1123950" y="3282652"/>
            <a:ext cx="508000" cy="889000"/>
          </a:xfrm>
          <a:prstGeom prst="rect">
            <a:avLst/>
          </a:prstGeom>
        </p:spPr>
      </p:pic>
      <p:sp>
        <p:nvSpPr>
          <p:cNvPr id="14" name="Text 10"/>
          <p:cNvSpPr/>
          <p:nvPr/>
        </p:nvSpPr>
        <p:spPr>
          <a:xfrm>
            <a:off x="1758950" y="3497263"/>
            <a:ext cx="18094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CC4BB"/>
                </a:solidFill>
                <a:latin typeface="DM Sans" pitchFamily="34" charset="0"/>
                <a:ea typeface="DM Sans" pitchFamily="34" charset="-122"/>
                <a:cs typeface="DM Sans" pitchFamily="34" charset="-120"/>
              </a:rPr>
              <a:t>33 puntos clave</a:t>
            </a:r>
            <a:endParaRPr lang="en-US" sz="1200" dirty="0"/>
          </a:p>
        </p:txBody>
      </p:sp>
      <p:sp>
        <p:nvSpPr>
          <p:cNvPr id="15" name="Text 11"/>
          <p:cNvSpPr/>
          <p:nvPr/>
        </p:nvSpPr>
        <p:spPr>
          <a:xfrm>
            <a:off x="1758950" y="3761383"/>
            <a:ext cx="1809470"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FD3D1"/>
                </a:solidFill>
                <a:latin typeface="DM Sans" pitchFamily="34" charset="0"/>
                <a:ea typeface="DM Sans" pitchFamily="34" charset="-122"/>
                <a:cs typeface="DM Sans" pitchFamily="34" charset="-120"/>
              </a:rPr>
              <a:t>Ángulo máx. y mín.</a:t>
            </a:r>
            <a:endParaRPr lang="en-US" sz="1100" dirty="0"/>
          </a:p>
        </p:txBody>
      </p:sp>
      <p:sp>
        <p:nvSpPr>
          <p:cNvPr id="16" name="Text 12"/>
          <p:cNvSpPr/>
          <p:nvPr/>
        </p:nvSpPr>
        <p:spPr>
          <a:xfrm>
            <a:off x="996950" y="4292302"/>
            <a:ext cx="2725140" cy="203200"/>
          </a:xfrm>
          <a:prstGeom prst="rect">
            <a:avLst/>
          </a:prstGeom>
          <a:noFill/>
          <a:ln/>
        </p:spPr>
        <p:txBody>
          <a:bodyPr wrap="square" lIns="0" tIns="0" rIns="0" bIns="0" rtlCol="0" anchor="t">
            <a:normAutofit/>
          </a:bodyPr>
          <a:lstStyle/>
          <a:p>
            <a:pPr marL="0" indent="0" algn="l">
              <a:lnSpc>
                <a:spcPts val="1400"/>
              </a:lnSpc>
              <a:buNone/>
            </a:pPr>
            <a:r>
              <a:rPr lang="en-US" sz="1000" b="1" kern="0" spc="100" dirty="0">
                <a:solidFill>
                  <a:srgbClr val="7E9C99"/>
                </a:solidFill>
                <a:latin typeface="DM Sans" pitchFamily="34" charset="0"/>
                <a:ea typeface="DM Sans" pitchFamily="34" charset="-122"/>
                <a:cs typeface="DM Sans" pitchFamily="34" charset="-120"/>
              </a:rPr>
              <a:t>STACK</a:t>
            </a:r>
            <a:endParaRPr lang="en-US" sz="1000" dirty="0"/>
          </a:p>
        </p:txBody>
      </p:sp>
      <p:sp>
        <p:nvSpPr>
          <p:cNvPr id="17" name="Text 13"/>
          <p:cNvSpPr/>
          <p:nvPr/>
        </p:nvSpPr>
        <p:spPr>
          <a:xfrm>
            <a:off x="996950" y="4495502"/>
            <a:ext cx="2725140" cy="212030"/>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157A73"/>
                </a:solidFill>
                <a:latin typeface="JetBrains Mono" pitchFamily="49" charset="0"/>
                <a:ea typeface="JetBrains Mono" pitchFamily="49" charset="-122"/>
                <a:cs typeface="JetBrains Mono" pitchFamily="49" charset="-120"/>
              </a:rPr>
              <a:t>Kotlin · Jetpack Compose · MediaPipe</a:t>
            </a:r>
            <a:endParaRPr lang="en-US" sz="1050" dirty="0"/>
          </a:p>
        </p:txBody>
      </p:sp>
      <p:sp>
        <p:nvSpPr>
          <p:cNvPr id="18" name="Text 14"/>
          <p:cNvSpPr/>
          <p:nvPr/>
        </p:nvSpPr>
        <p:spPr>
          <a:xfrm>
            <a:off x="996950" y="4771033"/>
            <a:ext cx="2725140" cy="203200"/>
          </a:xfrm>
          <a:prstGeom prst="rect">
            <a:avLst/>
          </a:prstGeom>
          <a:noFill/>
          <a:ln/>
        </p:spPr>
        <p:txBody>
          <a:bodyPr wrap="square" lIns="0" tIns="0" rIns="0" bIns="0" rtlCol="0" anchor="t">
            <a:normAutofit/>
          </a:bodyPr>
          <a:lstStyle/>
          <a:p>
            <a:pPr marL="0" indent="0" algn="l">
              <a:lnSpc>
                <a:spcPts val="1400"/>
              </a:lnSpc>
              <a:buNone/>
            </a:pPr>
            <a:r>
              <a:rPr lang="en-US" sz="1000" b="1" kern="0" spc="100" dirty="0">
                <a:solidFill>
                  <a:srgbClr val="7E9C99"/>
                </a:solidFill>
                <a:latin typeface="DM Sans" pitchFamily="34" charset="0"/>
                <a:ea typeface="DM Sans" pitchFamily="34" charset="-122"/>
                <a:cs typeface="DM Sans" pitchFamily="34" charset="-120"/>
              </a:rPr>
              <a:t>FUNCIÓN</a:t>
            </a:r>
            <a:endParaRPr lang="en-US" sz="1000" dirty="0"/>
          </a:p>
        </p:txBody>
      </p:sp>
      <p:sp>
        <p:nvSpPr>
          <p:cNvPr id="19" name="Text 15"/>
          <p:cNvSpPr/>
          <p:nvPr/>
        </p:nvSpPr>
        <p:spPr>
          <a:xfrm>
            <a:off x="996950" y="4974233"/>
            <a:ext cx="2725140" cy="41652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0F2E33"/>
                </a:solidFill>
                <a:latin typeface="DM Sans" pitchFamily="34" charset="0"/>
                <a:ea typeface="DM Sans" pitchFamily="34" charset="-122"/>
                <a:cs typeface="DM Sans" pitchFamily="34" charset="-120"/>
              </a:rPr>
              <a:t>Captura síntomas, documentos y movilidad del paciente en el dispositivo.</a:t>
            </a:r>
            <a:endParaRPr lang="en-US" sz="1100" dirty="0"/>
          </a:p>
        </p:txBody>
      </p:sp>
      <p:sp>
        <p:nvSpPr>
          <p:cNvPr id="22" name="Text 17"/>
          <p:cNvSpPr/>
          <p:nvPr/>
        </p:nvSpPr>
        <p:spPr>
          <a:xfrm>
            <a:off x="3993753" y="4289921"/>
            <a:ext cx="428129" cy="330200"/>
          </a:xfrm>
          <a:prstGeom prst="rect">
            <a:avLst/>
          </a:prstGeom>
          <a:noFill/>
          <a:ln/>
        </p:spPr>
        <p:txBody>
          <a:bodyPr wrap="square" lIns="0" tIns="0" rIns="0" bIns="0" rtlCol="0" anchor="t">
            <a:normAutofit/>
          </a:bodyPr>
          <a:lstStyle/>
          <a:p>
            <a:pPr marL="0" indent="0" algn="ctr">
              <a:lnSpc>
                <a:spcPts val="1200"/>
              </a:lnSpc>
              <a:buNone/>
            </a:pPr>
            <a:endParaRPr lang="en-US" sz="1000" dirty="0"/>
          </a:p>
        </p:txBody>
      </p:sp>
      <p:sp>
        <p:nvSpPr>
          <p:cNvPr id="23" name="Shape 18"/>
          <p:cNvSpPr/>
          <p:nvPr/>
        </p:nvSpPr>
        <p:spPr>
          <a:xfrm>
            <a:off x="4592042" y="2207716"/>
            <a:ext cx="3007816" cy="3935909"/>
          </a:xfrm>
          <a:prstGeom prst="roundRect">
            <a:avLst>
              <a:gd name="adj" fmla="val 4117"/>
            </a:avLst>
          </a:prstGeom>
          <a:solidFill>
            <a:srgbClr val="FBFCFB"/>
          </a:solidFill>
          <a:ln w="6350">
            <a:solidFill>
              <a:srgbClr val="DCE3E1"/>
            </a:solidFill>
            <a:prstDash val="solid"/>
          </a:ln>
        </p:spPr>
        <p:txBody>
          <a:bodyPr/>
          <a:lstStyle/>
          <a:p>
            <a:endParaRPr lang="es-CL"/>
          </a:p>
        </p:txBody>
      </p:sp>
      <p:sp>
        <p:nvSpPr>
          <p:cNvPr id="24" name="Text 19"/>
          <p:cNvSpPr/>
          <p:nvPr/>
        </p:nvSpPr>
        <p:spPr>
          <a:xfrm>
            <a:off x="4773017" y="2388691"/>
            <a:ext cx="272524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157A73"/>
                </a:solidFill>
                <a:latin typeface="DM Sans" pitchFamily="34" charset="0"/>
                <a:ea typeface="DM Sans" pitchFamily="34" charset="-122"/>
                <a:cs typeface="DM Sans" pitchFamily="34" charset="-120"/>
              </a:rPr>
              <a:t>02 · Servicios y API</a:t>
            </a:r>
            <a:endParaRPr lang="en-US" sz="1100" dirty="0"/>
          </a:p>
        </p:txBody>
      </p:sp>
      <p:sp>
        <p:nvSpPr>
          <p:cNvPr id="25" name="Text 20"/>
          <p:cNvSpPr/>
          <p:nvPr/>
        </p:nvSpPr>
        <p:spPr>
          <a:xfrm>
            <a:off x="4773017" y="2673152"/>
            <a:ext cx="2725242" cy="28823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0F2E33"/>
                </a:solidFill>
                <a:latin typeface="DM Sans" pitchFamily="34" charset="0"/>
                <a:ea typeface="DM Sans" pitchFamily="34" charset="-122"/>
                <a:cs typeface="DM Sans" pitchFamily="34" charset="-120"/>
              </a:rPr>
              <a:t>Backend</a:t>
            </a:r>
            <a:endParaRPr lang="en-US" sz="1800" dirty="0"/>
          </a:p>
        </p:txBody>
      </p:sp>
      <p:sp>
        <p:nvSpPr>
          <p:cNvPr id="26" name="Text 21"/>
          <p:cNvSpPr/>
          <p:nvPr/>
        </p:nvSpPr>
        <p:spPr>
          <a:xfrm>
            <a:off x="4773017" y="2948682"/>
            <a:ext cx="27252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Andhre Cruz</a:t>
            </a:r>
            <a:endParaRPr lang="en-US" sz="1200" dirty="0"/>
          </a:p>
        </p:txBody>
      </p:sp>
      <p:sp>
        <p:nvSpPr>
          <p:cNvPr id="27" name="Shape 22"/>
          <p:cNvSpPr/>
          <p:nvPr/>
        </p:nvSpPr>
        <p:spPr>
          <a:xfrm>
            <a:off x="4773017" y="3250902"/>
            <a:ext cx="2645866" cy="952500"/>
          </a:xfrm>
          <a:prstGeom prst="roundRect">
            <a:avLst>
              <a:gd name="adj" fmla="val 9333"/>
            </a:avLst>
          </a:prstGeom>
          <a:solidFill>
            <a:srgbClr val="0F2E33"/>
          </a:solidFill>
          <a:ln/>
        </p:spPr>
        <p:txBody>
          <a:bodyPr/>
          <a:lstStyle/>
          <a:p>
            <a:endParaRPr lang="es-CL"/>
          </a:p>
        </p:txBody>
      </p:sp>
      <p:sp>
        <p:nvSpPr>
          <p:cNvPr id="28" name="Text 23"/>
          <p:cNvSpPr/>
          <p:nvPr/>
        </p:nvSpPr>
        <p:spPr>
          <a:xfrm>
            <a:off x="4874617" y="3352502"/>
            <a:ext cx="1189534" cy="342900"/>
          </a:xfrm>
          <a:prstGeom prst="roundRect">
            <a:avLst>
              <a:gd name="adj" fmla="val 14815"/>
            </a:avLst>
          </a:prstGeom>
          <a:solidFill>
            <a:srgbClr val="163C42"/>
          </a:solidFill>
          <a:ln/>
        </p:spPr>
        <p:txBody>
          <a:bodyPr wrap="square" lIns="35921" tIns="48621" rIns="35921" bIns="23221" rtlCol="0" anchor="t">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Auth y roles</a:t>
            </a:r>
            <a:endParaRPr lang="en-US" sz="1050" dirty="0"/>
          </a:p>
        </p:txBody>
      </p:sp>
      <p:sp>
        <p:nvSpPr>
          <p:cNvPr id="29" name="Text 24"/>
          <p:cNvSpPr/>
          <p:nvPr/>
        </p:nvSpPr>
        <p:spPr>
          <a:xfrm>
            <a:off x="6127651" y="3352502"/>
            <a:ext cx="1189633" cy="342900"/>
          </a:xfrm>
          <a:prstGeom prst="roundRect">
            <a:avLst>
              <a:gd name="adj" fmla="val 14815"/>
            </a:avLst>
          </a:prstGeom>
          <a:solidFill>
            <a:srgbClr val="163C42"/>
          </a:solidFill>
          <a:ln/>
        </p:spPr>
        <p:txBody>
          <a:bodyPr wrap="square" lIns="35921" tIns="48621" rIns="35921" bIns="23221" rtlCol="0" anchor="t">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Anonimización</a:t>
            </a:r>
            <a:endParaRPr lang="en-US" sz="1050" dirty="0"/>
          </a:p>
        </p:txBody>
      </p:sp>
      <p:sp>
        <p:nvSpPr>
          <p:cNvPr id="30" name="Text 25"/>
          <p:cNvSpPr/>
          <p:nvPr/>
        </p:nvSpPr>
        <p:spPr>
          <a:xfrm>
            <a:off x="4874617" y="3758902"/>
            <a:ext cx="1189534" cy="342900"/>
          </a:xfrm>
          <a:prstGeom prst="roundRect">
            <a:avLst>
              <a:gd name="adj" fmla="val 14815"/>
            </a:avLst>
          </a:prstGeom>
          <a:solidFill>
            <a:srgbClr val="163C42"/>
          </a:solidFill>
          <a:ln/>
        </p:spPr>
        <p:txBody>
          <a:bodyPr wrap="square" lIns="35921" tIns="48621" rIns="35921" bIns="23221" rtlCol="0" anchor="t">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Pipeline RAG</a:t>
            </a:r>
            <a:endParaRPr lang="en-US" sz="1050" dirty="0"/>
          </a:p>
        </p:txBody>
      </p:sp>
      <p:sp>
        <p:nvSpPr>
          <p:cNvPr id="31" name="Text 26"/>
          <p:cNvSpPr/>
          <p:nvPr/>
        </p:nvSpPr>
        <p:spPr>
          <a:xfrm>
            <a:off x="6127651" y="3758902"/>
            <a:ext cx="1189633" cy="342900"/>
          </a:xfrm>
          <a:prstGeom prst="roundRect">
            <a:avLst>
              <a:gd name="adj" fmla="val 14815"/>
            </a:avLst>
          </a:prstGeom>
          <a:solidFill>
            <a:srgbClr val="163C42"/>
          </a:solidFill>
          <a:ln/>
        </p:spPr>
        <p:txBody>
          <a:bodyPr wrap="square" lIns="35921" tIns="48621" rIns="35921" bIns="23221" rtlCol="0" anchor="t">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Auditoría</a:t>
            </a:r>
            <a:endParaRPr lang="en-US" sz="1050" dirty="0"/>
          </a:p>
        </p:txBody>
      </p:sp>
      <p:sp>
        <p:nvSpPr>
          <p:cNvPr id="32" name="Text 27"/>
          <p:cNvSpPr/>
          <p:nvPr/>
        </p:nvSpPr>
        <p:spPr>
          <a:xfrm>
            <a:off x="4773017" y="4292302"/>
            <a:ext cx="2725242" cy="203200"/>
          </a:xfrm>
          <a:prstGeom prst="rect">
            <a:avLst/>
          </a:prstGeom>
          <a:noFill/>
          <a:ln/>
        </p:spPr>
        <p:txBody>
          <a:bodyPr wrap="square" lIns="0" tIns="0" rIns="0" bIns="0" rtlCol="0" anchor="t">
            <a:normAutofit/>
          </a:bodyPr>
          <a:lstStyle/>
          <a:p>
            <a:pPr marL="0" indent="0" algn="l">
              <a:lnSpc>
                <a:spcPts val="1400"/>
              </a:lnSpc>
              <a:buNone/>
            </a:pPr>
            <a:r>
              <a:rPr lang="en-US" sz="1000" b="1" kern="0" spc="100" dirty="0">
                <a:solidFill>
                  <a:srgbClr val="7E9C99"/>
                </a:solidFill>
                <a:latin typeface="DM Sans" pitchFamily="34" charset="0"/>
                <a:ea typeface="DM Sans" pitchFamily="34" charset="-122"/>
                <a:cs typeface="DM Sans" pitchFamily="34" charset="-120"/>
              </a:rPr>
              <a:t>STACK</a:t>
            </a:r>
            <a:endParaRPr lang="en-US" sz="1000" dirty="0"/>
          </a:p>
        </p:txBody>
      </p:sp>
      <p:sp>
        <p:nvSpPr>
          <p:cNvPr id="33" name="Text 28"/>
          <p:cNvSpPr/>
          <p:nvPr/>
        </p:nvSpPr>
        <p:spPr>
          <a:xfrm>
            <a:off x="4773017" y="4495502"/>
            <a:ext cx="2725242" cy="212030"/>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157A73"/>
                </a:solidFill>
                <a:latin typeface="JetBrains Mono" pitchFamily="49" charset="0"/>
                <a:ea typeface="JetBrains Mono" pitchFamily="49" charset="-122"/>
                <a:cs typeface="JetBrains Mono" pitchFamily="49" charset="-120"/>
              </a:rPr>
              <a:t>FastAPI · PostgreSQL · OpenAI</a:t>
            </a:r>
            <a:endParaRPr lang="en-US" sz="1050" dirty="0"/>
          </a:p>
        </p:txBody>
      </p:sp>
      <p:sp>
        <p:nvSpPr>
          <p:cNvPr id="34" name="Text 29"/>
          <p:cNvSpPr/>
          <p:nvPr/>
        </p:nvSpPr>
        <p:spPr>
          <a:xfrm>
            <a:off x="4773017" y="4771033"/>
            <a:ext cx="2725242" cy="203200"/>
          </a:xfrm>
          <a:prstGeom prst="rect">
            <a:avLst/>
          </a:prstGeom>
          <a:noFill/>
          <a:ln/>
        </p:spPr>
        <p:txBody>
          <a:bodyPr wrap="square" lIns="0" tIns="0" rIns="0" bIns="0" rtlCol="0" anchor="t">
            <a:normAutofit/>
          </a:bodyPr>
          <a:lstStyle/>
          <a:p>
            <a:pPr marL="0" indent="0" algn="l">
              <a:lnSpc>
                <a:spcPts val="1400"/>
              </a:lnSpc>
              <a:buNone/>
            </a:pPr>
            <a:r>
              <a:rPr lang="en-US" sz="1000" b="1" kern="0" spc="100" dirty="0">
                <a:solidFill>
                  <a:srgbClr val="7E9C99"/>
                </a:solidFill>
                <a:latin typeface="DM Sans" pitchFamily="34" charset="0"/>
                <a:ea typeface="DM Sans" pitchFamily="34" charset="-122"/>
                <a:cs typeface="DM Sans" pitchFamily="34" charset="-120"/>
              </a:rPr>
              <a:t>FUNCIÓN</a:t>
            </a:r>
            <a:endParaRPr lang="en-US" sz="1000" dirty="0"/>
          </a:p>
        </p:txBody>
      </p:sp>
      <p:sp>
        <p:nvSpPr>
          <p:cNvPr id="35" name="Text 30"/>
          <p:cNvSpPr/>
          <p:nvPr/>
        </p:nvSpPr>
        <p:spPr>
          <a:xfrm>
            <a:off x="4773017" y="4974233"/>
            <a:ext cx="2725242" cy="41652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0F2E33"/>
                </a:solidFill>
                <a:latin typeface="DM Sans" pitchFamily="34" charset="0"/>
                <a:ea typeface="DM Sans" pitchFamily="34" charset="-122"/>
                <a:cs typeface="DM Sans" pitchFamily="34" charset="-120"/>
              </a:rPr>
              <a:t>Expone la API, protege los datos y genera el prediagnóstico con IA.</a:t>
            </a:r>
            <a:endParaRPr lang="en-US" sz="1100" dirty="0"/>
          </a:p>
        </p:txBody>
      </p:sp>
      <p:sp>
        <p:nvSpPr>
          <p:cNvPr id="38" name="Text 32"/>
          <p:cNvSpPr/>
          <p:nvPr/>
        </p:nvSpPr>
        <p:spPr>
          <a:xfrm>
            <a:off x="7738070" y="4289921"/>
            <a:ext cx="491927" cy="330200"/>
          </a:xfrm>
          <a:prstGeom prst="rect">
            <a:avLst/>
          </a:prstGeom>
          <a:noFill/>
          <a:ln/>
        </p:spPr>
        <p:txBody>
          <a:bodyPr wrap="square" lIns="0" tIns="0" rIns="0" bIns="0" rtlCol="0" anchor="t">
            <a:normAutofit/>
          </a:bodyPr>
          <a:lstStyle/>
          <a:p>
            <a:pPr marL="0" indent="0" algn="ctr">
              <a:lnSpc>
                <a:spcPts val="1200"/>
              </a:lnSpc>
              <a:buNone/>
            </a:pPr>
            <a:endParaRPr lang="en-US" sz="1000" dirty="0"/>
          </a:p>
        </p:txBody>
      </p:sp>
      <p:sp>
        <p:nvSpPr>
          <p:cNvPr id="39" name="Shape 33"/>
          <p:cNvSpPr/>
          <p:nvPr/>
        </p:nvSpPr>
        <p:spPr>
          <a:xfrm>
            <a:off x="8368209" y="2207716"/>
            <a:ext cx="3007816" cy="3935909"/>
          </a:xfrm>
          <a:prstGeom prst="roundRect">
            <a:avLst>
              <a:gd name="adj" fmla="val 4117"/>
            </a:avLst>
          </a:prstGeom>
          <a:solidFill>
            <a:srgbClr val="FBFCFB"/>
          </a:solidFill>
          <a:ln w="6350">
            <a:solidFill>
              <a:srgbClr val="DCE3E1"/>
            </a:solidFill>
            <a:prstDash val="solid"/>
          </a:ln>
        </p:spPr>
        <p:txBody>
          <a:bodyPr/>
          <a:lstStyle/>
          <a:p>
            <a:endParaRPr lang="es-CL"/>
          </a:p>
        </p:txBody>
      </p:sp>
      <p:sp>
        <p:nvSpPr>
          <p:cNvPr id="40" name="Text 34"/>
          <p:cNvSpPr/>
          <p:nvPr/>
        </p:nvSpPr>
        <p:spPr>
          <a:xfrm>
            <a:off x="8549184" y="2388691"/>
            <a:ext cx="272524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157A73"/>
                </a:solidFill>
                <a:latin typeface="DM Sans" pitchFamily="34" charset="0"/>
                <a:ea typeface="DM Sans" pitchFamily="34" charset="-122"/>
                <a:cs typeface="DM Sans" pitchFamily="34" charset="-120"/>
              </a:rPr>
              <a:t>03 · Gestión y visualización</a:t>
            </a:r>
            <a:endParaRPr lang="en-US" sz="1100" dirty="0"/>
          </a:p>
        </p:txBody>
      </p:sp>
      <p:sp>
        <p:nvSpPr>
          <p:cNvPr id="41" name="Text 35"/>
          <p:cNvSpPr/>
          <p:nvPr/>
        </p:nvSpPr>
        <p:spPr>
          <a:xfrm>
            <a:off x="8549184" y="2673152"/>
            <a:ext cx="2725242" cy="28823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0F2E33"/>
                </a:solidFill>
                <a:latin typeface="DM Sans" pitchFamily="34" charset="0"/>
                <a:ea typeface="DM Sans" pitchFamily="34" charset="-122"/>
                <a:cs typeface="DM Sans" pitchFamily="34" charset="-120"/>
              </a:rPr>
              <a:t>Web</a:t>
            </a:r>
            <a:endParaRPr lang="en-US" sz="1800" dirty="0"/>
          </a:p>
        </p:txBody>
      </p:sp>
      <p:sp>
        <p:nvSpPr>
          <p:cNvPr id="42" name="Text 36"/>
          <p:cNvSpPr/>
          <p:nvPr/>
        </p:nvSpPr>
        <p:spPr>
          <a:xfrm>
            <a:off x="8549184" y="2948682"/>
            <a:ext cx="27252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Sebastián Polanco</a:t>
            </a:r>
            <a:endParaRPr lang="en-US" sz="1200" dirty="0"/>
          </a:p>
        </p:txBody>
      </p:sp>
      <p:pic>
        <p:nvPicPr>
          <p:cNvPr id="43" name="Image 4" descr="Panel web del médico con la bandeja de pacientes"/>
          <p:cNvPicPr>
            <a:picLocks noChangeAspect="1"/>
          </p:cNvPicPr>
          <p:nvPr/>
        </p:nvPicPr>
        <p:blipFill>
          <a:blip r:embed="rId5"/>
          <a:srcRect l="1" r="1"/>
          <a:stretch/>
        </p:blipFill>
        <p:spPr>
          <a:xfrm>
            <a:off x="8555534" y="3257252"/>
            <a:ext cx="2048570" cy="939800"/>
          </a:xfrm>
          <a:prstGeom prst="roundRect">
            <a:avLst>
              <a:gd name="adj" fmla="val 8784"/>
            </a:avLst>
          </a:prstGeom>
        </p:spPr>
      </p:pic>
      <p:sp>
        <p:nvSpPr>
          <p:cNvPr id="44" name="Shape 37"/>
          <p:cNvSpPr/>
          <p:nvPr/>
        </p:nvSpPr>
        <p:spPr>
          <a:xfrm>
            <a:off x="8552359" y="3254077"/>
            <a:ext cx="2054920" cy="946150"/>
          </a:xfrm>
          <a:prstGeom prst="roundRect">
            <a:avLst>
              <a:gd name="adj" fmla="val 9060"/>
            </a:avLst>
          </a:prstGeom>
          <a:noFill/>
          <a:ln w="6350">
            <a:solidFill>
              <a:srgbClr val="DCE3E1"/>
            </a:solidFill>
            <a:prstDash val="solid"/>
          </a:ln>
        </p:spPr>
        <p:txBody>
          <a:bodyPr/>
          <a:lstStyle/>
          <a:p>
            <a:endParaRPr lang="es-CL"/>
          </a:p>
        </p:txBody>
      </p:sp>
      <p:sp>
        <p:nvSpPr>
          <p:cNvPr id="45" name="Text 38"/>
          <p:cNvSpPr/>
          <p:nvPr/>
        </p:nvSpPr>
        <p:spPr>
          <a:xfrm>
            <a:off x="8549184" y="4292302"/>
            <a:ext cx="2725242" cy="203200"/>
          </a:xfrm>
          <a:prstGeom prst="rect">
            <a:avLst/>
          </a:prstGeom>
          <a:noFill/>
          <a:ln/>
        </p:spPr>
        <p:txBody>
          <a:bodyPr wrap="square" lIns="0" tIns="0" rIns="0" bIns="0" rtlCol="0" anchor="t">
            <a:normAutofit/>
          </a:bodyPr>
          <a:lstStyle/>
          <a:p>
            <a:pPr marL="0" indent="0" algn="l">
              <a:lnSpc>
                <a:spcPts val="1400"/>
              </a:lnSpc>
              <a:buNone/>
            </a:pPr>
            <a:r>
              <a:rPr lang="en-US" sz="1000" b="1" kern="0" spc="100" dirty="0">
                <a:solidFill>
                  <a:srgbClr val="7E9C99"/>
                </a:solidFill>
                <a:latin typeface="DM Sans" pitchFamily="34" charset="0"/>
                <a:ea typeface="DM Sans" pitchFamily="34" charset="-122"/>
                <a:cs typeface="DM Sans" pitchFamily="34" charset="-120"/>
              </a:rPr>
              <a:t>STACK</a:t>
            </a:r>
            <a:endParaRPr lang="en-US" sz="1000" dirty="0"/>
          </a:p>
        </p:txBody>
      </p:sp>
      <p:sp>
        <p:nvSpPr>
          <p:cNvPr id="46" name="Text 39"/>
          <p:cNvSpPr/>
          <p:nvPr/>
        </p:nvSpPr>
        <p:spPr>
          <a:xfrm>
            <a:off x="8549184" y="4495502"/>
            <a:ext cx="2725242" cy="212030"/>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157A73"/>
                </a:solidFill>
                <a:latin typeface="JetBrains Mono" pitchFamily="49" charset="0"/>
                <a:ea typeface="JetBrains Mono" pitchFamily="49" charset="-122"/>
                <a:cs typeface="JetBrains Mono" pitchFamily="49" charset="-120"/>
              </a:rPr>
              <a:t>React · JavaScript</a:t>
            </a:r>
            <a:endParaRPr lang="en-US" sz="1050" dirty="0"/>
          </a:p>
        </p:txBody>
      </p:sp>
      <p:sp>
        <p:nvSpPr>
          <p:cNvPr id="47" name="Text 40"/>
          <p:cNvSpPr/>
          <p:nvPr/>
        </p:nvSpPr>
        <p:spPr>
          <a:xfrm>
            <a:off x="8549184" y="4771033"/>
            <a:ext cx="2725242" cy="203200"/>
          </a:xfrm>
          <a:prstGeom prst="rect">
            <a:avLst/>
          </a:prstGeom>
          <a:noFill/>
          <a:ln/>
        </p:spPr>
        <p:txBody>
          <a:bodyPr wrap="square" lIns="0" tIns="0" rIns="0" bIns="0" rtlCol="0" anchor="t">
            <a:normAutofit/>
          </a:bodyPr>
          <a:lstStyle/>
          <a:p>
            <a:pPr marL="0" indent="0" algn="l">
              <a:lnSpc>
                <a:spcPts val="1400"/>
              </a:lnSpc>
              <a:buNone/>
            </a:pPr>
            <a:r>
              <a:rPr lang="en-US" sz="1000" b="1" kern="0" spc="100" dirty="0">
                <a:solidFill>
                  <a:srgbClr val="7E9C99"/>
                </a:solidFill>
                <a:latin typeface="DM Sans" pitchFamily="34" charset="0"/>
                <a:ea typeface="DM Sans" pitchFamily="34" charset="-122"/>
                <a:cs typeface="DM Sans" pitchFamily="34" charset="-120"/>
              </a:rPr>
              <a:t>FUNCIÓN</a:t>
            </a:r>
            <a:endParaRPr lang="en-US" sz="1000" dirty="0"/>
          </a:p>
        </p:txBody>
      </p:sp>
      <p:sp>
        <p:nvSpPr>
          <p:cNvPr id="48" name="Text 41"/>
          <p:cNvSpPr/>
          <p:nvPr/>
        </p:nvSpPr>
        <p:spPr>
          <a:xfrm>
            <a:off x="8549184" y="4974233"/>
            <a:ext cx="2725242" cy="6120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0F2E33"/>
                </a:solidFill>
                <a:latin typeface="DM Sans" pitchFamily="34" charset="0"/>
                <a:ea typeface="DM Sans" pitchFamily="34" charset="-122"/>
                <a:cs typeface="DM Sans" pitchFamily="34" charset="-120"/>
              </a:rPr>
              <a:t>Triage y resumen para el médico; usuarios, guías y ejercicios para el admin.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E33"/>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4BB"/>
                </a:solidFill>
                <a:latin typeface="DM Sans" pitchFamily="34" charset="0"/>
                <a:ea typeface="DM Sans" pitchFamily="34" charset="-122"/>
                <a:cs typeface="DM Sans" pitchFamily="34" charset="-120"/>
              </a:rPr>
              <a:t>DIAGRAMA DE ARQUITECTURA</a:t>
            </a:r>
            <a:endParaRPr lang="en-US" sz="1200" dirty="0"/>
          </a:p>
        </p:txBody>
      </p:sp>
      <p:sp>
        <p:nvSpPr>
          <p:cNvPr id="3" name="Text 1"/>
          <p:cNvSpPr>
            <a:spLocks noGrp="1"/>
          </p:cNvSpPr>
          <p:nvPr>
            <p:ph type="title"/>
          </p:nvPr>
        </p:nvSpPr>
        <p:spPr>
          <a:xfrm>
            <a:off x="812800" y="10134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kern="0" spc="-50" dirty="0">
                <a:solidFill>
                  <a:srgbClr val="F4F6F5"/>
                </a:solidFill>
                <a:latin typeface="DM Sans" pitchFamily="34" charset="0"/>
                <a:ea typeface="DM Sans" pitchFamily="34" charset="-122"/>
                <a:cs typeface="DM Sans" pitchFamily="34" charset="-120"/>
              </a:rPr>
              <a:t>Del celular del paciente a la pantalla del médico</a:t>
            </a:r>
            <a:endParaRPr lang="en-US" sz="3000" dirty="0"/>
          </a:p>
        </p:txBody>
      </p:sp>
      <p:sp>
        <p:nvSpPr>
          <p:cNvPr id="4" name="Shape 2"/>
          <p:cNvSpPr/>
          <p:nvPr/>
        </p:nvSpPr>
        <p:spPr>
          <a:xfrm>
            <a:off x="815975" y="1664295"/>
            <a:ext cx="10560050" cy="1038820"/>
          </a:xfrm>
          <a:prstGeom prst="roundRect">
            <a:avLst>
              <a:gd name="adj" fmla="val 10697"/>
            </a:avLst>
          </a:prstGeom>
          <a:solidFill>
            <a:srgbClr val="163C42"/>
          </a:solidFill>
          <a:ln w="6350">
            <a:solidFill>
              <a:srgbClr val="2E6A6F"/>
            </a:solidFill>
            <a:prstDash val="solid"/>
          </a:ln>
        </p:spPr>
        <p:txBody>
          <a:bodyPr/>
          <a:lstStyle/>
          <a:p>
            <a:endParaRPr lang="es-CL"/>
          </a:p>
        </p:txBody>
      </p:sp>
      <p:sp>
        <p:nvSpPr>
          <p:cNvPr id="5" name="Text 3"/>
          <p:cNvSpPr/>
          <p:nvPr/>
        </p:nvSpPr>
        <p:spPr>
          <a:xfrm>
            <a:off x="996950" y="1934766"/>
            <a:ext cx="196215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5CC4BB"/>
                </a:solidFill>
                <a:latin typeface="DM Sans" pitchFamily="34" charset="0"/>
                <a:ea typeface="DM Sans" pitchFamily="34" charset="-122"/>
                <a:cs typeface="DM Sans" pitchFamily="34" charset="-120"/>
              </a:rPr>
              <a:t>01</a:t>
            </a:r>
            <a:endParaRPr lang="en-US" sz="2000" dirty="0"/>
          </a:p>
        </p:txBody>
      </p:sp>
      <p:sp>
        <p:nvSpPr>
          <p:cNvPr id="6" name="Text 4"/>
          <p:cNvSpPr/>
          <p:nvPr/>
        </p:nvSpPr>
        <p:spPr>
          <a:xfrm>
            <a:off x="996950" y="2201466"/>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Capa cliente</a:t>
            </a:r>
            <a:endParaRPr lang="en-US" sz="1300" dirty="0"/>
          </a:p>
        </p:txBody>
      </p:sp>
      <p:sp>
        <p:nvSpPr>
          <p:cNvPr id="7" name="Shape 5"/>
          <p:cNvSpPr/>
          <p:nvPr/>
        </p:nvSpPr>
        <p:spPr>
          <a:xfrm>
            <a:off x="3082925" y="1843683"/>
            <a:ext cx="4032250" cy="679946"/>
          </a:xfrm>
          <a:prstGeom prst="roundRect">
            <a:avLst>
              <a:gd name="adj" fmla="val 12608"/>
            </a:avLst>
          </a:prstGeom>
          <a:solidFill>
            <a:srgbClr val="0F2E33"/>
          </a:solidFill>
          <a:ln w="6350">
            <a:solidFill>
              <a:srgbClr val="2E6A6F"/>
            </a:solidFill>
            <a:prstDash val="solid"/>
          </a:ln>
        </p:spPr>
        <p:txBody>
          <a:bodyPr/>
          <a:lstStyle/>
          <a:p>
            <a:endParaRPr lang="es-CL"/>
          </a:p>
        </p:txBody>
      </p:sp>
      <p:pic>
        <p:nvPicPr>
          <p:cNvPr id="8" name="Image 0" descr="Activity"/>
          <p:cNvPicPr>
            <a:picLocks noChangeAspect="1"/>
          </p:cNvPicPr>
          <p:nvPr/>
        </p:nvPicPr>
        <p:blipFill>
          <a:blip r:embed="rId3"/>
          <a:srcRect/>
          <a:stretch/>
        </p:blipFill>
        <p:spPr>
          <a:xfrm>
            <a:off x="3238500" y="2056606"/>
            <a:ext cx="254000" cy="254000"/>
          </a:xfrm>
          <a:prstGeom prst="rect">
            <a:avLst/>
          </a:prstGeom>
        </p:spPr>
      </p:pic>
      <p:sp>
        <p:nvSpPr>
          <p:cNvPr id="9" name="Text 6"/>
          <p:cNvSpPr/>
          <p:nvPr/>
        </p:nvSpPr>
        <p:spPr>
          <a:xfrm>
            <a:off x="3606800" y="1961158"/>
            <a:ext cx="338143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App móvil · Paciente</a:t>
            </a:r>
            <a:endParaRPr lang="en-US" sz="1300" dirty="0"/>
          </a:p>
        </p:txBody>
      </p:sp>
      <p:sp>
        <p:nvSpPr>
          <p:cNvPr id="10" name="Text 7"/>
          <p:cNvSpPr/>
          <p:nvPr/>
        </p:nvSpPr>
        <p:spPr>
          <a:xfrm>
            <a:off x="3606800" y="2217638"/>
            <a:ext cx="3435350" cy="213916"/>
          </a:xfrm>
          <a:prstGeom prst="rect">
            <a:avLst/>
          </a:prstGeom>
          <a:noFill/>
          <a:ln/>
        </p:spPr>
        <p:txBody>
          <a:bodyPr wrap="square" lIns="0" tIns="0" rIns="0" bIns="0" rtlCol="0" anchor="t">
            <a:normAutofit fontScale="92500"/>
          </a:bodyPr>
          <a:lstStyle/>
          <a:p>
            <a:pPr marL="0" indent="0" algn="l">
              <a:lnSpc>
                <a:spcPts val="1485"/>
              </a:lnSpc>
              <a:buNone/>
            </a:pPr>
            <a:r>
              <a:rPr lang="en-US" sz="1100" dirty="0">
                <a:solidFill>
                  <a:srgbClr val="BFD3D1"/>
                </a:solidFill>
                <a:latin typeface="DM Sans" pitchFamily="34" charset="0"/>
                <a:ea typeface="DM Sans" pitchFamily="34" charset="-122"/>
                <a:cs typeface="DM Sans" pitchFamily="34" charset="-120"/>
              </a:rPr>
              <a:t>Kotlin · Jetpack Compose · MediaPipe (Edge AI, 33 puntos)</a:t>
            </a:r>
            <a:endParaRPr lang="en-US" sz="1100" dirty="0"/>
          </a:p>
        </p:txBody>
      </p:sp>
      <p:sp>
        <p:nvSpPr>
          <p:cNvPr id="11" name="Shape 8"/>
          <p:cNvSpPr/>
          <p:nvPr/>
        </p:nvSpPr>
        <p:spPr>
          <a:xfrm>
            <a:off x="7229475" y="1843683"/>
            <a:ext cx="3962400" cy="679946"/>
          </a:xfrm>
          <a:prstGeom prst="roundRect">
            <a:avLst>
              <a:gd name="adj" fmla="val 12608"/>
            </a:avLst>
          </a:prstGeom>
          <a:solidFill>
            <a:srgbClr val="0F2E33"/>
          </a:solidFill>
          <a:ln w="6350">
            <a:solidFill>
              <a:srgbClr val="2E6A6F"/>
            </a:solidFill>
            <a:prstDash val="solid"/>
          </a:ln>
        </p:spPr>
        <p:txBody>
          <a:bodyPr/>
          <a:lstStyle/>
          <a:p>
            <a:endParaRPr lang="es-CL"/>
          </a:p>
        </p:txBody>
      </p:sp>
      <p:pic>
        <p:nvPicPr>
          <p:cNvPr id="12" name="Image 1" descr="Chart"/>
          <p:cNvPicPr>
            <a:picLocks noChangeAspect="1"/>
          </p:cNvPicPr>
          <p:nvPr/>
        </p:nvPicPr>
        <p:blipFill>
          <a:blip r:embed="rId4"/>
          <a:srcRect/>
          <a:stretch/>
        </p:blipFill>
        <p:spPr>
          <a:xfrm>
            <a:off x="7385050" y="2056606"/>
            <a:ext cx="254000" cy="254000"/>
          </a:xfrm>
          <a:prstGeom prst="rect">
            <a:avLst/>
          </a:prstGeom>
        </p:spPr>
      </p:pic>
      <p:sp>
        <p:nvSpPr>
          <p:cNvPr id="13" name="Text 9"/>
          <p:cNvSpPr/>
          <p:nvPr/>
        </p:nvSpPr>
        <p:spPr>
          <a:xfrm>
            <a:off x="7753350" y="1961158"/>
            <a:ext cx="338143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Portal web · Médico y admin</a:t>
            </a:r>
            <a:endParaRPr lang="en-US" sz="1300" dirty="0"/>
          </a:p>
        </p:txBody>
      </p:sp>
      <p:sp>
        <p:nvSpPr>
          <p:cNvPr id="14" name="Text 10"/>
          <p:cNvSpPr/>
          <p:nvPr/>
        </p:nvSpPr>
        <p:spPr>
          <a:xfrm>
            <a:off x="7753350" y="2217638"/>
            <a:ext cx="3381439" cy="213916"/>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BFD3D1"/>
                </a:solidFill>
                <a:latin typeface="DM Sans" pitchFamily="34" charset="0"/>
                <a:ea typeface="DM Sans" pitchFamily="34" charset="-122"/>
                <a:cs typeface="DM Sans" pitchFamily="34" charset="-120"/>
              </a:rPr>
              <a:t>React · JavaScript</a:t>
            </a:r>
            <a:endParaRPr lang="en-US" sz="1100" dirty="0"/>
          </a:p>
        </p:txBody>
      </p:sp>
      <p:sp>
        <p:nvSpPr>
          <p:cNvPr id="15" name="Shape 11"/>
          <p:cNvSpPr/>
          <p:nvPr/>
        </p:nvSpPr>
        <p:spPr>
          <a:xfrm>
            <a:off x="815975" y="2811066"/>
            <a:ext cx="10560050" cy="1038920"/>
          </a:xfrm>
          <a:prstGeom prst="roundRect">
            <a:avLst>
              <a:gd name="adj" fmla="val 10696"/>
            </a:avLst>
          </a:prstGeom>
          <a:solidFill>
            <a:srgbClr val="163C42"/>
          </a:solidFill>
          <a:ln w="6350">
            <a:solidFill>
              <a:srgbClr val="2E6A6F"/>
            </a:solidFill>
            <a:prstDash val="solid"/>
          </a:ln>
        </p:spPr>
        <p:txBody>
          <a:bodyPr/>
          <a:lstStyle/>
          <a:p>
            <a:endParaRPr lang="es-CL"/>
          </a:p>
        </p:txBody>
      </p:sp>
      <p:sp>
        <p:nvSpPr>
          <p:cNvPr id="16" name="Text 12"/>
          <p:cNvSpPr/>
          <p:nvPr/>
        </p:nvSpPr>
        <p:spPr>
          <a:xfrm>
            <a:off x="996950" y="3081635"/>
            <a:ext cx="196215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5CC4BB"/>
                </a:solidFill>
                <a:latin typeface="DM Sans" pitchFamily="34" charset="0"/>
                <a:ea typeface="DM Sans" pitchFamily="34" charset="-122"/>
                <a:cs typeface="DM Sans" pitchFamily="34" charset="-120"/>
              </a:rPr>
              <a:t>02</a:t>
            </a:r>
            <a:endParaRPr lang="en-US" sz="2000" dirty="0"/>
          </a:p>
        </p:txBody>
      </p:sp>
      <p:sp>
        <p:nvSpPr>
          <p:cNvPr id="17" name="Text 13"/>
          <p:cNvSpPr/>
          <p:nvPr/>
        </p:nvSpPr>
        <p:spPr>
          <a:xfrm>
            <a:off x="996950" y="3348335"/>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Capa de servicios</a:t>
            </a:r>
            <a:endParaRPr lang="en-US" sz="1300" dirty="0"/>
          </a:p>
        </p:txBody>
      </p:sp>
      <p:sp>
        <p:nvSpPr>
          <p:cNvPr id="18" name="Shape 14"/>
          <p:cNvSpPr/>
          <p:nvPr/>
        </p:nvSpPr>
        <p:spPr>
          <a:xfrm>
            <a:off x="3082925" y="2916535"/>
            <a:ext cx="5170984" cy="827980"/>
          </a:xfrm>
          <a:prstGeom prst="roundRect">
            <a:avLst>
              <a:gd name="adj" fmla="val 10354"/>
            </a:avLst>
          </a:prstGeom>
          <a:solidFill>
            <a:srgbClr val="0F2E33"/>
          </a:solidFill>
          <a:ln w="6350">
            <a:solidFill>
              <a:srgbClr val="2E6A6F"/>
            </a:solidFill>
            <a:prstDash val="solid"/>
          </a:ln>
        </p:spPr>
        <p:txBody>
          <a:bodyPr/>
          <a:lstStyle/>
          <a:p>
            <a:endParaRPr lang="es-CL"/>
          </a:p>
        </p:txBody>
      </p:sp>
      <p:pic>
        <p:nvPicPr>
          <p:cNvPr id="19" name="Image 2" descr="Code"/>
          <p:cNvPicPr>
            <a:picLocks noChangeAspect="1"/>
          </p:cNvPicPr>
          <p:nvPr/>
        </p:nvPicPr>
        <p:blipFill>
          <a:blip r:embed="rId5"/>
          <a:srcRect/>
          <a:stretch/>
        </p:blipFill>
        <p:spPr>
          <a:xfrm>
            <a:off x="3238500" y="3034010"/>
            <a:ext cx="254000" cy="254000"/>
          </a:xfrm>
          <a:prstGeom prst="rect">
            <a:avLst/>
          </a:prstGeom>
        </p:spPr>
      </p:pic>
      <p:sp>
        <p:nvSpPr>
          <p:cNvPr id="20" name="Text 15"/>
          <p:cNvSpPr/>
          <p:nvPr/>
        </p:nvSpPr>
        <p:spPr>
          <a:xfrm>
            <a:off x="3606800" y="3045420"/>
            <a:ext cx="296846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Backend API · FastAPI (Python)</a:t>
            </a:r>
            <a:endParaRPr lang="en-US" sz="1300" dirty="0"/>
          </a:p>
        </p:txBody>
      </p:sp>
      <p:sp>
        <p:nvSpPr>
          <p:cNvPr id="21" name="Text 16"/>
          <p:cNvSpPr/>
          <p:nvPr/>
        </p:nvSpPr>
        <p:spPr>
          <a:xfrm>
            <a:off x="3238500" y="3364210"/>
            <a:ext cx="1245295" cy="262830"/>
          </a:xfrm>
          <a:prstGeom prst="roundRect">
            <a:avLst>
              <a:gd name="adj" fmla="val 50000"/>
            </a:avLst>
          </a:prstGeom>
          <a:solidFill>
            <a:srgbClr val="163C42"/>
          </a:solidFill>
          <a:ln/>
        </p:spPr>
        <p:txBody>
          <a:bodyPr wrap="none" lIns="0" tIns="0" rIns="0" bIns="0" rtlCol="0" anchor="ctr">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Auth JWT y roles</a:t>
            </a:r>
            <a:endParaRPr lang="en-US" sz="1050" dirty="0"/>
          </a:p>
        </p:txBody>
      </p:sp>
      <p:sp>
        <p:nvSpPr>
          <p:cNvPr id="22" name="Text 17"/>
          <p:cNvSpPr/>
          <p:nvPr/>
        </p:nvSpPr>
        <p:spPr>
          <a:xfrm>
            <a:off x="4547295" y="3364210"/>
            <a:ext cx="1104305" cy="262830"/>
          </a:xfrm>
          <a:prstGeom prst="roundRect">
            <a:avLst>
              <a:gd name="adj" fmla="val 50000"/>
            </a:avLst>
          </a:prstGeom>
          <a:solidFill>
            <a:srgbClr val="163C42"/>
          </a:solidFill>
          <a:ln/>
        </p:spPr>
        <p:txBody>
          <a:bodyPr wrap="none" lIns="0" tIns="0" rIns="0" bIns="0" rtlCol="0" anchor="ctr">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Anonimización</a:t>
            </a:r>
            <a:endParaRPr lang="en-US" sz="1050" dirty="0"/>
          </a:p>
        </p:txBody>
      </p:sp>
      <p:sp>
        <p:nvSpPr>
          <p:cNvPr id="23" name="Text 18"/>
          <p:cNvSpPr/>
          <p:nvPr/>
        </p:nvSpPr>
        <p:spPr>
          <a:xfrm>
            <a:off x="5715099" y="3364210"/>
            <a:ext cx="984845" cy="262830"/>
          </a:xfrm>
          <a:prstGeom prst="roundRect">
            <a:avLst>
              <a:gd name="adj" fmla="val 50000"/>
            </a:avLst>
          </a:prstGeom>
          <a:solidFill>
            <a:srgbClr val="163C42"/>
          </a:solidFill>
          <a:ln/>
        </p:spPr>
        <p:txBody>
          <a:bodyPr wrap="none" lIns="0" tIns="0" rIns="0" bIns="0" rtlCol="0" anchor="ctr">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Pipeline RAG</a:t>
            </a:r>
            <a:endParaRPr lang="en-US" sz="1050" dirty="0"/>
          </a:p>
        </p:txBody>
      </p:sp>
      <p:sp>
        <p:nvSpPr>
          <p:cNvPr id="24" name="Text 19"/>
          <p:cNvSpPr/>
          <p:nvPr/>
        </p:nvSpPr>
        <p:spPr>
          <a:xfrm>
            <a:off x="6763445" y="3364210"/>
            <a:ext cx="763488" cy="262830"/>
          </a:xfrm>
          <a:prstGeom prst="roundRect">
            <a:avLst>
              <a:gd name="adj" fmla="val 50000"/>
            </a:avLst>
          </a:prstGeom>
          <a:solidFill>
            <a:srgbClr val="163C42"/>
          </a:solidFill>
          <a:ln/>
        </p:spPr>
        <p:txBody>
          <a:bodyPr wrap="none" lIns="0" tIns="0" rIns="0" bIns="0" rtlCol="0" anchor="ctr">
            <a:normAutofit/>
          </a:bodyPr>
          <a:lstStyle/>
          <a:p>
            <a:pPr marL="0" indent="0" algn="ctr">
              <a:lnSpc>
                <a:spcPts val="1470"/>
              </a:lnSpc>
              <a:buNone/>
            </a:pPr>
            <a:r>
              <a:rPr lang="en-US" sz="1050" dirty="0">
                <a:solidFill>
                  <a:srgbClr val="F4F6F5"/>
                </a:solidFill>
                <a:latin typeface="DM Sans" pitchFamily="34" charset="0"/>
                <a:ea typeface="DM Sans" pitchFamily="34" charset="-122"/>
                <a:cs typeface="DM Sans" pitchFamily="34" charset="-120"/>
              </a:rPr>
              <a:t>Auditoría</a:t>
            </a:r>
            <a:endParaRPr lang="en-US" sz="1050" dirty="0"/>
          </a:p>
        </p:txBody>
      </p:sp>
      <p:sp>
        <p:nvSpPr>
          <p:cNvPr id="25" name="Shape 20"/>
          <p:cNvSpPr/>
          <p:nvPr/>
        </p:nvSpPr>
        <p:spPr>
          <a:xfrm>
            <a:off x="8441234" y="2987377"/>
            <a:ext cx="2747466" cy="686296"/>
          </a:xfrm>
          <a:prstGeom prst="roundRect">
            <a:avLst>
              <a:gd name="adj" fmla="val 12028"/>
            </a:avLst>
          </a:prstGeom>
          <a:solidFill>
            <a:srgbClr val="0F2E33"/>
          </a:solidFill>
          <a:ln w="12700">
            <a:solidFill>
              <a:srgbClr val="2E6A6F"/>
            </a:solidFill>
            <a:prstDash val="solid"/>
          </a:ln>
        </p:spPr>
        <p:txBody>
          <a:bodyPr/>
          <a:lstStyle/>
          <a:p>
            <a:endParaRPr lang="es-CL"/>
          </a:p>
        </p:txBody>
      </p:sp>
      <p:pic>
        <p:nvPicPr>
          <p:cNvPr id="26" name="Image 3" descr="Cloud"/>
          <p:cNvPicPr>
            <a:picLocks noChangeAspect="1"/>
          </p:cNvPicPr>
          <p:nvPr/>
        </p:nvPicPr>
        <p:blipFill>
          <a:blip r:embed="rId6"/>
          <a:srcRect/>
          <a:stretch/>
        </p:blipFill>
        <p:spPr>
          <a:xfrm>
            <a:off x="8599984" y="3203476"/>
            <a:ext cx="254000" cy="254000"/>
          </a:xfrm>
          <a:prstGeom prst="rect">
            <a:avLst/>
          </a:prstGeom>
        </p:spPr>
      </p:pic>
      <p:sp>
        <p:nvSpPr>
          <p:cNvPr id="27" name="Text 21"/>
          <p:cNvSpPr/>
          <p:nvPr/>
        </p:nvSpPr>
        <p:spPr>
          <a:xfrm>
            <a:off x="8968284" y="3108027"/>
            <a:ext cx="21235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OpenAI API · externo</a:t>
            </a:r>
            <a:endParaRPr lang="en-US" sz="1300" dirty="0"/>
          </a:p>
        </p:txBody>
      </p:sp>
      <p:sp>
        <p:nvSpPr>
          <p:cNvPr id="28" name="Text 22"/>
          <p:cNvSpPr/>
          <p:nvPr/>
        </p:nvSpPr>
        <p:spPr>
          <a:xfrm>
            <a:off x="8968284" y="3364508"/>
            <a:ext cx="2123516" cy="213916"/>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BFD3D1"/>
                </a:solidFill>
                <a:latin typeface="DM Sans" pitchFamily="34" charset="0"/>
                <a:ea typeface="DM Sans" pitchFamily="34" charset="-122"/>
                <a:cs typeface="DM Sans" pitchFamily="34" charset="-120"/>
              </a:rPr>
              <a:t>Solo recibe texto anonimizado</a:t>
            </a:r>
            <a:endParaRPr lang="en-US" sz="1100" dirty="0"/>
          </a:p>
        </p:txBody>
      </p:sp>
      <p:sp>
        <p:nvSpPr>
          <p:cNvPr id="29" name="Shape 23"/>
          <p:cNvSpPr/>
          <p:nvPr/>
        </p:nvSpPr>
        <p:spPr>
          <a:xfrm>
            <a:off x="815975" y="3957935"/>
            <a:ext cx="10560050" cy="1038820"/>
          </a:xfrm>
          <a:prstGeom prst="roundRect">
            <a:avLst>
              <a:gd name="adj" fmla="val 10697"/>
            </a:avLst>
          </a:prstGeom>
          <a:solidFill>
            <a:srgbClr val="163C42"/>
          </a:solidFill>
          <a:ln w="6350">
            <a:solidFill>
              <a:srgbClr val="2E6A6F"/>
            </a:solidFill>
            <a:prstDash val="solid"/>
          </a:ln>
        </p:spPr>
        <p:txBody>
          <a:bodyPr/>
          <a:lstStyle/>
          <a:p>
            <a:endParaRPr lang="es-CL"/>
          </a:p>
        </p:txBody>
      </p:sp>
      <p:sp>
        <p:nvSpPr>
          <p:cNvPr id="30" name="Text 24"/>
          <p:cNvSpPr/>
          <p:nvPr/>
        </p:nvSpPr>
        <p:spPr>
          <a:xfrm>
            <a:off x="996950" y="4228405"/>
            <a:ext cx="196215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5CC4BB"/>
                </a:solidFill>
                <a:latin typeface="DM Sans" pitchFamily="34" charset="0"/>
                <a:ea typeface="DM Sans" pitchFamily="34" charset="-122"/>
                <a:cs typeface="DM Sans" pitchFamily="34" charset="-120"/>
              </a:rPr>
              <a:t>03</a:t>
            </a:r>
            <a:endParaRPr lang="en-US" sz="2000" dirty="0"/>
          </a:p>
        </p:txBody>
      </p:sp>
      <p:sp>
        <p:nvSpPr>
          <p:cNvPr id="31" name="Text 25"/>
          <p:cNvSpPr/>
          <p:nvPr/>
        </p:nvSpPr>
        <p:spPr>
          <a:xfrm>
            <a:off x="996950" y="4495105"/>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Capa de datos</a:t>
            </a:r>
            <a:endParaRPr lang="en-US" sz="1300" dirty="0"/>
          </a:p>
        </p:txBody>
      </p:sp>
      <p:sp>
        <p:nvSpPr>
          <p:cNvPr id="32" name="Shape 26"/>
          <p:cNvSpPr/>
          <p:nvPr/>
        </p:nvSpPr>
        <p:spPr>
          <a:xfrm>
            <a:off x="3082925" y="4137323"/>
            <a:ext cx="8108950" cy="679946"/>
          </a:xfrm>
          <a:prstGeom prst="roundRect">
            <a:avLst>
              <a:gd name="adj" fmla="val 12608"/>
            </a:avLst>
          </a:prstGeom>
          <a:solidFill>
            <a:srgbClr val="0F2E33"/>
          </a:solidFill>
          <a:ln w="6350">
            <a:solidFill>
              <a:srgbClr val="2E6A6F"/>
            </a:solidFill>
            <a:prstDash val="solid"/>
          </a:ln>
        </p:spPr>
        <p:txBody>
          <a:bodyPr/>
          <a:lstStyle/>
          <a:p>
            <a:endParaRPr lang="es-CL"/>
          </a:p>
        </p:txBody>
      </p:sp>
      <p:pic>
        <p:nvPicPr>
          <p:cNvPr id="33" name="Image 4" descr="Book"/>
          <p:cNvPicPr>
            <a:picLocks noChangeAspect="1"/>
          </p:cNvPicPr>
          <p:nvPr/>
        </p:nvPicPr>
        <p:blipFill>
          <a:blip r:embed="rId7"/>
          <a:srcRect/>
          <a:stretch/>
        </p:blipFill>
        <p:spPr>
          <a:xfrm>
            <a:off x="3238500" y="4350246"/>
            <a:ext cx="254000" cy="254000"/>
          </a:xfrm>
          <a:prstGeom prst="rect">
            <a:avLst/>
          </a:prstGeom>
        </p:spPr>
      </p:pic>
      <p:sp>
        <p:nvSpPr>
          <p:cNvPr id="34" name="Text 27"/>
          <p:cNvSpPr/>
          <p:nvPr/>
        </p:nvSpPr>
        <p:spPr>
          <a:xfrm>
            <a:off x="3606800" y="4254798"/>
            <a:ext cx="765238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PostgreSQL + pgvector</a:t>
            </a:r>
            <a:endParaRPr lang="en-US" sz="1300" dirty="0"/>
          </a:p>
        </p:txBody>
      </p:sp>
      <p:sp>
        <p:nvSpPr>
          <p:cNvPr id="35" name="Text 28"/>
          <p:cNvSpPr/>
          <p:nvPr/>
        </p:nvSpPr>
        <p:spPr>
          <a:xfrm>
            <a:off x="3606800" y="4511278"/>
            <a:ext cx="7652385" cy="213916"/>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BFD3D1"/>
                </a:solidFill>
                <a:latin typeface="DM Sans" pitchFamily="34" charset="0"/>
                <a:ea typeface="DM Sans" pitchFamily="34" charset="-122"/>
                <a:cs typeface="DM Sans" pitchFamily="34" charset="-120"/>
              </a:rPr>
              <a:t>Datos clínicos, auditoría y vectores de las guías clínicas</a:t>
            </a:r>
            <a:endParaRPr lang="en-US" sz="1100" dirty="0"/>
          </a:p>
        </p:txBody>
      </p:sp>
      <p:sp>
        <p:nvSpPr>
          <p:cNvPr id="36" name="Shape 29"/>
          <p:cNvSpPr/>
          <p:nvPr/>
        </p:nvSpPr>
        <p:spPr>
          <a:xfrm>
            <a:off x="815975" y="5104705"/>
            <a:ext cx="10560050" cy="1038920"/>
          </a:xfrm>
          <a:prstGeom prst="roundRect">
            <a:avLst>
              <a:gd name="adj" fmla="val 10696"/>
            </a:avLst>
          </a:prstGeom>
          <a:solidFill>
            <a:srgbClr val="163C42"/>
          </a:solidFill>
          <a:ln w="6350">
            <a:solidFill>
              <a:srgbClr val="2E6A6F"/>
            </a:solidFill>
            <a:prstDash val="solid"/>
          </a:ln>
        </p:spPr>
        <p:txBody>
          <a:bodyPr/>
          <a:lstStyle/>
          <a:p>
            <a:endParaRPr lang="es-CL"/>
          </a:p>
        </p:txBody>
      </p:sp>
      <p:sp>
        <p:nvSpPr>
          <p:cNvPr id="37" name="Text 30"/>
          <p:cNvSpPr/>
          <p:nvPr/>
        </p:nvSpPr>
        <p:spPr>
          <a:xfrm>
            <a:off x="996950" y="5375275"/>
            <a:ext cx="1962150"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5CC4BB"/>
                </a:solidFill>
                <a:latin typeface="DM Sans" pitchFamily="34" charset="0"/>
                <a:ea typeface="DM Sans" pitchFamily="34" charset="-122"/>
                <a:cs typeface="DM Sans" pitchFamily="34" charset="-120"/>
              </a:rPr>
              <a:t>04</a:t>
            </a:r>
            <a:endParaRPr lang="en-US" sz="2000" dirty="0"/>
          </a:p>
        </p:txBody>
      </p:sp>
      <p:sp>
        <p:nvSpPr>
          <p:cNvPr id="38" name="Text 31"/>
          <p:cNvSpPr/>
          <p:nvPr/>
        </p:nvSpPr>
        <p:spPr>
          <a:xfrm>
            <a:off x="996950" y="5641975"/>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Infraestructura</a:t>
            </a:r>
            <a:endParaRPr lang="en-US" sz="1300" dirty="0"/>
          </a:p>
        </p:txBody>
      </p:sp>
      <p:sp>
        <p:nvSpPr>
          <p:cNvPr id="39" name="Shape 32"/>
          <p:cNvSpPr/>
          <p:nvPr/>
        </p:nvSpPr>
        <p:spPr>
          <a:xfrm>
            <a:off x="3082925" y="5189934"/>
            <a:ext cx="3962400" cy="868462"/>
          </a:xfrm>
          <a:prstGeom prst="roundRect">
            <a:avLst>
              <a:gd name="adj" fmla="val 9871"/>
            </a:avLst>
          </a:prstGeom>
          <a:solidFill>
            <a:srgbClr val="0F2E33"/>
          </a:solidFill>
          <a:ln w="6350">
            <a:solidFill>
              <a:srgbClr val="2E6A6F"/>
            </a:solidFill>
            <a:prstDash val="solid"/>
          </a:ln>
        </p:spPr>
        <p:txBody>
          <a:bodyPr/>
          <a:lstStyle/>
          <a:p>
            <a:endParaRPr lang="es-CL"/>
          </a:p>
        </p:txBody>
      </p:sp>
      <p:pic>
        <p:nvPicPr>
          <p:cNvPr id="40" name="Image 5" descr="Code"/>
          <p:cNvPicPr>
            <a:picLocks noChangeAspect="1"/>
          </p:cNvPicPr>
          <p:nvPr/>
        </p:nvPicPr>
        <p:blipFill>
          <a:blip r:embed="rId5"/>
          <a:srcRect/>
          <a:stretch/>
        </p:blipFill>
        <p:spPr>
          <a:xfrm>
            <a:off x="3238500" y="5497116"/>
            <a:ext cx="254000" cy="254000"/>
          </a:xfrm>
          <a:prstGeom prst="rect">
            <a:avLst/>
          </a:prstGeom>
        </p:spPr>
      </p:pic>
      <p:sp>
        <p:nvSpPr>
          <p:cNvPr id="41" name="Text 33"/>
          <p:cNvSpPr/>
          <p:nvPr/>
        </p:nvSpPr>
        <p:spPr>
          <a:xfrm>
            <a:off x="3606800" y="5307409"/>
            <a:ext cx="338143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Docker · Docker Compose</a:t>
            </a:r>
            <a:endParaRPr lang="en-US" sz="1300" dirty="0"/>
          </a:p>
        </p:txBody>
      </p:sp>
      <p:sp>
        <p:nvSpPr>
          <p:cNvPr id="42" name="Text 34"/>
          <p:cNvSpPr/>
          <p:nvPr/>
        </p:nvSpPr>
        <p:spPr>
          <a:xfrm>
            <a:off x="3606800" y="5563890"/>
            <a:ext cx="3381439" cy="402431"/>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BFD3D1"/>
                </a:solidFill>
                <a:latin typeface="DM Sans" pitchFamily="34" charset="0"/>
                <a:ea typeface="DM Sans" pitchFamily="34" charset="-122"/>
                <a:cs typeface="DM Sans" pitchFamily="34" charset="-120"/>
              </a:rPr>
              <a:t>Mismo entorno para todo el equipo con un comando</a:t>
            </a:r>
            <a:endParaRPr lang="en-US" sz="1100" dirty="0"/>
          </a:p>
        </p:txBody>
      </p:sp>
      <p:sp>
        <p:nvSpPr>
          <p:cNvPr id="43" name="Shape 35"/>
          <p:cNvSpPr/>
          <p:nvPr/>
        </p:nvSpPr>
        <p:spPr>
          <a:xfrm>
            <a:off x="7229475" y="5284192"/>
            <a:ext cx="3962400" cy="679946"/>
          </a:xfrm>
          <a:prstGeom prst="roundRect">
            <a:avLst>
              <a:gd name="adj" fmla="val 12608"/>
            </a:avLst>
          </a:prstGeom>
          <a:solidFill>
            <a:srgbClr val="0F2E33"/>
          </a:solidFill>
          <a:ln w="6350">
            <a:solidFill>
              <a:srgbClr val="2E6A6F"/>
            </a:solidFill>
            <a:prstDash val="solid"/>
          </a:ln>
        </p:spPr>
        <p:txBody>
          <a:bodyPr/>
          <a:lstStyle/>
          <a:p>
            <a:endParaRPr lang="es-CL"/>
          </a:p>
        </p:txBody>
      </p:sp>
      <p:pic>
        <p:nvPicPr>
          <p:cNvPr id="44" name="Image 6" descr="Lock"/>
          <p:cNvPicPr>
            <a:picLocks noChangeAspect="1"/>
          </p:cNvPicPr>
          <p:nvPr/>
        </p:nvPicPr>
        <p:blipFill>
          <a:blip r:embed="rId8"/>
          <a:srcRect/>
          <a:stretch/>
        </p:blipFill>
        <p:spPr>
          <a:xfrm>
            <a:off x="7385050" y="5497116"/>
            <a:ext cx="254000" cy="254000"/>
          </a:xfrm>
          <a:prstGeom prst="rect">
            <a:avLst/>
          </a:prstGeom>
        </p:spPr>
      </p:pic>
      <p:sp>
        <p:nvSpPr>
          <p:cNvPr id="45" name="Text 36"/>
          <p:cNvSpPr/>
          <p:nvPr/>
        </p:nvSpPr>
        <p:spPr>
          <a:xfrm>
            <a:off x="7753350" y="5401667"/>
            <a:ext cx="338143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6F5"/>
                </a:solidFill>
                <a:latin typeface="DM Sans" pitchFamily="34" charset="0"/>
                <a:ea typeface="DM Sans" pitchFamily="34" charset="-122"/>
                <a:cs typeface="DM Sans" pitchFamily="34" charset="-120"/>
              </a:rPr>
              <a:t>Nube (previsto)</a:t>
            </a:r>
            <a:endParaRPr lang="en-US" sz="1300" dirty="0"/>
          </a:p>
        </p:txBody>
      </p:sp>
      <p:sp>
        <p:nvSpPr>
          <p:cNvPr id="46" name="Text 37"/>
          <p:cNvSpPr/>
          <p:nvPr/>
        </p:nvSpPr>
        <p:spPr>
          <a:xfrm>
            <a:off x="7753350" y="5658148"/>
            <a:ext cx="3381439" cy="213916"/>
          </a:xfrm>
          <a:prstGeom prst="rect">
            <a:avLst/>
          </a:prstGeom>
          <a:noFill/>
          <a:ln/>
        </p:spPr>
        <p:txBody>
          <a:bodyPr wrap="square" lIns="0" tIns="0" rIns="0" bIns="0" rtlCol="0" anchor="t">
            <a:normAutofit/>
          </a:bodyPr>
          <a:lstStyle/>
          <a:p>
            <a:pPr marL="0" indent="0" algn="l">
              <a:lnSpc>
                <a:spcPts val="1485"/>
              </a:lnSpc>
              <a:buNone/>
            </a:pPr>
            <a:r>
              <a:rPr lang="en-US" sz="1100" dirty="0">
                <a:solidFill>
                  <a:srgbClr val="BFD3D1"/>
                </a:solidFill>
                <a:latin typeface="DM Sans" pitchFamily="34" charset="0"/>
                <a:ea typeface="DM Sans" pitchFamily="34" charset="-122"/>
                <a:cs typeface="DM Sans" pitchFamily="34" charset="-120"/>
              </a:rPr>
              <a:t>Despliegue en GCP u otro proveedor, con HTTPS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3EE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STACK TECNOLÓGICO</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Una herramienta elegida para cada capa</a:t>
            </a:r>
            <a:endParaRPr lang="en-US" sz="3200" dirty="0"/>
          </a:p>
        </p:txBody>
      </p:sp>
      <p:sp>
        <p:nvSpPr>
          <p:cNvPr id="4" name="Shape 2"/>
          <p:cNvSpPr/>
          <p:nvPr/>
        </p:nvSpPr>
        <p:spPr>
          <a:xfrm>
            <a:off x="812800" y="1835051"/>
            <a:ext cx="10566400" cy="0"/>
          </a:xfrm>
          <a:prstGeom prst="line">
            <a:avLst/>
          </a:prstGeom>
          <a:noFill/>
          <a:ln w="12700">
            <a:solidFill>
              <a:srgbClr val="C3D6D2"/>
            </a:solidFill>
            <a:prstDash val="solid"/>
          </a:ln>
        </p:spPr>
        <p:txBody>
          <a:bodyPr/>
          <a:lstStyle/>
          <a:p>
            <a:endParaRPr lang="es-CL"/>
          </a:p>
        </p:txBody>
      </p:sp>
      <p:sp>
        <p:nvSpPr>
          <p:cNvPr id="5" name="Text 3"/>
          <p:cNvSpPr/>
          <p:nvPr/>
        </p:nvSpPr>
        <p:spPr>
          <a:xfrm>
            <a:off x="812800" y="1968401"/>
            <a:ext cx="23545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2E33"/>
                </a:solidFill>
                <a:latin typeface="DM Sans" pitchFamily="34" charset="0"/>
                <a:ea typeface="DM Sans" pitchFamily="34" charset="-122"/>
                <a:cs typeface="DM Sans" pitchFamily="34" charset="-120"/>
              </a:rPr>
              <a:t>App móvil</a:t>
            </a:r>
            <a:endParaRPr lang="en-US" sz="1500" dirty="0"/>
          </a:p>
        </p:txBody>
      </p:sp>
      <p:sp>
        <p:nvSpPr>
          <p:cNvPr id="6" name="Text 4"/>
          <p:cNvSpPr/>
          <p:nvPr/>
        </p:nvSpPr>
        <p:spPr>
          <a:xfrm>
            <a:off x="812800" y="2209701"/>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Captura y visión</a:t>
            </a:r>
            <a:endParaRPr lang="en-US" sz="1200" dirty="0"/>
          </a:p>
        </p:txBody>
      </p:sp>
      <p:sp>
        <p:nvSpPr>
          <p:cNvPr id="7" name="Text 5"/>
          <p:cNvSpPr/>
          <p:nvPr/>
        </p:nvSpPr>
        <p:spPr>
          <a:xfrm>
            <a:off x="3403600" y="2025551"/>
            <a:ext cx="80268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Kotlin</a:t>
            </a:r>
            <a:endParaRPr lang="en-US" sz="1200" dirty="0"/>
          </a:p>
        </p:txBody>
      </p:sp>
      <p:sp>
        <p:nvSpPr>
          <p:cNvPr id="8" name="Text 6"/>
          <p:cNvSpPr/>
          <p:nvPr/>
        </p:nvSpPr>
        <p:spPr>
          <a:xfrm>
            <a:off x="4282480" y="2025551"/>
            <a:ext cx="16256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Jetpack Compose</a:t>
            </a:r>
            <a:endParaRPr lang="en-US" sz="1200" dirty="0"/>
          </a:p>
        </p:txBody>
      </p:sp>
      <p:sp>
        <p:nvSpPr>
          <p:cNvPr id="9" name="Text 7"/>
          <p:cNvSpPr/>
          <p:nvPr/>
        </p:nvSpPr>
        <p:spPr>
          <a:xfrm>
            <a:off x="5984280" y="2025551"/>
            <a:ext cx="153422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MediaPipe</a:t>
            </a:r>
            <a:endParaRPr lang="en-US" sz="1200" dirty="0"/>
          </a:p>
        </p:txBody>
      </p:sp>
      <p:sp>
        <p:nvSpPr>
          <p:cNvPr id="10" name="Text 8"/>
          <p:cNvSpPr/>
          <p:nvPr/>
        </p:nvSpPr>
        <p:spPr>
          <a:xfrm>
            <a:off x="7594699" y="2025551"/>
            <a:ext cx="125988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Android 10+</a:t>
            </a:r>
            <a:endParaRPr lang="en-US" sz="1200" dirty="0"/>
          </a:p>
        </p:txBody>
      </p:sp>
      <p:sp>
        <p:nvSpPr>
          <p:cNvPr id="11" name="Shape 9"/>
          <p:cNvSpPr/>
          <p:nvPr/>
        </p:nvSpPr>
        <p:spPr>
          <a:xfrm>
            <a:off x="812800" y="2556371"/>
            <a:ext cx="10566400" cy="0"/>
          </a:xfrm>
          <a:prstGeom prst="line">
            <a:avLst/>
          </a:prstGeom>
          <a:noFill/>
          <a:ln w="12700">
            <a:solidFill>
              <a:srgbClr val="C3D6D2"/>
            </a:solidFill>
            <a:prstDash val="solid"/>
          </a:ln>
        </p:spPr>
        <p:txBody>
          <a:bodyPr/>
          <a:lstStyle/>
          <a:p>
            <a:endParaRPr lang="es-CL"/>
          </a:p>
        </p:txBody>
      </p:sp>
      <p:sp>
        <p:nvSpPr>
          <p:cNvPr id="12" name="Text 10"/>
          <p:cNvSpPr/>
          <p:nvPr/>
        </p:nvSpPr>
        <p:spPr>
          <a:xfrm>
            <a:off x="812800" y="2689721"/>
            <a:ext cx="23545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2E33"/>
                </a:solidFill>
                <a:latin typeface="DM Sans" pitchFamily="34" charset="0"/>
                <a:ea typeface="DM Sans" pitchFamily="34" charset="-122"/>
                <a:cs typeface="DM Sans" pitchFamily="34" charset="-120"/>
              </a:rPr>
              <a:t>Web</a:t>
            </a:r>
            <a:endParaRPr lang="en-US" sz="1500" dirty="0"/>
          </a:p>
        </p:txBody>
      </p:sp>
      <p:sp>
        <p:nvSpPr>
          <p:cNvPr id="13" name="Text 11"/>
          <p:cNvSpPr/>
          <p:nvPr/>
        </p:nvSpPr>
        <p:spPr>
          <a:xfrm>
            <a:off x="812800" y="2931021"/>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Médico y administrador</a:t>
            </a:r>
            <a:endParaRPr lang="en-US" sz="1200" dirty="0"/>
          </a:p>
        </p:txBody>
      </p:sp>
      <p:sp>
        <p:nvSpPr>
          <p:cNvPr id="14" name="Text 12"/>
          <p:cNvSpPr/>
          <p:nvPr/>
        </p:nvSpPr>
        <p:spPr>
          <a:xfrm>
            <a:off x="3403600" y="2746871"/>
            <a:ext cx="7112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React</a:t>
            </a:r>
            <a:endParaRPr lang="en-US" sz="1200" dirty="0"/>
          </a:p>
        </p:txBody>
      </p:sp>
      <p:sp>
        <p:nvSpPr>
          <p:cNvPr id="15" name="Text 13"/>
          <p:cNvSpPr/>
          <p:nvPr/>
        </p:nvSpPr>
        <p:spPr>
          <a:xfrm>
            <a:off x="4191000" y="2746871"/>
            <a:ext cx="11684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JavaScript</a:t>
            </a:r>
            <a:endParaRPr lang="en-US" sz="1200" dirty="0"/>
          </a:p>
        </p:txBody>
      </p:sp>
      <p:sp>
        <p:nvSpPr>
          <p:cNvPr id="16" name="Text 14"/>
          <p:cNvSpPr/>
          <p:nvPr/>
        </p:nvSpPr>
        <p:spPr>
          <a:xfrm>
            <a:off x="5435600" y="2746871"/>
            <a:ext cx="11684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HTML y CSS</a:t>
            </a:r>
            <a:endParaRPr lang="en-US" sz="1200" dirty="0"/>
          </a:p>
        </p:txBody>
      </p:sp>
      <p:sp>
        <p:nvSpPr>
          <p:cNvPr id="17" name="Shape 15"/>
          <p:cNvSpPr/>
          <p:nvPr/>
        </p:nvSpPr>
        <p:spPr>
          <a:xfrm>
            <a:off x="812800" y="3277691"/>
            <a:ext cx="10566400" cy="0"/>
          </a:xfrm>
          <a:prstGeom prst="line">
            <a:avLst/>
          </a:prstGeom>
          <a:noFill/>
          <a:ln w="12700">
            <a:solidFill>
              <a:srgbClr val="C3D6D2"/>
            </a:solidFill>
            <a:prstDash val="solid"/>
          </a:ln>
        </p:spPr>
        <p:txBody>
          <a:bodyPr/>
          <a:lstStyle/>
          <a:p>
            <a:endParaRPr lang="es-CL"/>
          </a:p>
        </p:txBody>
      </p:sp>
      <p:sp>
        <p:nvSpPr>
          <p:cNvPr id="18" name="Text 16"/>
          <p:cNvSpPr/>
          <p:nvPr/>
        </p:nvSpPr>
        <p:spPr>
          <a:xfrm>
            <a:off x="812800" y="3411041"/>
            <a:ext cx="23545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2E33"/>
                </a:solidFill>
                <a:latin typeface="DM Sans" pitchFamily="34" charset="0"/>
                <a:ea typeface="DM Sans" pitchFamily="34" charset="-122"/>
                <a:cs typeface="DM Sans" pitchFamily="34" charset="-120"/>
              </a:rPr>
              <a:t>Backend</a:t>
            </a:r>
            <a:endParaRPr lang="en-US" sz="1500" dirty="0"/>
          </a:p>
        </p:txBody>
      </p:sp>
      <p:sp>
        <p:nvSpPr>
          <p:cNvPr id="19" name="Text 17"/>
          <p:cNvSpPr/>
          <p:nvPr/>
        </p:nvSpPr>
        <p:spPr>
          <a:xfrm>
            <a:off x="812800" y="3652341"/>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API, lógica y seguridad</a:t>
            </a:r>
            <a:endParaRPr lang="en-US" sz="1200" dirty="0"/>
          </a:p>
        </p:txBody>
      </p:sp>
      <p:sp>
        <p:nvSpPr>
          <p:cNvPr id="20" name="Text 18"/>
          <p:cNvSpPr/>
          <p:nvPr/>
        </p:nvSpPr>
        <p:spPr>
          <a:xfrm>
            <a:off x="3403600" y="3468191"/>
            <a:ext cx="80268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Python</a:t>
            </a:r>
            <a:endParaRPr lang="en-US" sz="1200" dirty="0"/>
          </a:p>
        </p:txBody>
      </p:sp>
      <p:sp>
        <p:nvSpPr>
          <p:cNvPr id="21" name="Text 19"/>
          <p:cNvSpPr/>
          <p:nvPr/>
        </p:nvSpPr>
        <p:spPr>
          <a:xfrm>
            <a:off x="4282480" y="3468191"/>
            <a:ext cx="894159"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FastAPI</a:t>
            </a:r>
            <a:endParaRPr lang="en-US" sz="1200" dirty="0"/>
          </a:p>
        </p:txBody>
      </p:sp>
      <p:sp>
        <p:nvSpPr>
          <p:cNvPr id="22" name="Text 20"/>
          <p:cNvSpPr/>
          <p:nvPr/>
        </p:nvSpPr>
        <p:spPr>
          <a:xfrm>
            <a:off x="5252839" y="3468191"/>
            <a:ext cx="11684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SQLAlchemy</a:t>
            </a:r>
            <a:endParaRPr lang="en-US" sz="1200" dirty="0"/>
          </a:p>
        </p:txBody>
      </p:sp>
      <p:sp>
        <p:nvSpPr>
          <p:cNvPr id="23" name="Text 21"/>
          <p:cNvSpPr/>
          <p:nvPr/>
        </p:nvSpPr>
        <p:spPr>
          <a:xfrm>
            <a:off x="6497439" y="3468191"/>
            <a:ext cx="98554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Pydantic</a:t>
            </a:r>
            <a:endParaRPr lang="en-US" sz="1200" dirty="0"/>
          </a:p>
        </p:txBody>
      </p:sp>
      <p:sp>
        <p:nvSpPr>
          <p:cNvPr id="24" name="Text 22"/>
          <p:cNvSpPr/>
          <p:nvPr/>
        </p:nvSpPr>
        <p:spPr>
          <a:xfrm>
            <a:off x="7559179" y="3468191"/>
            <a:ext cx="52834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JWT</a:t>
            </a:r>
            <a:endParaRPr lang="en-US" sz="1200" dirty="0"/>
          </a:p>
        </p:txBody>
      </p:sp>
      <p:sp>
        <p:nvSpPr>
          <p:cNvPr id="25" name="Text 23"/>
          <p:cNvSpPr/>
          <p:nvPr/>
        </p:nvSpPr>
        <p:spPr>
          <a:xfrm>
            <a:off x="8163719" y="3468191"/>
            <a:ext cx="80268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bcrypt</a:t>
            </a:r>
            <a:endParaRPr lang="en-US" sz="1200" dirty="0"/>
          </a:p>
        </p:txBody>
      </p:sp>
      <p:sp>
        <p:nvSpPr>
          <p:cNvPr id="26" name="Shape 24"/>
          <p:cNvSpPr/>
          <p:nvPr/>
        </p:nvSpPr>
        <p:spPr>
          <a:xfrm>
            <a:off x="812800" y="3999012"/>
            <a:ext cx="10566400" cy="0"/>
          </a:xfrm>
          <a:prstGeom prst="line">
            <a:avLst/>
          </a:prstGeom>
          <a:noFill/>
          <a:ln w="12700">
            <a:solidFill>
              <a:srgbClr val="C3D6D2"/>
            </a:solidFill>
            <a:prstDash val="solid"/>
          </a:ln>
        </p:spPr>
        <p:txBody>
          <a:bodyPr/>
          <a:lstStyle/>
          <a:p>
            <a:endParaRPr lang="es-CL"/>
          </a:p>
        </p:txBody>
      </p:sp>
      <p:sp>
        <p:nvSpPr>
          <p:cNvPr id="27" name="Text 25"/>
          <p:cNvSpPr/>
          <p:nvPr/>
        </p:nvSpPr>
        <p:spPr>
          <a:xfrm>
            <a:off x="812800" y="4132362"/>
            <a:ext cx="23545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2E33"/>
                </a:solidFill>
                <a:latin typeface="DM Sans" pitchFamily="34" charset="0"/>
                <a:ea typeface="DM Sans" pitchFamily="34" charset="-122"/>
                <a:cs typeface="DM Sans" pitchFamily="34" charset="-120"/>
              </a:rPr>
              <a:t>Inteligencia artificial</a:t>
            </a:r>
            <a:endParaRPr lang="en-US" sz="1500" dirty="0"/>
          </a:p>
        </p:txBody>
      </p:sp>
      <p:sp>
        <p:nvSpPr>
          <p:cNvPr id="28" name="Text 26"/>
          <p:cNvSpPr/>
          <p:nvPr/>
        </p:nvSpPr>
        <p:spPr>
          <a:xfrm>
            <a:off x="812800" y="4373662"/>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Prediagnóstico con RAG</a:t>
            </a:r>
            <a:endParaRPr lang="en-US" sz="1200" dirty="0"/>
          </a:p>
        </p:txBody>
      </p:sp>
      <p:sp>
        <p:nvSpPr>
          <p:cNvPr id="29" name="Text 27"/>
          <p:cNvSpPr/>
          <p:nvPr/>
        </p:nvSpPr>
        <p:spPr>
          <a:xfrm>
            <a:off x="3403600" y="4189512"/>
            <a:ext cx="11684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OpenAI API</a:t>
            </a:r>
            <a:endParaRPr lang="en-US" sz="1200" dirty="0"/>
          </a:p>
        </p:txBody>
      </p:sp>
      <p:sp>
        <p:nvSpPr>
          <p:cNvPr id="30" name="Text 28"/>
          <p:cNvSpPr/>
          <p:nvPr/>
        </p:nvSpPr>
        <p:spPr>
          <a:xfrm>
            <a:off x="4648200" y="4189512"/>
            <a:ext cx="11684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Embeddings</a:t>
            </a:r>
            <a:endParaRPr lang="en-US" sz="1200" dirty="0"/>
          </a:p>
        </p:txBody>
      </p:sp>
      <p:sp>
        <p:nvSpPr>
          <p:cNvPr id="32" name="Text 30"/>
          <p:cNvSpPr/>
          <p:nvPr/>
        </p:nvSpPr>
        <p:spPr>
          <a:xfrm>
            <a:off x="5892800" y="4189510"/>
            <a:ext cx="98554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pgvector</a:t>
            </a:r>
            <a:endParaRPr lang="en-US" sz="1200" dirty="0"/>
          </a:p>
        </p:txBody>
      </p:sp>
      <p:sp>
        <p:nvSpPr>
          <p:cNvPr id="33" name="Shape 31"/>
          <p:cNvSpPr/>
          <p:nvPr/>
        </p:nvSpPr>
        <p:spPr>
          <a:xfrm>
            <a:off x="812800" y="4720332"/>
            <a:ext cx="10566400" cy="0"/>
          </a:xfrm>
          <a:prstGeom prst="line">
            <a:avLst/>
          </a:prstGeom>
          <a:noFill/>
          <a:ln w="12700">
            <a:solidFill>
              <a:srgbClr val="C3D6D2"/>
            </a:solidFill>
            <a:prstDash val="solid"/>
          </a:ln>
        </p:spPr>
        <p:txBody>
          <a:bodyPr/>
          <a:lstStyle/>
          <a:p>
            <a:endParaRPr lang="es-CL"/>
          </a:p>
        </p:txBody>
      </p:sp>
      <p:sp>
        <p:nvSpPr>
          <p:cNvPr id="34" name="Shape 32"/>
          <p:cNvSpPr/>
          <p:nvPr/>
        </p:nvSpPr>
        <p:spPr>
          <a:xfrm>
            <a:off x="812800" y="5441652"/>
            <a:ext cx="10566400" cy="0"/>
          </a:xfrm>
          <a:prstGeom prst="line">
            <a:avLst/>
          </a:prstGeom>
          <a:noFill/>
          <a:ln w="12700">
            <a:solidFill>
              <a:srgbClr val="C3D6D2"/>
            </a:solidFill>
            <a:prstDash val="solid"/>
          </a:ln>
        </p:spPr>
        <p:txBody>
          <a:bodyPr/>
          <a:lstStyle/>
          <a:p>
            <a:endParaRPr lang="es-CL"/>
          </a:p>
        </p:txBody>
      </p:sp>
      <p:sp>
        <p:nvSpPr>
          <p:cNvPr id="35" name="Text 33"/>
          <p:cNvSpPr/>
          <p:nvPr/>
        </p:nvSpPr>
        <p:spPr>
          <a:xfrm>
            <a:off x="812800" y="4853682"/>
            <a:ext cx="23545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2E33"/>
                </a:solidFill>
                <a:latin typeface="DM Sans" pitchFamily="34" charset="0"/>
                <a:ea typeface="DM Sans" pitchFamily="34" charset="-122"/>
                <a:cs typeface="DM Sans" pitchFamily="34" charset="-120"/>
              </a:rPr>
              <a:t>Datos e infraestructura</a:t>
            </a:r>
            <a:endParaRPr lang="en-US" sz="1500" dirty="0"/>
          </a:p>
        </p:txBody>
      </p:sp>
      <p:sp>
        <p:nvSpPr>
          <p:cNvPr id="36" name="Text 34"/>
          <p:cNvSpPr/>
          <p:nvPr/>
        </p:nvSpPr>
        <p:spPr>
          <a:xfrm>
            <a:off x="812800" y="5094982"/>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Persistencia y entorno</a:t>
            </a:r>
            <a:endParaRPr lang="en-US" sz="1200" dirty="0"/>
          </a:p>
        </p:txBody>
      </p:sp>
      <p:sp>
        <p:nvSpPr>
          <p:cNvPr id="37" name="Text 35"/>
          <p:cNvSpPr/>
          <p:nvPr/>
        </p:nvSpPr>
        <p:spPr>
          <a:xfrm>
            <a:off x="3403600" y="4910832"/>
            <a:ext cx="116840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PostgreSQL</a:t>
            </a:r>
            <a:endParaRPr lang="en-US" sz="1200" dirty="0"/>
          </a:p>
        </p:txBody>
      </p:sp>
      <p:sp>
        <p:nvSpPr>
          <p:cNvPr id="38" name="Text 36"/>
          <p:cNvSpPr/>
          <p:nvPr/>
        </p:nvSpPr>
        <p:spPr>
          <a:xfrm>
            <a:off x="4648200" y="4910832"/>
            <a:ext cx="80268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Docker</a:t>
            </a:r>
            <a:endParaRPr lang="en-US" sz="1200" dirty="0"/>
          </a:p>
        </p:txBody>
      </p:sp>
      <p:sp>
        <p:nvSpPr>
          <p:cNvPr id="40" name="Text 38"/>
          <p:cNvSpPr/>
          <p:nvPr/>
        </p:nvSpPr>
        <p:spPr>
          <a:xfrm>
            <a:off x="5542359" y="4910832"/>
            <a:ext cx="802680" cy="340320"/>
          </a:xfrm>
          <a:prstGeom prst="roundRect">
            <a:avLst>
              <a:gd name="adj" fmla="val 18659"/>
            </a:avLst>
          </a:prstGeom>
          <a:solidFill>
            <a:srgbClr val="FBFCFB"/>
          </a:solidFill>
          <a:ln/>
        </p:spPr>
        <p:txBody>
          <a:bodyPr wrap="none" lIns="0" tIns="0" rIns="0" bIns="0" rtlCol="0" anchor="ctr">
            <a:normAutofit/>
          </a:bodyPr>
          <a:lstStyle/>
          <a:p>
            <a:pPr marL="0" indent="0" algn="ctr">
              <a:lnSpc>
                <a:spcPts val="1680"/>
              </a:lnSpc>
              <a:buNone/>
            </a:pPr>
            <a:r>
              <a:rPr lang="en-US" sz="1200" dirty="0">
                <a:solidFill>
                  <a:srgbClr val="0F2E33"/>
                </a:solidFill>
                <a:latin typeface="JetBrains Mono" pitchFamily="49" charset="0"/>
                <a:ea typeface="JetBrains Mono" pitchFamily="49" charset="-122"/>
                <a:cs typeface="JetBrains Mono" pitchFamily="49" charset="-120"/>
              </a:rPr>
              <a:t>GitHub</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MODELO DE DATOS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Todo gira en torno al usuario</a:t>
            </a:r>
            <a:endParaRPr lang="en-US" sz="3200" dirty="0"/>
          </a:p>
        </p:txBody>
      </p:sp>
      <p:sp>
        <p:nvSpPr>
          <p:cNvPr id="4" name="Shape 2"/>
          <p:cNvSpPr/>
          <p:nvPr/>
        </p:nvSpPr>
        <p:spPr>
          <a:xfrm>
            <a:off x="815975" y="1844675"/>
            <a:ext cx="2660650" cy="1073150"/>
          </a:xfrm>
          <a:prstGeom prst="roundRect">
            <a:avLst>
              <a:gd name="adj" fmla="val 9172"/>
            </a:avLst>
          </a:prstGeom>
          <a:solidFill>
            <a:srgbClr val="FCFDFC"/>
          </a:solidFill>
          <a:ln w="6350">
            <a:solidFill>
              <a:srgbClr val="DCE3E1"/>
            </a:solidFill>
            <a:prstDash val="solid"/>
          </a:ln>
        </p:spPr>
        <p:txBody>
          <a:bodyPr/>
          <a:lstStyle/>
          <a:p>
            <a:endParaRPr lang="es-CL"/>
          </a:p>
        </p:txBody>
      </p:sp>
      <p:sp>
        <p:nvSpPr>
          <p:cNvPr id="5" name="Text 3"/>
          <p:cNvSpPr/>
          <p:nvPr/>
        </p:nvSpPr>
        <p:spPr>
          <a:xfrm>
            <a:off x="971550" y="2000250"/>
            <a:ext cx="241998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sintomas</a:t>
            </a:r>
            <a:endParaRPr lang="en-US" sz="1300" dirty="0"/>
          </a:p>
        </p:txBody>
      </p:sp>
      <p:sp>
        <p:nvSpPr>
          <p:cNvPr id="6" name="Text 4"/>
          <p:cNvSpPr/>
          <p:nvPr/>
        </p:nvSpPr>
        <p:spPr>
          <a:xfrm>
            <a:off x="971550" y="2249091"/>
            <a:ext cx="2419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Descripción en texto original</a:t>
            </a:r>
            <a:endParaRPr lang="en-US" sz="1200" dirty="0"/>
          </a:p>
        </p:txBody>
      </p:sp>
      <p:sp>
        <p:nvSpPr>
          <p:cNvPr id="7" name="Shape 5"/>
          <p:cNvSpPr/>
          <p:nvPr/>
        </p:nvSpPr>
        <p:spPr>
          <a:xfrm>
            <a:off x="815975" y="3241675"/>
            <a:ext cx="2660650" cy="1073150"/>
          </a:xfrm>
          <a:prstGeom prst="roundRect">
            <a:avLst>
              <a:gd name="adj" fmla="val 9172"/>
            </a:avLst>
          </a:prstGeom>
          <a:solidFill>
            <a:srgbClr val="FCFDFC"/>
          </a:solidFill>
          <a:ln w="6350">
            <a:solidFill>
              <a:srgbClr val="DCE3E1"/>
            </a:solidFill>
            <a:prstDash val="solid"/>
          </a:ln>
        </p:spPr>
        <p:txBody>
          <a:bodyPr/>
          <a:lstStyle/>
          <a:p>
            <a:endParaRPr lang="es-CL"/>
          </a:p>
        </p:txBody>
      </p:sp>
      <p:sp>
        <p:nvSpPr>
          <p:cNvPr id="8" name="Text 6"/>
          <p:cNvSpPr/>
          <p:nvPr/>
        </p:nvSpPr>
        <p:spPr>
          <a:xfrm>
            <a:off x="971550" y="3397250"/>
            <a:ext cx="241998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documentos</a:t>
            </a:r>
            <a:endParaRPr lang="en-US" sz="1300" dirty="0"/>
          </a:p>
        </p:txBody>
      </p:sp>
      <p:sp>
        <p:nvSpPr>
          <p:cNvPr id="9" name="Text 7"/>
          <p:cNvSpPr/>
          <p:nvPr/>
        </p:nvSpPr>
        <p:spPr>
          <a:xfrm>
            <a:off x="971550" y="3646091"/>
            <a:ext cx="2419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Nombre, ruta y tipo de archivo</a:t>
            </a:r>
            <a:endParaRPr lang="en-US" sz="1200" dirty="0"/>
          </a:p>
        </p:txBody>
      </p:sp>
      <p:sp>
        <p:nvSpPr>
          <p:cNvPr id="10" name="Shape 8"/>
          <p:cNvSpPr/>
          <p:nvPr/>
        </p:nvSpPr>
        <p:spPr>
          <a:xfrm>
            <a:off x="815975" y="4638675"/>
            <a:ext cx="2660650" cy="1073150"/>
          </a:xfrm>
          <a:prstGeom prst="roundRect">
            <a:avLst>
              <a:gd name="adj" fmla="val 9172"/>
            </a:avLst>
          </a:prstGeom>
          <a:solidFill>
            <a:srgbClr val="FCFDFC"/>
          </a:solidFill>
          <a:ln w="6350">
            <a:solidFill>
              <a:srgbClr val="DCE3E1"/>
            </a:solidFill>
            <a:prstDash val="solid"/>
          </a:ln>
        </p:spPr>
        <p:txBody>
          <a:bodyPr/>
          <a:lstStyle/>
          <a:p>
            <a:endParaRPr lang="es-CL"/>
          </a:p>
        </p:txBody>
      </p:sp>
      <p:sp>
        <p:nvSpPr>
          <p:cNvPr id="11" name="Text 9"/>
          <p:cNvSpPr/>
          <p:nvPr/>
        </p:nvSpPr>
        <p:spPr>
          <a:xfrm>
            <a:off x="971550" y="4794250"/>
            <a:ext cx="241998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metricas_fisicas</a:t>
            </a:r>
            <a:endParaRPr lang="en-US" sz="1300" dirty="0"/>
          </a:p>
        </p:txBody>
      </p:sp>
      <p:sp>
        <p:nvSpPr>
          <p:cNvPr id="12" name="Text 10"/>
          <p:cNvSpPr/>
          <p:nvPr/>
        </p:nvSpPr>
        <p:spPr>
          <a:xfrm>
            <a:off x="971550" y="5043091"/>
            <a:ext cx="241998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Articulación, lado, ángulos máx. y mín.</a:t>
            </a:r>
            <a:endParaRPr lang="en-US" sz="1200" dirty="0"/>
          </a:p>
        </p:txBody>
      </p:sp>
      <p:sp>
        <p:nvSpPr>
          <p:cNvPr id="13" name="Shape 11"/>
          <p:cNvSpPr/>
          <p:nvPr/>
        </p:nvSpPr>
        <p:spPr>
          <a:xfrm>
            <a:off x="4765675" y="1844675"/>
            <a:ext cx="2660650" cy="1073150"/>
          </a:xfrm>
          <a:prstGeom prst="roundRect">
            <a:avLst>
              <a:gd name="adj" fmla="val 9172"/>
            </a:avLst>
          </a:prstGeom>
          <a:solidFill>
            <a:srgbClr val="FCFDFC"/>
          </a:solidFill>
          <a:ln w="6350">
            <a:solidFill>
              <a:srgbClr val="DCE3E1"/>
            </a:solidFill>
            <a:prstDash val="solid"/>
          </a:ln>
        </p:spPr>
        <p:txBody>
          <a:bodyPr/>
          <a:lstStyle/>
          <a:p>
            <a:endParaRPr lang="es-CL"/>
          </a:p>
        </p:txBody>
      </p:sp>
      <p:sp>
        <p:nvSpPr>
          <p:cNvPr id="14" name="Text 12"/>
          <p:cNvSpPr/>
          <p:nvPr/>
        </p:nvSpPr>
        <p:spPr>
          <a:xfrm>
            <a:off x="4921250" y="2000250"/>
            <a:ext cx="241998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prediagnosticos</a:t>
            </a:r>
            <a:endParaRPr lang="en-US" sz="1300" dirty="0"/>
          </a:p>
        </p:txBody>
      </p:sp>
      <p:sp>
        <p:nvSpPr>
          <p:cNvPr id="15" name="Text 13"/>
          <p:cNvSpPr/>
          <p:nvPr/>
        </p:nvSpPr>
        <p:spPr>
          <a:xfrm>
            <a:off x="4921250" y="2249091"/>
            <a:ext cx="241998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Resumen, diferenciales (JSONB), urgencia</a:t>
            </a:r>
            <a:endParaRPr lang="en-US" sz="1200" dirty="0"/>
          </a:p>
        </p:txBody>
      </p:sp>
      <p:sp>
        <p:nvSpPr>
          <p:cNvPr id="16" name="Shape 14"/>
          <p:cNvSpPr/>
          <p:nvPr/>
        </p:nvSpPr>
        <p:spPr>
          <a:xfrm>
            <a:off x="4762500" y="3238500"/>
            <a:ext cx="2667000" cy="1079500"/>
          </a:xfrm>
          <a:prstGeom prst="roundRect">
            <a:avLst>
              <a:gd name="adj" fmla="val 9412"/>
            </a:avLst>
          </a:prstGeom>
          <a:solidFill>
            <a:srgbClr val="0F2E33"/>
          </a:solidFill>
          <a:ln/>
        </p:spPr>
        <p:txBody>
          <a:bodyPr/>
          <a:lstStyle/>
          <a:p>
            <a:endParaRPr lang="es-CL"/>
          </a:p>
        </p:txBody>
      </p:sp>
      <p:sp>
        <p:nvSpPr>
          <p:cNvPr id="17" name="Text 15"/>
          <p:cNvSpPr/>
          <p:nvPr/>
        </p:nvSpPr>
        <p:spPr>
          <a:xfrm>
            <a:off x="4914900" y="3390900"/>
            <a:ext cx="2433066"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5CC4BB"/>
                </a:solidFill>
                <a:latin typeface="JetBrains Mono" pitchFamily="49" charset="0"/>
                <a:ea typeface="JetBrains Mono" pitchFamily="49" charset="-122"/>
                <a:cs typeface="JetBrains Mono" pitchFamily="49" charset="-120"/>
              </a:rPr>
              <a:t>usuarios</a:t>
            </a:r>
            <a:endParaRPr lang="en-US" sz="1300" dirty="0"/>
          </a:p>
        </p:txBody>
      </p:sp>
      <p:sp>
        <p:nvSpPr>
          <p:cNvPr id="18" name="Text 16"/>
          <p:cNvSpPr/>
          <p:nvPr/>
        </p:nvSpPr>
        <p:spPr>
          <a:xfrm>
            <a:off x="4914900" y="3639741"/>
            <a:ext cx="243306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1"/>
                </a:solidFill>
                <a:latin typeface="DM Sans" pitchFamily="34" charset="0"/>
                <a:ea typeface="DM Sans" pitchFamily="34" charset="-122"/>
                <a:cs typeface="DM Sans" pitchFamily="34" charset="-120"/>
              </a:rPr>
              <a:t>Nombre, email, rol y estado activo</a:t>
            </a:r>
            <a:endParaRPr lang="en-US" sz="1200" dirty="0"/>
          </a:p>
        </p:txBody>
      </p:sp>
      <p:sp>
        <p:nvSpPr>
          <p:cNvPr id="19" name="Shape 17"/>
          <p:cNvSpPr/>
          <p:nvPr/>
        </p:nvSpPr>
        <p:spPr>
          <a:xfrm>
            <a:off x="4765675" y="4638675"/>
            <a:ext cx="2660650" cy="1073150"/>
          </a:xfrm>
          <a:prstGeom prst="roundRect">
            <a:avLst>
              <a:gd name="adj" fmla="val 9172"/>
            </a:avLst>
          </a:prstGeom>
          <a:solidFill>
            <a:srgbClr val="FCFDFC"/>
          </a:solidFill>
          <a:ln w="6350">
            <a:solidFill>
              <a:srgbClr val="DCE3E1"/>
            </a:solidFill>
            <a:prstDash val="solid"/>
          </a:ln>
        </p:spPr>
        <p:txBody>
          <a:bodyPr/>
          <a:lstStyle/>
          <a:p>
            <a:endParaRPr lang="es-CL"/>
          </a:p>
        </p:txBody>
      </p:sp>
      <p:sp>
        <p:nvSpPr>
          <p:cNvPr id="20" name="Text 18"/>
          <p:cNvSpPr/>
          <p:nvPr/>
        </p:nvSpPr>
        <p:spPr>
          <a:xfrm>
            <a:off x="4921250" y="4794250"/>
            <a:ext cx="241998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guias_clinicas</a:t>
            </a:r>
            <a:endParaRPr lang="en-US" sz="1300" dirty="0"/>
          </a:p>
        </p:txBody>
      </p:sp>
      <p:sp>
        <p:nvSpPr>
          <p:cNvPr id="21" name="Text 19"/>
          <p:cNvSpPr/>
          <p:nvPr/>
        </p:nvSpPr>
        <p:spPr>
          <a:xfrm>
            <a:off x="4921250" y="5043091"/>
            <a:ext cx="241998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Contenido y embedding VECTOR(1536)</a:t>
            </a:r>
            <a:endParaRPr lang="en-US" sz="1200" dirty="0"/>
          </a:p>
        </p:txBody>
      </p:sp>
      <p:sp>
        <p:nvSpPr>
          <p:cNvPr id="22" name="Shape 20"/>
          <p:cNvSpPr/>
          <p:nvPr/>
        </p:nvSpPr>
        <p:spPr>
          <a:xfrm>
            <a:off x="8715375" y="1844675"/>
            <a:ext cx="2660650" cy="1073150"/>
          </a:xfrm>
          <a:prstGeom prst="roundRect">
            <a:avLst>
              <a:gd name="adj" fmla="val 9172"/>
            </a:avLst>
          </a:prstGeom>
          <a:solidFill>
            <a:srgbClr val="FCFDFC"/>
          </a:solidFill>
          <a:ln w="6350">
            <a:solidFill>
              <a:srgbClr val="DCE3E1"/>
            </a:solidFill>
            <a:prstDash val="solid"/>
          </a:ln>
        </p:spPr>
        <p:txBody>
          <a:bodyPr/>
          <a:lstStyle/>
          <a:p>
            <a:endParaRPr lang="es-CL"/>
          </a:p>
        </p:txBody>
      </p:sp>
      <p:sp>
        <p:nvSpPr>
          <p:cNvPr id="23" name="Text 21"/>
          <p:cNvSpPr/>
          <p:nvPr/>
        </p:nvSpPr>
        <p:spPr>
          <a:xfrm>
            <a:off x="8870950" y="2000250"/>
            <a:ext cx="25019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ejercicios_recomendados</a:t>
            </a:r>
            <a:endParaRPr lang="en-US" sz="1300" dirty="0"/>
          </a:p>
        </p:txBody>
      </p:sp>
      <p:sp>
        <p:nvSpPr>
          <p:cNvPr id="24" name="Text 22"/>
          <p:cNvSpPr/>
          <p:nvPr/>
        </p:nvSpPr>
        <p:spPr>
          <a:xfrm>
            <a:off x="8870950" y="2249091"/>
            <a:ext cx="241998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Catálogo: nombre, articulación, imagen</a:t>
            </a:r>
            <a:endParaRPr lang="en-US" sz="1200" dirty="0"/>
          </a:p>
        </p:txBody>
      </p:sp>
      <p:sp>
        <p:nvSpPr>
          <p:cNvPr id="25" name="Shape 23"/>
          <p:cNvSpPr/>
          <p:nvPr/>
        </p:nvSpPr>
        <p:spPr>
          <a:xfrm>
            <a:off x="8715375" y="3241675"/>
            <a:ext cx="2660650" cy="1073150"/>
          </a:xfrm>
          <a:prstGeom prst="roundRect">
            <a:avLst>
              <a:gd name="adj" fmla="val 9172"/>
            </a:avLst>
          </a:prstGeom>
          <a:solidFill>
            <a:srgbClr val="FCFDFC"/>
          </a:solidFill>
          <a:ln w="6350">
            <a:solidFill>
              <a:srgbClr val="DCE3E1"/>
            </a:solidFill>
            <a:prstDash val="solid"/>
          </a:ln>
        </p:spPr>
        <p:txBody>
          <a:bodyPr/>
          <a:lstStyle/>
          <a:p>
            <a:endParaRPr lang="es-CL"/>
          </a:p>
        </p:txBody>
      </p:sp>
      <p:sp>
        <p:nvSpPr>
          <p:cNvPr id="26" name="Text 24"/>
          <p:cNvSpPr/>
          <p:nvPr/>
        </p:nvSpPr>
        <p:spPr>
          <a:xfrm>
            <a:off x="8870950" y="3397250"/>
            <a:ext cx="241998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ejecuciones_ejercicio</a:t>
            </a:r>
            <a:endParaRPr lang="en-US" sz="1300" dirty="0"/>
          </a:p>
        </p:txBody>
      </p:sp>
      <p:sp>
        <p:nvSpPr>
          <p:cNvPr id="27" name="Text 25"/>
          <p:cNvSpPr/>
          <p:nvPr/>
        </p:nvSpPr>
        <p:spPr>
          <a:xfrm>
            <a:off x="8870950" y="3646091"/>
            <a:ext cx="241998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Si lo hizo correcto y un comentario</a:t>
            </a:r>
            <a:endParaRPr lang="en-US" sz="1200" dirty="0"/>
          </a:p>
        </p:txBody>
      </p:sp>
      <p:sp>
        <p:nvSpPr>
          <p:cNvPr id="28" name="Shape 26"/>
          <p:cNvSpPr/>
          <p:nvPr/>
        </p:nvSpPr>
        <p:spPr>
          <a:xfrm>
            <a:off x="8715375" y="4638675"/>
            <a:ext cx="2660650" cy="1073150"/>
          </a:xfrm>
          <a:prstGeom prst="roundRect">
            <a:avLst>
              <a:gd name="adj" fmla="val 9172"/>
            </a:avLst>
          </a:prstGeom>
          <a:solidFill>
            <a:srgbClr val="FCFDFC"/>
          </a:solidFill>
          <a:ln w="6350">
            <a:solidFill>
              <a:srgbClr val="9BB5B2"/>
            </a:solidFill>
            <a:prstDash val="dash"/>
          </a:ln>
        </p:spPr>
        <p:txBody>
          <a:bodyPr/>
          <a:lstStyle/>
          <a:p>
            <a:endParaRPr lang="es-CL"/>
          </a:p>
        </p:txBody>
      </p:sp>
      <p:sp>
        <p:nvSpPr>
          <p:cNvPr id="29" name="Text 27"/>
          <p:cNvSpPr/>
          <p:nvPr/>
        </p:nvSpPr>
        <p:spPr>
          <a:xfrm>
            <a:off x="8870950" y="4794250"/>
            <a:ext cx="241998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2E33"/>
                </a:solidFill>
                <a:latin typeface="JetBrains Mono" pitchFamily="49" charset="0"/>
                <a:ea typeface="JetBrains Mono" pitchFamily="49" charset="-122"/>
                <a:cs typeface="JetBrains Mono" pitchFamily="49" charset="-120"/>
              </a:rPr>
              <a:t>auditoria_logs</a:t>
            </a:r>
            <a:endParaRPr lang="en-US" sz="1300" dirty="0"/>
          </a:p>
        </p:txBody>
      </p:sp>
      <p:sp>
        <p:nvSpPr>
          <p:cNvPr id="30" name="Text 28"/>
          <p:cNvSpPr/>
          <p:nvPr/>
        </p:nvSpPr>
        <p:spPr>
          <a:xfrm>
            <a:off x="8870951" y="5043091"/>
            <a:ext cx="206734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5555A"/>
                </a:solidFill>
                <a:latin typeface="DM Sans" pitchFamily="34" charset="0"/>
                <a:ea typeface="DM Sans" pitchFamily="34" charset="-122"/>
                <a:cs typeface="DM Sans" pitchFamily="34" charset="-120"/>
              </a:rPr>
              <a:t>Acción, IP y hash encadenado</a:t>
            </a:r>
            <a:endParaRPr lang="en-US" sz="1200" dirty="0"/>
          </a:p>
        </p:txBody>
      </p:sp>
      <p:pic>
        <p:nvPicPr>
          <p:cNvPr id="31" name="Image 0" descr="connector"/>
          <p:cNvPicPr>
            <a:picLocks noChangeAspect="1"/>
          </p:cNvPicPr>
          <p:nvPr/>
        </p:nvPicPr>
        <p:blipFill>
          <a:blip r:embed="rId3"/>
          <a:srcRect/>
          <a:stretch/>
        </p:blipFill>
        <p:spPr>
          <a:xfrm>
            <a:off x="3429000" y="2330450"/>
            <a:ext cx="1384300" cy="1498600"/>
          </a:xfrm>
          <a:prstGeom prst="rect">
            <a:avLst/>
          </a:prstGeom>
        </p:spPr>
      </p:pic>
      <p:pic>
        <p:nvPicPr>
          <p:cNvPr id="32" name="Image 1" descr="connector"/>
          <p:cNvPicPr>
            <a:picLocks noChangeAspect="1"/>
          </p:cNvPicPr>
          <p:nvPr/>
        </p:nvPicPr>
        <p:blipFill>
          <a:blip r:embed="rId4"/>
          <a:srcRect/>
          <a:stretch/>
        </p:blipFill>
        <p:spPr>
          <a:xfrm>
            <a:off x="3429000" y="3727450"/>
            <a:ext cx="1384300" cy="101600"/>
          </a:xfrm>
          <a:prstGeom prst="rect">
            <a:avLst/>
          </a:prstGeom>
        </p:spPr>
      </p:pic>
      <p:pic>
        <p:nvPicPr>
          <p:cNvPr id="33" name="Image 2" descr="connector"/>
          <p:cNvPicPr>
            <a:picLocks noChangeAspect="1"/>
          </p:cNvPicPr>
          <p:nvPr/>
        </p:nvPicPr>
        <p:blipFill>
          <a:blip r:embed="rId5"/>
          <a:srcRect/>
          <a:stretch/>
        </p:blipFill>
        <p:spPr>
          <a:xfrm>
            <a:off x="3429000" y="3727450"/>
            <a:ext cx="1384300" cy="1498600"/>
          </a:xfrm>
          <a:prstGeom prst="rect">
            <a:avLst/>
          </a:prstGeom>
        </p:spPr>
      </p:pic>
      <p:pic>
        <p:nvPicPr>
          <p:cNvPr id="34" name="Image 3" descr="connector"/>
          <p:cNvPicPr>
            <a:picLocks noChangeAspect="1"/>
          </p:cNvPicPr>
          <p:nvPr/>
        </p:nvPicPr>
        <p:blipFill>
          <a:blip r:embed="rId6"/>
          <a:srcRect/>
          <a:stretch/>
        </p:blipFill>
        <p:spPr>
          <a:xfrm>
            <a:off x="6045200" y="2870200"/>
            <a:ext cx="101600" cy="419100"/>
          </a:xfrm>
          <a:prstGeom prst="rect">
            <a:avLst/>
          </a:prstGeom>
        </p:spPr>
      </p:pic>
      <p:pic>
        <p:nvPicPr>
          <p:cNvPr id="35" name="Image 4" descr="connector"/>
          <p:cNvPicPr>
            <a:picLocks noChangeAspect="1"/>
          </p:cNvPicPr>
          <p:nvPr/>
        </p:nvPicPr>
        <p:blipFill>
          <a:blip r:embed="rId4"/>
          <a:srcRect/>
          <a:stretch/>
        </p:blipFill>
        <p:spPr>
          <a:xfrm>
            <a:off x="7378700" y="3727450"/>
            <a:ext cx="1384300" cy="101600"/>
          </a:xfrm>
          <a:prstGeom prst="rect">
            <a:avLst/>
          </a:prstGeom>
        </p:spPr>
      </p:pic>
      <p:pic>
        <p:nvPicPr>
          <p:cNvPr id="36" name="Image 5" descr="connector"/>
          <p:cNvPicPr>
            <a:picLocks noChangeAspect="1"/>
          </p:cNvPicPr>
          <p:nvPr/>
        </p:nvPicPr>
        <p:blipFill>
          <a:blip r:embed="rId3"/>
          <a:srcRect/>
          <a:stretch/>
        </p:blipFill>
        <p:spPr>
          <a:xfrm>
            <a:off x="7378700" y="3727450"/>
            <a:ext cx="1384300" cy="1498600"/>
          </a:xfrm>
          <a:prstGeom prst="rect">
            <a:avLst/>
          </a:prstGeom>
        </p:spPr>
      </p:pic>
      <p:pic>
        <p:nvPicPr>
          <p:cNvPr id="37" name="Image 6" descr="connector"/>
          <p:cNvPicPr>
            <a:picLocks noChangeAspect="1"/>
          </p:cNvPicPr>
          <p:nvPr/>
        </p:nvPicPr>
        <p:blipFill>
          <a:blip r:embed="rId6"/>
          <a:srcRect/>
          <a:stretch/>
        </p:blipFill>
        <p:spPr>
          <a:xfrm>
            <a:off x="9994900" y="2870200"/>
            <a:ext cx="101600" cy="419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5"/>
        </a:solidFill>
        <a:effectLst/>
      </p:bgPr>
    </p:bg>
    <p:spTree>
      <p:nvGrpSpPr>
        <p:cNvPr id="1" name=""/>
        <p:cNvGrpSpPr/>
        <p:nvPr/>
      </p:nvGrpSpPr>
      <p:grpSpPr>
        <a:xfrm>
          <a:off x="0" y="0"/>
          <a:ext cx="0" cy="0"/>
          <a:chOff x="0" y="0"/>
          <a:chExt cx="0" cy="0"/>
        </a:xfrm>
      </p:grpSpPr>
      <p:sp>
        <p:nvSpPr>
          <p:cNvPr id="2" name="Shape 0"/>
          <p:cNvSpPr/>
          <p:nvPr/>
        </p:nvSpPr>
        <p:spPr>
          <a:xfrm>
            <a:off x="0" y="0"/>
            <a:ext cx="5080000" cy="6858000"/>
          </a:xfrm>
          <a:prstGeom prst="rect">
            <a:avLst/>
          </a:prstGeom>
          <a:solidFill>
            <a:srgbClr val="0F2E33"/>
          </a:solidFill>
          <a:ln/>
        </p:spPr>
        <p:txBody>
          <a:bodyPr/>
          <a:lstStyle/>
          <a:p>
            <a:endParaRPr lang="es-CL"/>
          </a:p>
        </p:txBody>
      </p:sp>
      <p:sp>
        <p:nvSpPr>
          <p:cNvPr id="3" name="Text 1"/>
          <p:cNvSpPr/>
          <p:nvPr/>
        </p:nvSpPr>
        <p:spPr>
          <a:xfrm>
            <a:off x="812800" y="1811834"/>
            <a:ext cx="355803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4BB"/>
                </a:solidFill>
                <a:latin typeface="DM Sans" pitchFamily="34" charset="0"/>
                <a:ea typeface="DM Sans" pitchFamily="34" charset="-122"/>
                <a:cs typeface="DM Sans" pitchFamily="34" charset="-120"/>
              </a:rPr>
              <a:t>MODELO DE NEGOCIO</a:t>
            </a:r>
            <a:endParaRPr lang="en-US" sz="1200" dirty="0"/>
          </a:p>
        </p:txBody>
      </p:sp>
      <p:sp>
        <p:nvSpPr>
          <p:cNvPr id="4" name="Text 2"/>
          <p:cNvSpPr>
            <a:spLocks noGrp="1"/>
          </p:cNvSpPr>
          <p:nvPr>
            <p:ph type="title"/>
          </p:nvPr>
        </p:nvSpPr>
        <p:spPr>
          <a:xfrm>
            <a:off x="812800" y="2202954"/>
            <a:ext cx="3558032" cy="919361"/>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4F6F5"/>
                </a:solidFill>
                <a:latin typeface="DM Sans" pitchFamily="34" charset="0"/>
                <a:ea typeface="DM Sans" pitchFamily="34" charset="-122"/>
                <a:cs typeface="DM Sans" pitchFamily="34" charset="-120"/>
              </a:rPr>
              <a:t>B2B SaaS institucional</a:t>
            </a:r>
            <a:endParaRPr lang="en-US" sz="3200" dirty="0"/>
          </a:p>
        </p:txBody>
      </p:sp>
      <p:sp>
        <p:nvSpPr>
          <p:cNvPr id="5" name="Text 3"/>
          <p:cNvSpPr/>
          <p:nvPr/>
        </p:nvSpPr>
        <p:spPr>
          <a:xfrm>
            <a:off x="812800" y="3274715"/>
            <a:ext cx="3558032"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FD3D1"/>
                </a:solidFill>
                <a:latin typeface="DM Sans" pitchFamily="34" charset="0"/>
                <a:ea typeface="DM Sans" pitchFamily="34" charset="-122"/>
                <a:cs typeface="DM Sans" pitchFamily="34" charset="-120"/>
              </a:rPr>
              <a:t>La institución contrata ARCA Med y habilita a su equipo; el paciente usa la app sin costo.</a:t>
            </a:r>
            <a:endParaRPr lang="en-US" sz="1400" dirty="0"/>
          </a:p>
        </p:txBody>
      </p:sp>
      <p:sp>
        <p:nvSpPr>
          <p:cNvPr id="6" name="Text 4"/>
          <p:cNvSpPr/>
          <p:nvPr/>
        </p:nvSpPr>
        <p:spPr>
          <a:xfrm>
            <a:off x="819150" y="4232176"/>
            <a:ext cx="1776214" cy="353020"/>
          </a:xfrm>
          <a:prstGeom prst="roundRect">
            <a:avLst>
              <a:gd name="adj" fmla="val 50000"/>
            </a:avLst>
          </a:prstGeom>
          <a:noFill/>
          <a:ln w="12700">
            <a:solidFill>
              <a:srgbClr val="2E6A6F"/>
            </a:solidFill>
            <a:prstDash val="solid"/>
          </a:ln>
        </p:spPr>
        <p:txBody>
          <a:bodyPr wrap="none" lIns="0" tIns="0" rIns="0" bIns="0" rtlCol="0" anchor="ctr">
            <a:normAutofit/>
          </a:bodyPr>
          <a:lstStyle/>
          <a:p>
            <a:pPr marL="0" indent="0" algn="ctr">
              <a:lnSpc>
                <a:spcPts val="1680"/>
              </a:lnSpc>
              <a:buNone/>
            </a:pPr>
            <a:r>
              <a:rPr lang="en-US" sz="1200" dirty="0">
                <a:solidFill>
                  <a:srgbClr val="F4F6F5"/>
                </a:solidFill>
                <a:latin typeface="DM Sans" pitchFamily="34" charset="0"/>
                <a:ea typeface="DM Sans" pitchFamily="34" charset="-122"/>
                <a:cs typeface="DM Sans" pitchFamily="34" charset="-120"/>
              </a:rPr>
              <a:t>Ingresos recurrentes</a:t>
            </a:r>
            <a:endParaRPr lang="en-US" sz="1200" dirty="0"/>
          </a:p>
        </p:txBody>
      </p:sp>
      <p:sp>
        <p:nvSpPr>
          <p:cNvPr id="7" name="Text 5"/>
          <p:cNvSpPr/>
          <p:nvPr/>
        </p:nvSpPr>
        <p:spPr>
          <a:xfrm>
            <a:off x="819150" y="4686796"/>
            <a:ext cx="2380258" cy="353020"/>
          </a:xfrm>
          <a:prstGeom prst="roundRect">
            <a:avLst>
              <a:gd name="adj" fmla="val 50000"/>
            </a:avLst>
          </a:prstGeom>
          <a:noFill/>
          <a:ln w="12700">
            <a:solidFill>
              <a:srgbClr val="2E6A6F"/>
            </a:solidFill>
            <a:prstDash val="solid"/>
          </a:ln>
        </p:spPr>
        <p:txBody>
          <a:bodyPr wrap="none" lIns="0" tIns="0" rIns="0" bIns="0" rtlCol="0" anchor="ctr">
            <a:normAutofit/>
          </a:bodyPr>
          <a:lstStyle/>
          <a:p>
            <a:pPr marL="0" indent="0" algn="ctr">
              <a:lnSpc>
                <a:spcPts val="1680"/>
              </a:lnSpc>
              <a:buNone/>
            </a:pPr>
            <a:r>
              <a:rPr lang="en-US" sz="1200" dirty="0">
                <a:solidFill>
                  <a:srgbClr val="F4F6F5"/>
                </a:solidFill>
                <a:latin typeface="DM Sans" pitchFamily="34" charset="0"/>
                <a:ea typeface="DM Sans" pitchFamily="34" charset="-122"/>
                <a:cs typeface="DM Sans" pitchFamily="34" charset="-120"/>
              </a:rPr>
              <a:t>Baja fricción para el paciente</a:t>
            </a:r>
            <a:endParaRPr lang="en-US" sz="1200" dirty="0"/>
          </a:p>
        </p:txBody>
      </p:sp>
      <p:pic>
        <p:nvPicPr>
          <p:cNvPr id="8" name="Image 0" descr="Users"/>
          <p:cNvPicPr>
            <a:picLocks noChangeAspect="1"/>
          </p:cNvPicPr>
          <p:nvPr/>
        </p:nvPicPr>
        <p:blipFill>
          <a:blip r:embed="rId3"/>
          <a:srcRect/>
          <a:stretch/>
        </p:blipFill>
        <p:spPr>
          <a:xfrm>
            <a:off x="5892800" y="1744563"/>
            <a:ext cx="304800" cy="304800"/>
          </a:xfrm>
          <a:prstGeom prst="rect">
            <a:avLst/>
          </a:prstGeom>
        </p:spPr>
      </p:pic>
      <p:sp>
        <p:nvSpPr>
          <p:cNvPr id="9" name="Text 6"/>
          <p:cNvSpPr/>
          <p:nvPr/>
        </p:nvSpPr>
        <p:spPr>
          <a:xfrm>
            <a:off x="6375400" y="1744563"/>
            <a:ext cx="51539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E33"/>
                </a:solidFill>
                <a:latin typeface="DM Sans" pitchFamily="34" charset="0"/>
                <a:ea typeface="DM Sans" pitchFamily="34" charset="-122"/>
                <a:cs typeface="DM Sans" pitchFamily="34" charset="-120"/>
              </a:rPr>
              <a:t>Cliente</a:t>
            </a:r>
            <a:endParaRPr lang="en-US" sz="1600" dirty="0"/>
          </a:p>
        </p:txBody>
      </p:sp>
      <p:sp>
        <p:nvSpPr>
          <p:cNvPr id="10" name="Text 7"/>
          <p:cNvSpPr/>
          <p:nvPr/>
        </p:nvSpPr>
        <p:spPr>
          <a:xfrm>
            <a:off x="6375400" y="2026444"/>
            <a:ext cx="51539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Centros de kinesiología, clínicas y consultas de traumatología.</a:t>
            </a:r>
            <a:endParaRPr lang="en-US" sz="1300" dirty="0"/>
          </a:p>
        </p:txBody>
      </p:sp>
      <p:sp>
        <p:nvSpPr>
          <p:cNvPr id="11" name="Shape 8"/>
          <p:cNvSpPr/>
          <p:nvPr/>
        </p:nvSpPr>
        <p:spPr>
          <a:xfrm>
            <a:off x="5892800" y="2438499"/>
            <a:ext cx="5486400" cy="0"/>
          </a:xfrm>
          <a:prstGeom prst="line">
            <a:avLst/>
          </a:prstGeom>
          <a:noFill/>
          <a:ln w="6350">
            <a:solidFill>
              <a:srgbClr val="C9D6D3"/>
            </a:solidFill>
            <a:prstDash val="solid"/>
          </a:ln>
        </p:spPr>
        <p:txBody>
          <a:bodyPr/>
          <a:lstStyle/>
          <a:p>
            <a:endParaRPr lang="es-CL"/>
          </a:p>
        </p:txBody>
      </p:sp>
      <p:pic>
        <p:nvPicPr>
          <p:cNvPr id="12" name="Image 1" descr="Star"/>
          <p:cNvPicPr>
            <a:picLocks noChangeAspect="1"/>
          </p:cNvPicPr>
          <p:nvPr/>
        </p:nvPicPr>
        <p:blipFill>
          <a:blip r:embed="rId4"/>
          <a:srcRect/>
          <a:stretch/>
        </p:blipFill>
        <p:spPr>
          <a:xfrm>
            <a:off x="5892800" y="2619474"/>
            <a:ext cx="304800" cy="304800"/>
          </a:xfrm>
          <a:prstGeom prst="rect">
            <a:avLst/>
          </a:prstGeom>
        </p:spPr>
      </p:pic>
      <p:sp>
        <p:nvSpPr>
          <p:cNvPr id="13" name="Text 9"/>
          <p:cNvSpPr/>
          <p:nvPr/>
        </p:nvSpPr>
        <p:spPr>
          <a:xfrm>
            <a:off x="6375400" y="2619474"/>
            <a:ext cx="51539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E33"/>
                </a:solidFill>
                <a:latin typeface="DM Sans" pitchFamily="34" charset="0"/>
                <a:ea typeface="DM Sans" pitchFamily="34" charset="-122"/>
                <a:cs typeface="DM Sans" pitchFamily="34" charset="-120"/>
              </a:rPr>
              <a:t>Propuesta de valor</a:t>
            </a:r>
            <a:endParaRPr lang="en-US" sz="1600" dirty="0"/>
          </a:p>
        </p:txBody>
      </p:sp>
      <p:sp>
        <p:nvSpPr>
          <p:cNvPr id="14" name="Text 10"/>
          <p:cNvSpPr/>
          <p:nvPr/>
        </p:nvSpPr>
        <p:spPr>
          <a:xfrm>
            <a:off x="6375400" y="2901355"/>
            <a:ext cx="51539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Consultas mejor preparadas y casos priorizados por urgencia.</a:t>
            </a:r>
            <a:endParaRPr lang="en-US" sz="1300" dirty="0"/>
          </a:p>
        </p:txBody>
      </p:sp>
      <p:sp>
        <p:nvSpPr>
          <p:cNvPr id="15" name="Shape 11"/>
          <p:cNvSpPr/>
          <p:nvPr/>
        </p:nvSpPr>
        <p:spPr>
          <a:xfrm>
            <a:off x="5892800" y="3313410"/>
            <a:ext cx="5486400" cy="0"/>
          </a:xfrm>
          <a:prstGeom prst="line">
            <a:avLst/>
          </a:prstGeom>
          <a:noFill/>
          <a:ln w="6350">
            <a:solidFill>
              <a:srgbClr val="C9D6D3"/>
            </a:solidFill>
            <a:prstDash val="solid"/>
          </a:ln>
        </p:spPr>
        <p:txBody>
          <a:bodyPr/>
          <a:lstStyle/>
          <a:p>
            <a:endParaRPr lang="es-CL"/>
          </a:p>
        </p:txBody>
      </p:sp>
      <p:pic>
        <p:nvPicPr>
          <p:cNvPr id="16" name="Image 2" descr="Chart"/>
          <p:cNvPicPr>
            <a:picLocks noChangeAspect="1"/>
          </p:cNvPicPr>
          <p:nvPr/>
        </p:nvPicPr>
        <p:blipFill>
          <a:blip r:embed="rId5"/>
          <a:srcRect/>
          <a:stretch/>
        </p:blipFill>
        <p:spPr>
          <a:xfrm>
            <a:off x="5892800" y="3494385"/>
            <a:ext cx="304800" cy="304800"/>
          </a:xfrm>
          <a:prstGeom prst="rect">
            <a:avLst/>
          </a:prstGeom>
        </p:spPr>
      </p:pic>
      <p:sp>
        <p:nvSpPr>
          <p:cNvPr id="17" name="Text 12"/>
          <p:cNvSpPr/>
          <p:nvPr/>
        </p:nvSpPr>
        <p:spPr>
          <a:xfrm>
            <a:off x="6375400" y="3494385"/>
            <a:ext cx="51539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E33"/>
                </a:solidFill>
                <a:latin typeface="DM Sans" pitchFamily="34" charset="0"/>
                <a:ea typeface="DM Sans" pitchFamily="34" charset="-122"/>
                <a:cs typeface="DM Sans" pitchFamily="34" charset="-120"/>
              </a:rPr>
              <a:t>Cobro</a:t>
            </a:r>
            <a:endParaRPr lang="en-US" sz="1600" dirty="0"/>
          </a:p>
        </p:txBody>
      </p:sp>
      <p:sp>
        <p:nvSpPr>
          <p:cNvPr id="18" name="Text 13"/>
          <p:cNvSpPr/>
          <p:nvPr/>
        </p:nvSpPr>
        <p:spPr>
          <a:xfrm>
            <a:off x="6375400" y="3776266"/>
            <a:ext cx="515391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Tarifa mensual o anual según profesionales habilitados y pacientes activos.</a:t>
            </a:r>
            <a:endParaRPr lang="en-US" sz="1300" dirty="0"/>
          </a:p>
        </p:txBody>
      </p:sp>
      <p:sp>
        <p:nvSpPr>
          <p:cNvPr id="19" name="Shape 14"/>
          <p:cNvSpPr/>
          <p:nvPr/>
        </p:nvSpPr>
        <p:spPr>
          <a:xfrm>
            <a:off x="5892800" y="4419402"/>
            <a:ext cx="5486400" cy="0"/>
          </a:xfrm>
          <a:prstGeom prst="line">
            <a:avLst/>
          </a:prstGeom>
          <a:noFill/>
          <a:ln w="6350">
            <a:solidFill>
              <a:srgbClr val="C9D6D3"/>
            </a:solidFill>
            <a:prstDash val="solid"/>
          </a:ln>
        </p:spPr>
        <p:txBody>
          <a:bodyPr/>
          <a:lstStyle/>
          <a:p>
            <a:endParaRPr lang="es-CL"/>
          </a:p>
        </p:txBody>
      </p:sp>
      <p:pic>
        <p:nvPicPr>
          <p:cNvPr id="20" name="Image 3" descr="Cloud"/>
          <p:cNvPicPr>
            <a:picLocks noChangeAspect="1"/>
          </p:cNvPicPr>
          <p:nvPr/>
        </p:nvPicPr>
        <p:blipFill>
          <a:blip r:embed="rId6"/>
          <a:srcRect/>
          <a:stretch/>
        </p:blipFill>
        <p:spPr>
          <a:xfrm>
            <a:off x="5892800" y="4600377"/>
            <a:ext cx="304800" cy="304800"/>
          </a:xfrm>
          <a:prstGeom prst="rect">
            <a:avLst/>
          </a:prstGeom>
        </p:spPr>
      </p:pic>
      <p:sp>
        <p:nvSpPr>
          <p:cNvPr id="21" name="Text 15"/>
          <p:cNvSpPr/>
          <p:nvPr/>
        </p:nvSpPr>
        <p:spPr>
          <a:xfrm>
            <a:off x="6375400" y="4600377"/>
            <a:ext cx="51539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E33"/>
                </a:solidFill>
                <a:latin typeface="DM Sans" pitchFamily="34" charset="0"/>
                <a:ea typeface="DM Sans" pitchFamily="34" charset="-122"/>
                <a:cs typeface="DM Sans" pitchFamily="34" charset="-120"/>
              </a:rPr>
              <a:t>Costos principales</a:t>
            </a:r>
            <a:endParaRPr lang="en-US" sz="1600" dirty="0"/>
          </a:p>
        </p:txBody>
      </p:sp>
      <p:sp>
        <p:nvSpPr>
          <p:cNvPr id="22" name="Text 16"/>
          <p:cNvSpPr/>
          <p:nvPr/>
        </p:nvSpPr>
        <p:spPr>
          <a:xfrm>
            <a:off x="6375400" y="4882257"/>
            <a:ext cx="51539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5555A"/>
                </a:solidFill>
                <a:latin typeface="DM Sans" pitchFamily="34" charset="0"/>
                <a:ea typeface="DM Sans" pitchFamily="34" charset="-122"/>
                <a:cs typeface="DM Sans" pitchFamily="34" charset="-120"/>
              </a:rPr>
              <a:t>Hosting en la nube y uso de la API de IA por cada prediagnóstico.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C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57A73"/>
                </a:solidFill>
                <a:latin typeface="DM Sans" pitchFamily="34" charset="0"/>
                <a:ea typeface="DM Sans" pitchFamily="34" charset="-122"/>
                <a:cs typeface="DM Sans" pitchFamily="34" charset="-120"/>
              </a:rPr>
              <a:t>MEJORAS FUTURAS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F2E33"/>
                </a:solidFill>
                <a:latin typeface="DM Sans" pitchFamily="34" charset="0"/>
                <a:ea typeface="DM Sans" pitchFamily="34" charset="-122"/>
                <a:cs typeface="DM Sans" pitchFamily="34" charset="-120"/>
              </a:rPr>
              <a:t>Hacia dónde puede crecer ARCA Med</a:t>
            </a:r>
            <a:endParaRPr lang="en-US" sz="3200" dirty="0"/>
          </a:p>
        </p:txBody>
      </p:sp>
      <p:sp>
        <p:nvSpPr>
          <p:cNvPr id="4" name="Shape 2"/>
          <p:cNvSpPr/>
          <p:nvPr/>
        </p:nvSpPr>
        <p:spPr>
          <a:xfrm>
            <a:off x="812800" y="1828701"/>
            <a:ext cx="3810000" cy="4014391"/>
          </a:xfrm>
          <a:prstGeom prst="roundRect">
            <a:avLst>
              <a:gd name="adj" fmla="val 4000"/>
            </a:avLst>
          </a:prstGeom>
          <a:solidFill>
            <a:srgbClr val="E3EEEC"/>
          </a:solidFill>
          <a:ln/>
        </p:spPr>
        <p:txBody>
          <a:bodyPr/>
          <a:lstStyle/>
          <a:p>
            <a:endParaRPr lang="es-CL"/>
          </a:p>
        </p:txBody>
      </p:sp>
      <p:pic>
        <p:nvPicPr>
          <p:cNvPr id="5" name="Image 0" descr="Maqueta de la app mostrando una alerta por ángulo fuera del rango seguro"/>
          <p:cNvPicPr>
            <a:picLocks noChangeAspect="1"/>
          </p:cNvPicPr>
          <p:nvPr/>
        </p:nvPicPr>
        <p:blipFill>
          <a:blip r:embed="rId3"/>
          <a:srcRect t="-37" b="-37"/>
          <a:stretch/>
        </p:blipFill>
        <p:spPr>
          <a:xfrm>
            <a:off x="1244600" y="2031901"/>
            <a:ext cx="1397000" cy="3368234"/>
          </a:xfrm>
          <a:prstGeom prst="rect">
            <a:avLst/>
          </a:prstGeom>
        </p:spPr>
      </p:pic>
      <p:pic>
        <p:nvPicPr>
          <p:cNvPr id="6" name="Image 1" descr="Maqueta de la app comparando dos sesiones de medición"/>
          <p:cNvPicPr>
            <a:picLocks noChangeAspect="1"/>
          </p:cNvPicPr>
          <p:nvPr/>
        </p:nvPicPr>
        <p:blipFill>
          <a:blip r:embed="rId4"/>
          <a:srcRect l="-144" r="-144"/>
          <a:stretch/>
        </p:blipFill>
        <p:spPr>
          <a:xfrm>
            <a:off x="2794000" y="2031900"/>
            <a:ext cx="1397000" cy="3368235"/>
          </a:xfrm>
          <a:prstGeom prst="rect">
            <a:avLst/>
          </a:prstGeom>
        </p:spPr>
      </p:pic>
      <p:sp>
        <p:nvSpPr>
          <p:cNvPr id="7" name="Text 3"/>
          <p:cNvSpPr/>
          <p:nvPr/>
        </p:nvSpPr>
        <p:spPr>
          <a:xfrm>
            <a:off x="964946" y="5213251"/>
            <a:ext cx="3505708" cy="452041"/>
          </a:xfrm>
          <a:prstGeom prst="rect">
            <a:avLst/>
          </a:prstGeom>
          <a:noFill/>
          <a:ln/>
        </p:spPr>
        <p:txBody>
          <a:bodyPr wrap="square" lIns="0" tIns="0" rIns="0" bIns="0" rtlCol="0" anchor="t">
            <a:normAutofit/>
          </a:bodyPr>
          <a:lstStyle/>
          <a:p>
            <a:pPr marL="0" indent="0" algn="ctr">
              <a:lnSpc>
                <a:spcPts val="1680"/>
              </a:lnSpc>
              <a:buNone/>
            </a:pPr>
            <a:endParaRPr lang="en-US" sz="1200" dirty="0"/>
          </a:p>
        </p:txBody>
      </p:sp>
      <p:sp>
        <p:nvSpPr>
          <p:cNvPr id="8" name="Text 4"/>
          <p:cNvSpPr/>
          <p:nvPr/>
        </p:nvSpPr>
        <p:spPr>
          <a:xfrm>
            <a:off x="5029200" y="1828701"/>
            <a:ext cx="65405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57A73"/>
                </a:solidFill>
                <a:latin typeface="DM Sans" pitchFamily="34" charset="0"/>
                <a:ea typeface="DM Sans" pitchFamily="34" charset="-122"/>
                <a:cs typeface="DM Sans" pitchFamily="34" charset="-120"/>
              </a:rPr>
              <a:t>Corto plazo</a:t>
            </a:r>
            <a:endParaRPr lang="en-US" sz="1600" dirty="0"/>
          </a:p>
        </p:txBody>
      </p:sp>
      <p:sp>
        <p:nvSpPr>
          <p:cNvPr id="9" name="Shape 5"/>
          <p:cNvSpPr/>
          <p:nvPr/>
        </p:nvSpPr>
        <p:spPr>
          <a:xfrm>
            <a:off x="5041900" y="2186781"/>
            <a:ext cx="0" cy="445691"/>
          </a:xfrm>
          <a:prstGeom prst="line">
            <a:avLst/>
          </a:prstGeom>
          <a:noFill/>
          <a:ln w="25400">
            <a:solidFill>
              <a:srgbClr val="157A73"/>
            </a:solidFill>
            <a:prstDash val="solid"/>
          </a:ln>
        </p:spPr>
        <p:txBody>
          <a:bodyPr/>
          <a:lstStyle/>
          <a:p>
            <a:endParaRPr lang="es-CL"/>
          </a:p>
        </p:txBody>
      </p:sp>
      <p:sp>
        <p:nvSpPr>
          <p:cNvPr id="10" name="Text 6"/>
          <p:cNvSpPr/>
          <p:nvPr/>
        </p:nvSpPr>
        <p:spPr>
          <a:xfrm>
            <a:off x="5156200" y="2186781"/>
            <a:ext cx="31394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Foto junto al síntoma, analizada por IA multimodal</a:t>
            </a:r>
            <a:endParaRPr lang="en-US" sz="1300" dirty="0"/>
          </a:p>
        </p:txBody>
      </p:sp>
      <p:sp>
        <p:nvSpPr>
          <p:cNvPr id="11" name="Shape 7"/>
          <p:cNvSpPr/>
          <p:nvPr/>
        </p:nvSpPr>
        <p:spPr>
          <a:xfrm>
            <a:off x="8216900" y="2186781"/>
            <a:ext cx="0" cy="445691"/>
          </a:xfrm>
          <a:prstGeom prst="line">
            <a:avLst/>
          </a:prstGeom>
          <a:noFill/>
          <a:ln w="25400">
            <a:solidFill>
              <a:srgbClr val="157A73"/>
            </a:solidFill>
            <a:prstDash val="solid"/>
          </a:ln>
        </p:spPr>
        <p:txBody>
          <a:bodyPr/>
          <a:lstStyle/>
          <a:p>
            <a:endParaRPr lang="es-CL"/>
          </a:p>
        </p:txBody>
      </p:sp>
      <p:sp>
        <p:nvSpPr>
          <p:cNvPr id="12" name="Text 8"/>
          <p:cNvSpPr/>
          <p:nvPr/>
        </p:nvSpPr>
        <p:spPr>
          <a:xfrm>
            <a:off x="8331200" y="2186781"/>
            <a:ext cx="31394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Ver qué guías usó cada prediagnóstico</a:t>
            </a:r>
            <a:endParaRPr lang="en-US" sz="1300" dirty="0"/>
          </a:p>
        </p:txBody>
      </p:sp>
      <p:sp>
        <p:nvSpPr>
          <p:cNvPr id="13" name="Shape 9"/>
          <p:cNvSpPr/>
          <p:nvPr/>
        </p:nvSpPr>
        <p:spPr>
          <a:xfrm>
            <a:off x="5041900" y="2632472"/>
            <a:ext cx="0" cy="222845"/>
          </a:xfrm>
          <a:prstGeom prst="line">
            <a:avLst/>
          </a:prstGeom>
          <a:noFill/>
          <a:ln w="25400">
            <a:solidFill>
              <a:srgbClr val="157A73"/>
            </a:solidFill>
            <a:prstDash val="solid"/>
          </a:ln>
        </p:spPr>
        <p:txBody>
          <a:bodyPr/>
          <a:lstStyle/>
          <a:p>
            <a:endParaRPr lang="es-CL"/>
          </a:p>
        </p:txBody>
      </p:sp>
      <p:sp>
        <p:nvSpPr>
          <p:cNvPr id="14" name="Text 10"/>
          <p:cNvSpPr/>
          <p:nvPr/>
        </p:nvSpPr>
        <p:spPr>
          <a:xfrm>
            <a:off x="5156200" y="2632472"/>
            <a:ext cx="313944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Reintento automático si falla la IA</a:t>
            </a:r>
            <a:endParaRPr lang="en-US" sz="1300" dirty="0"/>
          </a:p>
        </p:txBody>
      </p:sp>
      <p:sp>
        <p:nvSpPr>
          <p:cNvPr id="15" name="Shape 11"/>
          <p:cNvSpPr/>
          <p:nvPr/>
        </p:nvSpPr>
        <p:spPr>
          <a:xfrm>
            <a:off x="8216900" y="2632472"/>
            <a:ext cx="0" cy="222845"/>
          </a:xfrm>
          <a:prstGeom prst="line">
            <a:avLst/>
          </a:prstGeom>
          <a:noFill/>
          <a:ln w="25400">
            <a:solidFill>
              <a:srgbClr val="157A73"/>
            </a:solidFill>
            <a:prstDash val="solid"/>
          </a:ln>
        </p:spPr>
        <p:txBody>
          <a:bodyPr/>
          <a:lstStyle/>
          <a:p>
            <a:endParaRPr lang="es-CL"/>
          </a:p>
        </p:txBody>
      </p:sp>
      <p:sp>
        <p:nvSpPr>
          <p:cNvPr id="16" name="Text 12"/>
          <p:cNvSpPr/>
          <p:nvPr/>
        </p:nvSpPr>
        <p:spPr>
          <a:xfrm>
            <a:off x="8331200" y="2454077"/>
            <a:ext cx="313944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Carga de guías clínicas en PDF</a:t>
            </a:r>
            <a:endParaRPr lang="en-US" sz="1300" dirty="0"/>
          </a:p>
        </p:txBody>
      </p:sp>
      <p:sp>
        <p:nvSpPr>
          <p:cNvPr id="17" name="Shape 13"/>
          <p:cNvSpPr/>
          <p:nvPr/>
        </p:nvSpPr>
        <p:spPr>
          <a:xfrm>
            <a:off x="5041900" y="2855317"/>
            <a:ext cx="0" cy="445691"/>
          </a:xfrm>
          <a:prstGeom prst="line">
            <a:avLst/>
          </a:prstGeom>
          <a:noFill/>
          <a:ln w="25400">
            <a:solidFill>
              <a:srgbClr val="157A73"/>
            </a:solidFill>
            <a:prstDash val="solid"/>
          </a:ln>
        </p:spPr>
        <p:txBody>
          <a:bodyPr/>
          <a:lstStyle/>
          <a:p>
            <a:endParaRPr lang="es-CL"/>
          </a:p>
        </p:txBody>
      </p:sp>
      <p:sp>
        <p:nvSpPr>
          <p:cNvPr id="18" name="Text 14"/>
          <p:cNvSpPr/>
          <p:nvPr/>
        </p:nvSpPr>
        <p:spPr>
          <a:xfrm>
            <a:off x="5156200" y="2855317"/>
            <a:ext cx="31394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Alertas y comparador de sesiones en la app</a:t>
            </a:r>
            <a:endParaRPr lang="en-US" sz="1300" dirty="0"/>
          </a:p>
        </p:txBody>
      </p:sp>
      <p:sp>
        <p:nvSpPr>
          <p:cNvPr id="19" name="Shape 15"/>
          <p:cNvSpPr/>
          <p:nvPr/>
        </p:nvSpPr>
        <p:spPr>
          <a:xfrm>
            <a:off x="8216900" y="2855317"/>
            <a:ext cx="0" cy="445691"/>
          </a:xfrm>
          <a:prstGeom prst="line">
            <a:avLst/>
          </a:prstGeom>
          <a:noFill/>
          <a:ln w="25400">
            <a:solidFill>
              <a:srgbClr val="157A73"/>
            </a:solidFill>
            <a:prstDash val="solid"/>
          </a:ln>
        </p:spPr>
        <p:txBody>
          <a:bodyPr/>
          <a:lstStyle/>
          <a:p>
            <a:endParaRPr lang="es-CL"/>
          </a:p>
        </p:txBody>
      </p:sp>
      <p:sp>
        <p:nvSpPr>
          <p:cNvPr id="20" name="Text 16"/>
          <p:cNvSpPr/>
          <p:nvPr/>
        </p:nvSpPr>
        <p:spPr>
          <a:xfrm>
            <a:off x="8331200" y="2698095"/>
            <a:ext cx="31394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Reportes clínicos en PDF</a:t>
            </a:r>
            <a:endParaRPr lang="en-US" sz="1300" dirty="0"/>
          </a:p>
        </p:txBody>
      </p:sp>
      <p:sp>
        <p:nvSpPr>
          <p:cNvPr id="21" name="Text 17"/>
          <p:cNvSpPr/>
          <p:nvPr/>
        </p:nvSpPr>
        <p:spPr>
          <a:xfrm>
            <a:off x="5029200" y="3529608"/>
            <a:ext cx="65405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501F"/>
                </a:solidFill>
                <a:latin typeface="DM Sans" pitchFamily="34" charset="0"/>
                <a:ea typeface="DM Sans" pitchFamily="34" charset="-122"/>
                <a:cs typeface="DM Sans" pitchFamily="34" charset="-120"/>
              </a:rPr>
              <a:t>Largo plazo</a:t>
            </a:r>
            <a:endParaRPr lang="en-US" sz="1600" dirty="0"/>
          </a:p>
        </p:txBody>
      </p:sp>
      <p:sp>
        <p:nvSpPr>
          <p:cNvPr id="22" name="Shape 18"/>
          <p:cNvSpPr/>
          <p:nvPr/>
        </p:nvSpPr>
        <p:spPr>
          <a:xfrm>
            <a:off x="5041900" y="3887688"/>
            <a:ext cx="0" cy="222845"/>
          </a:xfrm>
          <a:prstGeom prst="line">
            <a:avLst/>
          </a:prstGeom>
          <a:noFill/>
          <a:ln w="25400">
            <a:solidFill>
              <a:srgbClr val="B5501F"/>
            </a:solidFill>
            <a:prstDash val="solid"/>
          </a:ln>
        </p:spPr>
        <p:txBody>
          <a:bodyPr/>
          <a:lstStyle/>
          <a:p>
            <a:endParaRPr lang="es-CL"/>
          </a:p>
        </p:txBody>
      </p:sp>
      <p:sp>
        <p:nvSpPr>
          <p:cNvPr id="23" name="Text 19"/>
          <p:cNvSpPr/>
          <p:nvPr/>
        </p:nvSpPr>
        <p:spPr>
          <a:xfrm>
            <a:off x="5156200" y="3887688"/>
            <a:ext cx="313944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Otras especialidades médicas</a:t>
            </a:r>
            <a:endParaRPr lang="en-US" sz="1300" dirty="0"/>
          </a:p>
        </p:txBody>
      </p:sp>
      <p:sp>
        <p:nvSpPr>
          <p:cNvPr id="24" name="Shape 20"/>
          <p:cNvSpPr/>
          <p:nvPr/>
        </p:nvSpPr>
        <p:spPr>
          <a:xfrm>
            <a:off x="8216900" y="3887688"/>
            <a:ext cx="0" cy="222845"/>
          </a:xfrm>
          <a:prstGeom prst="line">
            <a:avLst/>
          </a:prstGeom>
          <a:noFill/>
          <a:ln w="25400">
            <a:solidFill>
              <a:srgbClr val="B5501F"/>
            </a:solidFill>
            <a:prstDash val="solid"/>
          </a:ln>
        </p:spPr>
        <p:txBody>
          <a:bodyPr/>
          <a:lstStyle/>
          <a:p>
            <a:endParaRPr lang="es-CL"/>
          </a:p>
        </p:txBody>
      </p:sp>
      <p:sp>
        <p:nvSpPr>
          <p:cNvPr id="25" name="Text 21"/>
          <p:cNvSpPr/>
          <p:nvPr/>
        </p:nvSpPr>
        <p:spPr>
          <a:xfrm>
            <a:off x="8331200" y="3887688"/>
            <a:ext cx="313944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Apoyo de IA en la lectura de exámenes</a:t>
            </a:r>
            <a:endParaRPr lang="en-US" sz="1300" dirty="0"/>
          </a:p>
        </p:txBody>
      </p:sp>
      <p:sp>
        <p:nvSpPr>
          <p:cNvPr id="26" name="Shape 22"/>
          <p:cNvSpPr/>
          <p:nvPr/>
        </p:nvSpPr>
        <p:spPr>
          <a:xfrm>
            <a:off x="5041900" y="4110534"/>
            <a:ext cx="0" cy="222845"/>
          </a:xfrm>
          <a:prstGeom prst="line">
            <a:avLst/>
          </a:prstGeom>
          <a:noFill/>
          <a:ln w="25400">
            <a:solidFill>
              <a:srgbClr val="B5501F"/>
            </a:solidFill>
            <a:prstDash val="solid"/>
          </a:ln>
        </p:spPr>
        <p:txBody>
          <a:bodyPr/>
          <a:lstStyle/>
          <a:p>
            <a:endParaRPr lang="es-CL"/>
          </a:p>
        </p:txBody>
      </p:sp>
      <p:sp>
        <p:nvSpPr>
          <p:cNvPr id="27" name="Text 23"/>
          <p:cNvSpPr/>
          <p:nvPr/>
        </p:nvSpPr>
        <p:spPr>
          <a:xfrm>
            <a:off x="5156200" y="4110534"/>
            <a:ext cx="313944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Integración HL7/FHIR con fichas clínicas</a:t>
            </a:r>
            <a:endParaRPr lang="en-US" sz="1300" dirty="0"/>
          </a:p>
        </p:txBody>
      </p:sp>
      <p:sp>
        <p:nvSpPr>
          <p:cNvPr id="28" name="Shape 24"/>
          <p:cNvSpPr/>
          <p:nvPr/>
        </p:nvSpPr>
        <p:spPr>
          <a:xfrm>
            <a:off x="8216900" y="4110534"/>
            <a:ext cx="0" cy="222845"/>
          </a:xfrm>
          <a:prstGeom prst="line">
            <a:avLst/>
          </a:prstGeom>
          <a:noFill/>
          <a:ln w="25400">
            <a:solidFill>
              <a:srgbClr val="B5501F"/>
            </a:solidFill>
            <a:prstDash val="solid"/>
          </a:ln>
        </p:spPr>
        <p:txBody>
          <a:bodyPr/>
          <a:lstStyle/>
          <a:p>
            <a:endParaRPr lang="es-CL"/>
          </a:p>
        </p:txBody>
      </p:sp>
      <p:sp>
        <p:nvSpPr>
          <p:cNvPr id="29" name="Text 25"/>
          <p:cNvSpPr/>
          <p:nvPr/>
        </p:nvSpPr>
        <p:spPr>
          <a:xfrm>
            <a:off x="8331200" y="4110534"/>
            <a:ext cx="313944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Versión para iOS</a:t>
            </a:r>
            <a:endParaRPr lang="en-US" sz="1300" dirty="0"/>
          </a:p>
        </p:txBody>
      </p:sp>
      <p:sp>
        <p:nvSpPr>
          <p:cNvPr id="30" name="Shape 26"/>
          <p:cNvSpPr/>
          <p:nvPr/>
        </p:nvSpPr>
        <p:spPr>
          <a:xfrm>
            <a:off x="5041900" y="4333379"/>
            <a:ext cx="0" cy="222845"/>
          </a:xfrm>
          <a:prstGeom prst="line">
            <a:avLst/>
          </a:prstGeom>
          <a:noFill/>
          <a:ln w="25400">
            <a:solidFill>
              <a:srgbClr val="B5501F"/>
            </a:solidFill>
            <a:prstDash val="solid"/>
          </a:ln>
        </p:spPr>
        <p:txBody>
          <a:bodyPr/>
          <a:lstStyle/>
          <a:p>
            <a:endParaRPr lang="es-CL"/>
          </a:p>
        </p:txBody>
      </p:sp>
      <p:sp>
        <p:nvSpPr>
          <p:cNvPr id="31" name="Text 27"/>
          <p:cNvSpPr/>
          <p:nvPr/>
        </p:nvSpPr>
        <p:spPr>
          <a:xfrm>
            <a:off x="5156200" y="4333379"/>
            <a:ext cx="313944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F2E33"/>
                </a:solidFill>
                <a:latin typeface="DM Sans" pitchFamily="34" charset="0"/>
                <a:ea typeface="DM Sans" pitchFamily="34" charset="-122"/>
                <a:cs typeface="DM Sans" pitchFamily="34" charset="-120"/>
              </a:rPr>
              <a:t>Despliegue en la nube con HTTPS</a:t>
            </a:r>
            <a:endParaRPr lang="en-US" sz="1300" dirty="0"/>
          </a:p>
        </p:txBody>
      </p:sp>
      <p:sp>
        <p:nvSpPr>
          <p:cNvPr id="32" name="Shape 28"/>
          <p:cNvSpPr/>
          <p:nvPr/>
        </p:nvSpPr>
        <p:spPr>
          <a:xfrm>
            <a:off x="8216900" y="4333379"/>
            <a:ext cx="0" cy="222845"/>
          </a:xfrm>
          <a:prstGeom prst="line">
            <a:avLst/>
          </a:prstGeom>
          <a:noFill/>
          <a:ln w="25400">
            <a:solidFill>
              <a:srgbClr val="B5501F"/>
            </a:solidFill>
            <a:prstDash val="solid"/>
          </a:ln>
        </p:spPr>
        <p:txBody>
          <a:bodyPr/>
          <a:lstStyle/>
          <a:p>
            <a:endParaRPr lang="es-CL"/>
          </a:p>
        </p:txBody>
      </p:sp>
      <p:sp>
        <p:nvSpPr>
          <p:cNvPr id="33" name="Text 29"/>
          <p:cNvSpPr/>
          <p:nvPr/>
        </p:nvSpPr>
        <p:spPr>
          <a:xfrm>
            <a:off x="8331200" y="4333379"/>
            <a:ext cx="3139440" cy="248245"/>
          </a:xfrm>
          <a:prstGeom prst="rect">
            <a:avLst/>
          </a:prstGeom>
          <a:noFill/>
          <a:ln/>
        </p:spPr>
        <p:txBody>
          <a:bodyPr wrap="square" lIns="0" tIns="0" rIns="0" bIns="0" rtlCol="0" anchor="t">
            <a:normAutofit/>
          </a:bodyPr>
          <a:lstStyle/>
          <a:p>
            <a:pPr marL="0" indent="0" algn="l">
              <a:lnSpc>
                <a:spcPts val="1755"/>
              </a:lnSpc>
              <a:buNone/>
            </a:pP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E33"/>
        </a:solidFill>
        <a:effectLst/>
      </p:bgPr>
    </p:bg>
    <p:spTree>
      <p:nvGrpSpPr>
        <p:cNvPr id="1" name=""/>
        <p:cNvGrpSpPr/>
        <p:nvPr/>
      </p:nvGrpSpPr>
      <p:grpSpPr>
        <a:xfrm>
          <a:off x="0" y="0"/>
          <a:ext cx="0" cy="0"/>
          <a:chOff x="0" y="0"/>
          <a:chExt cx="0" cy="0"/>
        </a:xfrm>
      </p:grpSpPr>
      <p:pic>
        <p:nvPicPr>
          <p:cNvPr id="2" name="Image 0" descr="Paciente con vendaje neuromuscular en el hombro"/>
          <p:cNvPicPr>
            <a:picLocks noChangeAspect="1"/>
          </p:cNvPicPr>
          <p:nvPr/>
        </p:nvPicPr>
        <p:blipFill>
          <a:blip r:embed="rId3"/>
          <a:srcRect l="23469" r="23469"/>
          <a:stretch/>
        </p:blipFill>
        <p:spPr>
          <a:xfrm>
            <a:off x="6731000" y="0"/>
            <a:ext cx="5461000" cy="6858000"/>
          </a:xfrm>
          <a:prstGeom prst="rect">
            <a:avLst/>
          </a:prstGeom>
        </p:spPr>
      </p:pic>
      <p:sp>
        <p:nvSpPr>
          <p:cNvPr id="3" name="Text 0"/>
          <p:cNvSpPr/>
          <p:nvPr/>
        </p:nvSpPr>
        <p:spPr>
          <a:xfrm>
            <a:off x="309401" y="682367"/>
            <a:ext cx="125577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4BB"/>
                </a:solidFill>
                <a:latin typeface="DM Sans" pitchFamily="34" charset="0"/>
                <a:ea typeface="DM Sans" pitchFamily="34" charset="-122"/>
                <a:cs typeface="DM Sans" pitchFamily="34" charset="-120"/>
              </a:rPr>
              <a:t>CONCLUSIÓN</a:t>
            </a:r>
            <a:endParaRPr lang="en-US" sz="1200" dirty="0"/>
          </a:p>
        </p:txBody>
      </p:sp>
      <p:sp>
        <p:nvSpPr>
          <p:cNvPr id="4" name="Text 1"/>
          <p:cNvSpPr>
            <a:spLocks noGrp="1"/>
          </p:cNvSpPr>
          <p:nvPr>
            <p:ph type="title"/>
          </p:nvPr>
        </p:nvSpPr>
        <p:spPr>
          <a:xfrm>
            <a:off x="309401" y="1252771"/>
            <a:ext cx="6186290" cy="789186"/>
          </a:xfrm>
          <a:prstGeom prst="rect">
            <a:avLst/>
          </a:prstGeom>
          <a:noFill/>
          <a:ln/>
        </p:spPr>
        <p:txBody>
          <a:bodyPr wrap="square" lIns="0" tIns="0" rIns="0" bIns="0" rtlCol="0" anchor="t">
            <a:normAutofit/>
          </a:bodyPr>
          <a:lstStyle/>
          <a:p>
            <a:pPr marL="0" indent="0" algn="l">
              <a:lnSpc>
                <a:spcPts val="2860"/>
              </a:lnSpc>
              <a:buNone/>
            </a:pPr>
            <a:r>
              <a:rPr lang="en-US" sz="2600" b="1" i="0" kern="0" spc="-50" dirty="0">
                <a:solidFill>
                  <a:srgbClr val="F4F6F5"/>
                </a:solidFill>
                <a:latin typeface="DM Sans" pitchFamily="34" charset="0"/>
                <a:ea typeface="DM Sans" pitchFamily="34" charset="-122"/>
                <a:cs typeface="DM Sans" pitchFamily="34" charset="-120"/>
              </a:rPr>
              <a:t>Un paciente que llega preparado. Un médico que decide mejor informado.</a:t>
            </a:r>
            <a:endParaRPr lang="en-US" sz="2600" dirty="0"/>
          </a:p>
        </p:txBody>
      </p:sp>
      <p:sp>
        <p:nvSpPr>
          <p:cNvPr id="5" name="Text 2"/>
          <p:cNvSpPr/>
          <p:nvPr/>
        </p:nvSpPr>
        <p:spPr>
          <a:xfrm>
            <a:off x="309401" y="2315806"/>
            <a:ext cx="5969479" cy="568028"/>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BFD3D1"/>
                </a:solidFill>
                <a:latin typeface="DM Sans" pitchFamily="34" charset="0"/>
                <a:ea typeface="DM Sans" pitchFamily="34" charset="-122"/>
                <a:cs typeface="DM Sans" pitchFamily="34" charset="-120"/>
              </a:rPr>
              <a:t>ARCA Med ordena la información antes de la consulta y la entrega procesada por IA, para que el tiempo con el paciente se use en evaluar y decidir, no en recopilar datos.</a:t>
            </a:r>
            <a:endParaRPr lang="en-US" sz="1200" dirty="0"/>
          </a:p>
        </p:txBody>
      </p:sp>
      <p:pic>
        <p:nvPicPr>
          <p:cNvPr id="6" name="Image 1" descr="Check"/>
          <p:cNvPicPr>
            <a:picLocks noChangeAspect="1"/>
          </p:cNvPicPr>
          <p:nvPr/>
        </p:nvPicPr>
        <p:blipFill>
          <a:blip r:embed="rId4"/>
          <a:srcRect/>
          <a:stretch/>
        </p:blipFill>
        <p:spPr>
          <a:xfrm>
            <a:off x="309401" y="3115938"/>
            <a:ext cx="146298" cy="268410"/>
          </a:xfrm>
          <a:prstGeom prst="rect">
            <a:avLst/>
          </a:prstGeom>
        </p:spPr>
      </p:pic>
      <p:sp>
        <p:nvSpPr>
          <p:cNvPr id="7" name="Text 3"/>
          <p:cNvSpPr/>
          <p:nvPr/>
        </p:nvSpPr>
        <p:spPr>
          <a:xfrm>
            <a:off x="601502" y="3115938"/>
            <a:ext cx="4539842" cy="71212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6F5"/>
                </a:solidFill>
                <a:latin typeface="DM Sans" pitchFamily="34" charset="0"/>
                <a:ea typeface="DM Sans" pitchFamily="34" charset="-122"/>
                <a:cs typeface="DM Sans" pitchFamily="34" charset="-120"/>
              </a:rPr>
              <a:t>Enriquece la consulta:</a:t>
            </a:r>
            <a:r>
              <a:rPr lang="en-US" sz="1200" dirty="0">
                <a:solidFill>
                  <a:srgbClr val="BFD3D1"/>
                </a:solidFill>
                <a:latin typeface="DM Sans" pitchFamily="34" charset="0"/>
                <a:ea typeface="DM Sans" pitchFamily="34" charset="-122"/>
                <a:cs typeface="DM Sans" pitchFamily="34" charset="-120"/>
              </a:rPr>
              <a:t> síntomas, exámenes y movilidad llegan ordenados antes de la cita.</a:t>
            </a:r>
            <a:endParaRPr lang="en-US" sz="1200" dirty="0"/>
          </a:p>
        </p:txBody>
      </p:sp>
      <p:sp>
        <p:nvSpPr>
          <p:cNvPr id="9" name="Text 4"/>
          <p:cNvSpPr/>
          <p:nvPr/>
        </p:nvSpPr>
        <p:spPr>
          <a:xfrm>
            <a:off x="601501" y="3660233"/>
            <a:ext cx="4436325" cy="56802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6F5"/>
                </a:solidFill>
                <a:latin typeface="DM Sans" pitchFamily="34" charset="0"/>
                <a:ea typeface="DM Sans" pitchFamily="34" charset="-122"/>
                <a:cs typeface="DM Sans" pitchFamily="34" charset="-120"/>
              </a:rPr>
              <a:t>Ayuda a prevenir errores y omisiones:</a:t>
            </a:r>
            <a:r>
              <a:rPr lang="en-US" sz="1200" dirty="0">
                <a:solidFill>
                  <a:srgbClr val="BFD3D1"/>
                </a:solidFill>
                <a:latin typeface="DM Sans" pitchFamily="34" charset="0"/>
                <a:ea typeface="DM Sans" pitchFamily="34" charset="-122"/>
                <a:cs typeface="DM Sans" pitchFamily="34" charset="-120"/>
              </a:rPr>
              <a:t> los diagnósticos diferenciales evitan anclarse a una sola hipótesis.</a:t>
            </a:r>
            <a:endParaRPr lang="en-US" sz="1200" dirty="0"/>
          </a:p>
        </p:txBody>
      </p:sp>
      <p:pic>
        <p:nvPicPr>
          <p:cNvPr id="10" name="Image 3" descr="Check"/>
          <p:cNvPicPr>
            <a:picLocks noChangeAspect="1"/>
          </p:cNvPicPr>
          <p:nvPr/>
        </p:nvPicPr>
        <p:blipFill>
          <a:blip r:embed="rId4"/>
          <a:srcRect/>
          <a:stretch/>
        </p:blipFill>
        <p:spPr>
          <a:xfrm>
            <a:off x="309401" y="4256044"/>
            <a:ext cx="190500" cy="190500"/>
          </a:xfrm>
          <a:prstGeom prst="rect">
            <a:avLst/>
          </a:prstGeom>
        </p:spPr>
      </p:pic>
      <p:sp>
        <p:nvSpPr>
          <p:cNvPr id="11" name="Text 5"/>
          <p:cNvSpPr/>
          <p:nvPr/>
        </p:nvSpPr>
        <p:spPr>
          <a:xfrm>
            <a:off x="601501" y="4256043"/>
            <a:ext cx="4177533" cy="56802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6F5"/>
                </a:solidFill>
                <a:latin typeface="DM Sans" pitchFamily="34" charset="0"/>
                <a:ea typeface="DM Sans" pitchFamily="34" charset="-122"/>
                <a:cs typeface="DM Sans" pitchFamily="34" charset="-120"/>
              </a:rPr>
              <a:t>Apoya al médico, no lo reemplaza:</a:t>
            </a:r>
            <a:r>
              <a:rPr lang="en-US" sz="1200" dirty="0">
                <a:solidFill>
                  <a:srgbClr val="BFD3D1"/>
                </a:solidFill>
                <a:latin typeface="DM Sans" pitchFamily="34" charset="0"/>
                <a:ea typeface="DM Sans" pitchFamily="34" charset="-122"/>
                <a:cs typeface="DM Sans" pitchFamily="34" charset="-120"/>
              </a:rPr>
              <a:t> la IA sugiere y el profesional decide.</a:t>
            </a:r>
            <a:endParaRPr lang="en-US" sz="1200" dirty="0"/>
          </a:p>
        </p:txBody>
      </p:sp>
      <p:pic>
        <p:nvPicPr>
          <p:cNvPr id="12" name="Image 4" descr="Check"/>
          <p:cNvPicPr>
            <a:picLocks noChangeAspect="1"/>
          </p:cNvPicPr>
          <p:nvPr/>
        </p:nvPicPr>
        <p:blipFill>
          <a:blip r:embed="rId4"/>
          <a:srcRect/>
          <a:stretch/>
        </p:blipFill>
        <p:spPr>
          <a:xfrm>
            <a:off x="309401" y="4867047"/>
            <a:ext cx="190500" cy="190500"/>
          </a:xfrm>
          <a:prstGeom prst="rect">
            <a:avLst/>
          </a:prstGeom>
        </p:spPr>
      </p:pic>
      <p:sp>
        <p:nvSpPr>
          <p:cNvPr id="13" name="Text 6"/>
          <p:cNvSpPr/>
          <p:nvPr/>
        </p:nvSpPr>
        <p:spPr>
          <a:xfrm>
            <a:off x="601501" y="4867047"/>
            <a:ext cx="4177533" cy="6817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6F5"/>
                </a:solidFill>
                <a:latin typeface="DM Sans" pitchFamily="34" charset="0"/>
                <a:ea typeface="DM Sans" pitchFamily="34" charset="-122"/>
                <a:cs typeface="DM Sans" pitchFamily="34" charset="-120"/>
              </a:rPr>
              <a:t>Protege los datos:</a:t>
            </a:r>
            <a:r>
              <a:rPr lang="en-US" sz="1200" dirty="0">
                <a:solidFill>
                  <a:srgbClr val="BFD3D1"/>
                </a:solidFill>
                <a:latin typeface="DM Sans" pitchFamily="34" charset="0"/>
                <a:ea typeface="DM Sans" pitchFamily="34" charset="-122"/>
                <a:cs typeface="DM Sans" pitchFamily="34" charset="-120"/>
              </a:rPr>
              <a:t> anonimización, control por roles y auditoría de accesos.</a:t>
            </a:r>
            <a:endParaRPr lang="en-US" sz="1200" dirty="0"/>
          </a:p>
        </p:txBody>
      </p:sp>
      <p:sp>
        <p:nvSpPr>
          <p:cNvPr id="16" name="Text 9"/>
          <p:cNvSpPr/>
          <p:nvPr/>
        </p:nvSpPr>
        <p:spPr>
          <a:xfrm>
            <a:off x="0" y="6644680"/>
            <a:ext cx="1255776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pic>
        <p:nvPicPr>
          <p:cNvPr id="18" name="Image 1" descr="Check">
            <a:extLst>
              <a:ext uri="{FF2B5EF4-FFF2-40B4-BE49-F238E27FC236}">
                <a16:creationId xmlns:a16="http://schemas.microsoft.com/office/drawing/2014/main" id="{753FDD72-DFD0-5D62-6259-0FC3BA6748F3}"/>
              </a:ext>
            </a:extLst>
          </p:cNvPr>
          <p:cNvPicPr>
            <a:picLocks noChangeAspect="1"/>
          </p:cNvPicPr>
          <p:nvPr/>
        </p:nvPicPr>
        <p:blipFill>
          <a:blip r:embed="rId4"/>
          <a:srcRect/>
          <a:stretch/>
        </p:blipFill>
        <p:spPr>
          <a:xfrm>
            <a:off x="309401" y="3660234"/>
            <a:ext cx="142962" cy="171804"/>
          </a:xfrm>
          <a:prstGeom prst="rect">
            <a:avLst/>
          </a:prstGeom>
        </p:spPr>
      </p:pic>
      <p:pic>
        <p:nvPicPr>
          <p:cNvPr id="20" name="Image 0" descr="preencoded.png">
            <a:extLst>
              <a:ext uri="{FF2B5EF4-FFF2-40B4-BE49-F238E27FC236}">
                <a16:creationId xmlns:a16="http://schemas.microsoft.com/office/drawing/2014/main" id="{CA691E2F-ABD5-65CB-7F92-776593DD373A}"/>
              </a:ext>
            </a:extLst>
          </p:cNvPr>
          <p:cNvPicPr>
            <a:picLocks noChangeAspect="1"/>
          </p:cNvPicPr>
          <p:nvPr/>
        </p:nvPicPr>
        <p:blipFill>
          <a:blip r:embed="rId5">
            <a:alphaModFix amt="25000"/>
          </a:blip>
          <a:srcRect l="-27136" r="-27136"/>
          <a:stretch/>
        </p:blipFill>
        <p:spPr>
          <a:xfrm>
            <a:off x="4254500" y="3216047"/>
            <a:ext cx="2667000" cy="3302000"/>
          </a:xfrm>
          <a:prstGeom prst="rect">
            <a:avLst/>
          </a:prstGeom>
        </p:spPr>
      </p:pic>
    </p:spTree>
  </p:cSld>
  <p:clrMapOvr>
    <a:masterClrMapping/>
  </p:clrMapOvr>
</p:sld>
</file>

<file path=ppt/theme/theme1.xml><?xml version="1.0" encoding="utf-8"?>
<a:theme xmlns:a="http://schemas.openxmlformats.org/drawingml/2006/main" name="ARCA Med — Presentación Capstone">
  <a:themeElements>
    <a:clrScheme name="ARCA Med — Presentación Capstone">
      <a:dk1>
        <a:srgbClr val="0F2E33"/>
      </a:dk1>
      <a:lt1>
        <a:srgbClr val="F4F6F5"/>
      </a:lt1>
      <a:dk2>
        <a:srgbClr val="486064"/>
      </a:dk2>
      <a:lt2>
        <a:srgbClr val="DDE2E2"/>
      </a:lt2>
      <a:accent1>
        <a:srgbClr val="157A73"/>
      </a:accent1>
      <a:accent2>
        <a:srgbClr val="5CC4BB"/>
      </a:accent2>
      <a:accent3>
        <a:srgbClr val="E0874F"/>
      </a:accent3>
      <a:accent4>
        <a:srgbClr val="2E6A6F"/>
      </a:accent4>
      <a:accent5>
        <a:srgbClr val="B5501F"/>
      </a:accent5>
      <a:accent6>
        <a:srgbClr val="1E4A50"/>
      </a:accent6>
      <a:hlink>
        <a:srgbClr val="0563C1"/>
      </a:hlink>
      <a:folHlink>
        <a:srgbClr val="954F72"/>
      </a:folHlink>
    </a:clrScheme>
    <a:fontScheme name="ARCA Med — Presentación Capston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3567</Words>
  <Application>Microsoft Office PowerPoint</Application>
  <PresentationFormat>Panorámica</PresentationFormat>
  <Paragraphs>393</Paragraphs>
  <Slides>19</Slides>
  <Notes>19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DM Sans</vt:lpstr>
      <vt:lpstr>JetBrains Mono</vt:lpstr>
      <vt:lpstr>ARCA Med — Presentación Capstone</vt:lpstr>
      <vt:lpstr>ARCA Med</vt:lpstr>
      <vt:lpstr>Hoy, la consulta parte de cero</vt:lpstr>
      <vt:lpstr>ARCA Med prepara la consulta en tres pasos</vt:lpstr>
      <vt:lpstr>La IA sugiere. El médico decide.</vt:lpstr>
      <vt:lpstr>Desarrollar un MVP de pre-consulta para kinesiología y traumatología que reúna síntomas, antecedentes y rango de movimiento del paciente, y entregue al médico un resumen y un prediagnóstico generados con IA como apoyo a su decisión clínica.</vt:lpstr>
      <vt:lpstr>Presentación de PowerPoint</vt:lpstr>
      <vt:lpstr>Todo empieza en el celular del paciente</vt:lpstr>
      <vt:lpstr>Cómo se genera el prediagnóstico</vt:lpstr>
      <vt:lpstr>El médico recibe el caso ordenado</vt:lpstr>
      <vt:lpstr>Doce funciones, cada una en su plataforma</vt:lpstr>
      <vt:lpstr>8 compromisos de calidad</vt:lpstr>
      <vt:lpstr>Metodología de desarrollo y equipo</vt:lpstr>
      <vt:lpstr>Arquitectura del proyecto</vt:lpstr>
      <vt:lpstr>Del celular del paciente a la pantalla del médico</vt:lpstr>
      <vt:lpstr>Una herramienta elegida para cada capa</vt:lpstr>
      <vt:lpstr>Todo gira en torno al usuario</vt:lpstr>
      <vt:lpstr>B2B SaaS institucional</vt:lpstr>
      <vt:lpstr>Hacia dónde puede crecer ARCA Med</vt:lpstr>
      <vt:lpstr>Un paciente que llega preparado. Un médico que decide mejor informado.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ARCA Med — Presentación Capstone</dc:title>
  <dc:subject/>
  <dc:creator/>
  <cp:lastModifiedBy>ANDHRE EDUARDO CRUZ SANCHEZ</cp:lastModifiedBy>
  <cp:revision>4</cp:revision>
  <dcterms:created xsi:type="dcterms:W3CDTF">2026-10-10T05:40:25Z</dcterms:created>
  <dcterms:modified xsi:type="dcterms:W3CDTF">2026-10-10T06:01:43Z</dcterms:modified>
</cp:coreProperties>
</file>